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0.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5"/>
  </p:notesMasterIdLst>
  <p:sldIdLst>
    <p:sldId id="797" r:id="rId2"/>
    <p:sldId id="801" r:id="rId3"/>
    <p:sldId id="799" r:id="rId4"/>
    <p:sldId id="256" r:id="rId5"/>
    <p:sldId id="686" r:id="rId6"/>
    <p:sldId id="763" r:id="rId7"/>
    <p:sldId id="769" r:id="rId8"/>
    <p:sldId id="765" r:id="rId9"/>
    <p:sldId id="766" r:id="rId10"/>
    <p:sldId id="770" r:id="rId11"/>
    <p:sldId id="771" r:id="rId12"/>
    <p:sldId id="772" r:id="rId13"/>
    <p:sldId id="773" r:id="rId14"/>
    <p:sldId id="774" r:id="rId15"/>
    <p:sldId id="775" r:id="rId16"/>
    <p:sldId id="776" r:id="rId17"/>
    <p:sldId id="777" r:id="rId18"/>
    <p:sldId id="778" r:id="rId19"/>
    <p:sldId id="779" r:id="rId20"/>
    <p:sldId id="780" r:id="rId21"/>
    <p:sldId id="781" r:id="rId22"/>
    <p:sldId id="782" r:id="rId23"/>
    <p:sldId id="783" r:id="rId24"/>
    <p:sldId id="784" r:id="rId25"/>
    <p:sldId id="787" r:id="rId26"/>
    <p:sldId id="788" r:id="rId27"/>
    <p:sldId id="789" r:id="rId28"/>
    <p:sldId id="785" r:id="rId29"/>
    <p:sldId id="786" r:id="rId30"/>
    <p:sldId id="796" r:id="rId31"/>
    <p:sldId id="798" r:id="rId32"/>
    <p:sldId id="802" r:id="rId33"/>
    <p:sldId id="800" r:id="rId34"/>
    <p:sldId id="768" r:id="rId35"/>
    <p:sldId id="764" r:id="rId36"/>
    <p:sldId id="752" r:id="rId37"/>
    <p:sldId id="755" r:id="rId38"/>
    <p:sldId id="722" r:id="rId39"/>
    <p:sldId id="756" r:id="rId40"/>
    <p:sldId id="758" r:id="rId41"/>
    <p:sldId id="759" r:id="rId42"/>
    <p:sldId id="760" r:id="rId43"/>
    <p:sldId id="761"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218C2"/>
    <a:srgbClr val="FFAAAA"/>
    <a:srgbClr val="3C9D3C"/>
    <a:srgbClr val="FFBA3B"/>
    <a:srgbClr val="0000FF"/>
    <a:srgbClr val="D52324"/>
    <a:srgbClr val="299F29"/>
    <a:srgbClr val="FF7E0D"/>
    <a:srgbClr val="FF0000"/>
    <a:srgbClr val="FF7F0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507" autoAdjust="0"/>
    <p:restoredTop sz="91019" autoAdjust="0"/>
  </p:normalViewPr>
  <p:slideViewPr>
    <p:cSldViewPr snapToGrid="0">
      <p:cViewPr varScale="1">
        <p:scale>
          <a:sx n="73" d="100"/>
          <a:sy n="73" d="100"/>
        </p:scale>
        <p:origin x="5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42C8CA-A521-4254-86A7-6548A9107C3F}" type="datetimeFigureOut">
              <a:rPr lang="en-US" smtClean="0"/>
              <a:t>10/1/2026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F2F013-C680-4F1D-A725-B09F536C38BD}" type="slidenum">
              <a:rPr lang="en-US" smtClean="0"/>
              <a:t>‹#›</a:t>
            </a:fld>
            <a:endParaRPr lang="en-US"/>
          </a:p>
        </p:txBody>
      </p:sp>
    </p:spTree>
    <p:extLst>
      <p:ext uri="{BB962C8B-B14F-4D97-AF65-F5344CB8AC3E}">
        <p14:creationId xmlns:p14="http://schemas.microsoft.com/office/powerpoint/2010/main" val="3820975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F2F013-C680-4F1D-A725-B09F536C38BD}" type="slidenum">
              <a:rPr lang="en-US" smtClean="0"/>
              <a:t>1</a:t>
            </a:fld>
            <a:endParaRPr lang="en-US"/>
          </a:p>
        </p:txBody>
      </p:sp>
    </p:spTree>
    <p:extLst>
      <p:ext uri="{BB962C8B-B14F-4D97-AF65-F5344CB8AC3E}">
        <p14:creationId xmlns:p14="http://schemas.microsoft.com/office/powerpoint/2010/main" val="1973749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a:t>
            </a:r>
          </a:p>
          <a:p>
            <a:pPr marL="171450" indent="-171450">
              <a:buFontTx/>
              <a:buChar char="-"/>
            </a:pPr>
            <a:r>
              <a:rPr lang="en-US" dirty="0"/>
              <a:t>For coming today</a:t>
            </a:r>
          </a:p>
          <a:p>
            <a:pPr marL="171450" indent="-171450">
              <a:buFontTx/>
              <a:buChar char="-"/>
            </a:pPr>
            <a:r>
              <a:rPr lang="en-US" dirty="0"/>
              <a:t>To all of you who did the guided readings</a:t>
            </a:r>
          </a:p>
          <a:p>
            <a:pPr marL="171450" indent="-171450">
              <a:buFontTx/>
              <a:buChar char="-"/>
            </a:pPr>
            <a:r>
              <a:rPr lang="en-US" dirty="0"/>
              <a:t>For persevering </a:t>
            </a:r>
          </a:p>
        </p:txBody>
      </p:sp>
      <p:sp>
        <p:nvSpPr>
          <p:cNvPr id="4" name="Slide Number Placeholder 3"/>
          <p:cNvSpPr>
            <a:spLocks noGrp="1"/>
          </p:cNvSpPr>
          <p:nvPr>
            <p:ph type="sldNum" sz="quarter" idx="5"/>
          </p:nvPr>
        </p:nvSpPr>
        <p:spPr/>
        <p:txBody>
          <a:bodyPr/>
          <a:lstStyle/>
          <a:p>
            <a:fld id="{9CF2F013-C680-4F1D-A725-B09F536C38BD}" type="slidenum">
              <a:rPr lang="en-US" smtClean="0"/>
              <a:t>4</a:t>
            </a:fld>
            <a:endParaRPr lang="en-US"/>
          </a:p>
        </p:txBody>
      </p:sp>
    </p:spTree>
    <p:extLst>
      <p:ext uri="{BB962C8B-B14F-4D97-AF65-F5344CB8AC3E}">
        <p14:creationId xmlns:p14="http://schemas.microsoft.com/office/powerpoint/2010/main" val="23888568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Supervised ML algorithm that learn a boundary, more generally a “street” from data for regression or classification</a:t>
            </a:r>
          </a:p>
        </p:txBody>
      </p:sp>
      <p:sp>
        <p:nvSpPr>
          <p:cNvPr id="4" name="Slide Number Placeholder 3"/>
          <p:cNvSpPr>
            <a:spLocks noGrp="1"/>
          </p:cNvSpPr>
          <p:nvPr>
            <p:ph type="sldNum" sz="quarter" idx="5"/>
          </p:nvPr>
        </p:nvSpPr>
        <p:spPr/>
        <p:txBody>
          <a:bodyPr/>
          <a:lstStyle/>
          <a:p>
            <a:fld id="{9CF2F013-C680-4F1D-A725-B09F536C38BD}" type="slidenum">
              <a:rPr lang="en-US" smtClean="0"/>
              <a:t>6</a:t>
            </a:fld>
            <a:endParaRPr lang="en-US"/>
          </a:p>
        </p:txBody>
      </p:sp>
    </p:spTree>
    <p:extLst>
      <p:ext uri="{BB962C8B-B14F-4D97-AF65-F5344CB8AC3E}">
        <p14:creationId xmlns:p14="http://schemas.microsoft.com/office/powerpoint/2010/main" val="3098293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of the RBF</a:t>
            </a:r>
          </a:p>
        </p:txBody>
      </p:sp>
      <p:sp>
        <p:nvSpPr>
          <p:cNvPr id="4" name="Slide Number Placeholder 3"/>
          <p:cNvSpPr>
            <a:spLocks noGrp="1"/>
          </p:cNvSpPr>
          <p:nvPr>
            <p:ph type="sldNum" sz="quarter" idx="5"/>
          </p:nvPr>
        </p:nvSpPr>
        <p:spPr/>
        <p:txBody>
          <a:bodyPr/>
          <a:lstStyle/>
          <a:p>
            <a:fld id="{9CF2F013-C680-4F1D-A725-B09F536C38BD}" type="slidenum">
              <a:rPr lang="en-US" smtClean="0"/>
              <a:t>7</a:t>
            </a:fld>
            <a:endParaRPr lang="en-US"/>
          </a:p>
        </p:txBody>
      </p:sp>
    </p:spTree>
    <p:extLst>
      <p:ext uri="{BB962C8B-B14F-4D97-AF65-F5344CB8AC3E}">
        <p14:creationId xmlns:p14="http://schemas.microsoft.com/office/powerpoint/2010/main" val="13409721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would RBF kernel be useful?</a:t>
            </a:r>
          </a:p>
        </p:txBody>
      </p:sp>
      <p:sp>
        <p:nvSpPr>
          <p:cNvPr id="4" name="Slide Number Placeholder 3"/>
          <p:cNvSpPr>
            <a:spLocks noGrp="1"/>
          </p:cNvSpPr>
          <p:nvPr>
            <p:ph type="sldNum" sz="quarter" idx="5"/>
          </p:nvPr>
        </p:nvSpPr>
        <p:spPr/>
        <p:txBody>
          <a:bodyPr/>
          <a:lstStyle/>
          <a:p>
            <a:fld id="{9CF2F013-C680-4F1D-A725-B09F536C38BD}" type="slidenum">
              <a:rPr lang="en-US" smtClean="0"/>
              <a:t>8</a:t>
            </a:fld>
            <a:endParaRPr lang="en-US"/>
          </a:p>
        </p:txBody>
      </p:sp>
    </p:spTree>
    <p:extLst>
      <p:ext uri="{BB962C8B-B14F-4D97-AF65-F5344CB8AC3E}">
        <p14:creationId xmlns:p14="http://schemas.microsoft.com/office/powerpoint/2010/main" val="30640472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Intro to quadratic programming &amp; online SVMs, see </a:t>
            </a:r>
            <a:r>
              <a:rPr lang="en-US" dirty="0" err="1"/>
              <a:t>Géron</a:t>
            </a:r>
            <a:r>
              <a:rPr lang="en-US" dirty="0"/>
              <a:t> Ch5</a:t>
            </a:r>
          </a:p>
        </p:txBody>
      </p:sp>
      <p:sp>
        <p:nvSpPr>
          <p:cNvPr id="4" name="Slide Number Placeholder 3"/>
          <p:cNvSpPr>
            <a:spLocks noGrp="1"/>
          </p:cNvSpPr>
          <p:nvPr>
            <p:ph type="sldNum" sz="quarter" idx="5"/>
          </p:nvPr>
        </p:nvSpPr>
        <p:spPr/>
        <p:txBody>
          <a:bodyPr/>
          <a:lstStyle/>
          <a:p>
            <a:fld id="{9CF2F013-C680-4F1D-A725-B09F536C38BD}" type="slidenum">
              <a:rPr lang="en-US" smtClean="0"/>
              <a:t>9</a:t>
            </a:fld>
            <a:endParaRPr lang="en-US"/>
          </a:p>
        </p:txBody>
      </p:sp>
    </p:spTree>
    <p:extLst>
      <p:ext uri="{BB962C8B-B14F-4D97-AF65-F5344CB8AC3E}">
        <p14:creationId xmlns:p14="http://schemas.microsoft.com/office/powerpoint/2010/main" val="2777398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F2F013-C680-4F1D-A725-B09F536C38BD}" type="slidenum">
              <a:rPr lang="en-US" smtClean="0"/>
              <a:t>12</a:t>
            </a:fld>
            <a:endParaRPr lang="en-US"/>
          </a:p>
        </p:txBody>
      </p:sp>
    </p:spTree>
    <p:extLst>
      <p:ext uri="{BB962C8B-B14F-4D97-AF65-F5344CB8AC3E}">
        <p14:creationId xmlns:p14="http://schemas.microsoft.com/office/powerpoint/2010/main" val="1152627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1" u="none" strike="noStrike" baseline="0" dirty="0">
                <a:latin typeface="MinionPro-It"/>
              </a:rPr>
              <a:t>Classification and Regression Tree</a:t>
            </a:r>
            <a:endParaRPr lang="en-US" sz="1800" b="0" i="0" u="none" strike="noStrike" baseline="0" dirty="0">
              <a:latin typeface="UbuntuMono-Regular"/>
            </a:endParaRPr>
          </a:p>
          <a:p>
            <a:pPr algn="l"/>
            <a:r>
              <a:rPr lang="en-US" sz="1800" b="0" i="0" u="none" strike="noStrike" baseline="0" dirty="0" err="1">
                <a:latin typeface="UbuntuMono-Regular"/>
              </a:rPr>
              <a:t>min_samples_split</a:t>
            </a:r>
            <a:r>
              <a:rPr lang="en-US" sz="1800" b="0" i="0" u="none" strike="noStrike" baseline="0" dirty="0">
                <a:latin typeface="UbuntuMono-Regular"/>
              </a:rPr>
              <a:t> </a:t>
            </a:r>
            <a:r>
              <a:rPr lang="en-US" sz="1800" b="0" i="0" u="none" strike="noStrike" baseline="0" dirty="0">
                <a:latin typeface="MinionPro-Regular"/>
              </a:rPr>
              <a:t>(the minimum number of samples a node must have before it can be split),</a:t>
            </a:r>
            <a:br>
              <a:rPr lang="en-US" sz="1800" b="0" i="0" u="none" strike="noStrike" baseline="0" dirty="0">
                <a:latin typeface="MinionPro-Regular"/>
              </a:rPr>
            </a:br>
            <a:r>
              <a:rPr lang="en-US" sz="1800" b="0" i="0" u="none" strike="noStrike" baseline="0" dirty="0" err="1">
                <a:latin typeface="UbuntuMono-Regular"/>
              </a:rPr>
              <a:t>min_samples_leaf</a:t>
            </a:r>
            <a:r>
              <a:rPr lang="en-US" sz="1800" b="0" i="0" u="none" strike="noStrike" baseline="0" dirty="0">
                <a:latin typeface="UbuntuMono-Regular"/>
              </a:rPr>
              <a:t> </a:t>
            </a:r>
            <a:r>
              <a:rPr lang="en-US" sz="1800" b="0" i="0" u="none" strike="noStrike" baseline="0" dirty="0">
                <a:latin typeface="MinionPro-Regular"/>
              </a:rPr>
              <a:t>(the minimum number of samples a leaf node must have),</a:t>
            </a:r>
            <a:br>
              <a:rPr lang="en-US" sz="1800" b="0" i="0" u="none" strike="noStrike" baseline="0" dirty="0">
                <a:latin typeface="MinionPro-Regular"/>
              </a:rPr>
            </a:br>
            <a:r>
              <a:rPr lang="en-US" sz="1800" b="0" i="0" u="none" strike="noStrike" baseline="0" dirty="0" err="1">
                <a:latin typeface="UbuntuMono-Regular"/>
              </a:rPr>
              <a:t>max_leaf_nodes</a:t>
            </a:r>
            <a:r>
              <a:rPr lang="en-US" sz="1800" b="0" i="0" u="none" strike="noStrike" baseline="0" dirty="0">
                <a:latin typeface="UbuntuMono-Regular"/>
              </a:rPr>
              <a:t> </a:t>
            </a:r>
            <a:r>
              <a:rPr lang="en-US" sz="1800" b="0" i="0" u="none" strike="noStrike" baseline="0" dirty="0">
                <a:latin typeface="MinionPro-Regular"/>
              </a:rPr>
              <a:t>(the maximum number of leaf nodes)</a:t>
            </a:r>
            <a:br>
              <a:rPr lang="en-US" sz="1800" b="0" i="0" u="none" strike="noStrike" baseline="0" dirty="0">
                <a:latin typeface="MinionPro-Regular"/>
              </a:rPr>
            </a:br>
            <a:r>
              <a:rPr lang="en-US" sz="1800" b="0" i="0" u="none" strike="noStrike" baseline="0" dirty="0" err="1">
                <a:latin typeface="UbuntuMono-Regular"/>
              </a:rPr>
              <a:t>max_features</a:t>
            </a:r>
            <a:r>
              <a:rPr lang="en-US" sz="1800" b="0" i="0" u="none" strike="noStrike" baseline="0" dirty="0">
                <a:latin typeface="UbuntuMono-Regular"/>
              </a:rPr>
              <a:t> </a:t>
            </a:r>
            <a:r>
              <a:rPr lang="en-US" sz="1800" b="0" i="0" u="none" strike="noStrike" baseline="0" dirty="0">
                <a:latin typeface="MinionPro-Regular"/>
              </a:rPr>
              <a:t>(the maximum number of features that are evaluated for splitting at each node)</a:t>
            </a:r>
            <a:br>
              <a:rPr lang="en-US" sz="1800" b="0" i="0" u="none" strike="noStrike" baseline="0" dirty="0">
                <a:latin typeface="MinionPro-Regular"/>
              </a:rPr>
            </a:br>
            <a:endParaRPr lang="en-US" dirty="0"/>
          </a:p>
        </p:txBody>
      </p:sp>
      <p:sp>
        <p:nvSpPr>
          <p:cNvPr id="4" name="Slide Number Placeholder 3"/>
          <p:cNvSpPr>
            <a:spLocks noGrp="1"/>
          </p:cNvSpPr>
          <p:nvPr>
            <p:ph type="sldNum" sz="quarter" idx="5"/>
          </p:nvPr>
        </p:nvSpPr>
        <p:spPr/>
        <p:txBody>
          <a:bodyPr/>
          <a:lstStyle/>
          <a:p>
            <a:fld id="{9CF2F013-C680-4F1D-A725-B09F536C38BD}" type="slidenum">
              <a:rPr lang="en-US" smtClean="0"/>
              <a:t>14</a:t>
            </a:fld>
            <a:endParaRPr lang="en-US"/>
          </a:p>
        </p:txBody>
      </p:sp>
    </p:spTree>
    <p:extLst>
      <p:ext uri="{BB962C8B-B14F-4D97-AF65-F5344CB8AC3E}">
        <p14:creationId xmlns:p14="http://schemas.microsoft.com/office/powerpoint/2010/main" val="22009226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UbuntuMono-Regular"/>
              </a:rPr>
              <a:t>m = Number of instances; QUICK VOTE</a:t>
            </a:r>
          </a:p>
          <a:p>
            <a:pPr algn="l"/>
            <a:r>
              <a:rPr lang="en-US" sz="1800" b="0" i="0" u="none" strike="noStrike" baseline="0" dirty="0" err="1">
                <a:latin typeface="UbuntuMono-Regular"/>
              </a:rPr>
              <a:t>min_samples_split</a:t>
            </a:r>
            <a:r>
              <a:rPr lang="en-US" sz="1800" b="0" i="0" u="none" strike="noStrike" baseline="0" dirty="0">
                <a:latin typeface="UbuntuMono-Regular"/>
              </a:rPr>
              <a:t> </a:t>
            </a:r>
            <a:r>
              <a:rPr lang="en-US" sz="1800" b="0" i="0" u="none" strike="noStrike" baseline="0" dirty="0">
                <a:latin typeface="MinionPro-Regular"/>
              </a:rPr>
              <a:t>(the minimum number of samples a node must have before it can be split),</a:t>
            </a:r>
            <a:br>
              <a:rPr lang="en-US" sz="1800" b="0" i="0" u="none" strike="noStrike" baseline="0" dirty="0">
                <a:latin typeface="MinionPro-Regular"/>
              </a:rPr>
            </a:br>
            <a:r>
              <a:rPr lang="en-US" sz="1800" b="0" i="0" u="none" strike="noStrike" baseline="0" dirty="0" err="1">
                <a:latin typeface="UbuntuMono-Regular"/>
              </a:rPr>
              <a:t>min_samples_leaf</a:t>
            </a:r>
            <a:r>
              <a:rPr lang="en-US" sz="1800" b="0" i="0" u="none" strike="noStrike" baseline="0" dirty="0">
                <a:latin typeface="UbuntuMono-Regular"/>
              </a:rPr>
              <a:t> </a:t>
            </a:r>
            <a:r>
              <a:rPr lang="en-US" sz="1800" b="0" i="0" u="none" strike="noStrike" baseline="0" dirty="0">
                <a:latin typeface="MinionPro-Regular"/>
              </a:rPr>
              <a:t>(the minimum number of samples a leaf node must have),</a:t>
            </a:r>
            <a:br>
              <a:rPr lang="en-US" sz="1800" b="0" i="0" u="none" strike="noStrike" baseline="0" dirty="0">
                <a:latin typeface="MinionPro-Regular"/>
              </a:rPr>
            </a:br>
            <a:r>
              <a:rPr lang="en-US" sz="1800" b="0" i="0" u="none" strike="noStrike" baseline="0" dirty="0" err="1">
                <a:latin typeface="UbuntuMono-Regular"/>
              </a:rPr>
              <a:t>max_leaf_nodes</a:t>
            </a:r>
            <a:r>
              <a:rPr lang="en-US" sz="1800" b="0" i="0" u="none" strike="noStrike" baseline="0" dirty="0">
                <a:latin typeface="UbuntuMono-Regular"/>
              </a:rPr>
              <a:t> </a:t>
            </a:r>
            <a:r>
              <a:rPr lang="en-US" sz="1800" b="0" i="0" u="none" strike="noStrike" baseline="0" dirty="0">
                <a:latin typeface="MinionPro-Regular"/>
              </a:rPr>
              <a:t>(the maximum number of leaf nodes)</a:t>
            </a:r>
            <a:br>
              <a:rPr lang="en-US" sz="1800" b="0" i="0" u="none" strike="noStrike" baseline="0" dirty="0">
                <a:latin typeface="MinionPro-Regular"/>
              </a:rPr>
            </a:br>
            <a:r>
              <a:rPr lang="en-US" sz="1800" b="0" i="0" u="none" strike="noStrike" baseline="0" dirty="0" err="1">
                <a:latin typeface="UbuntuMono-Regular"/>
              </a:rPr>
              <a:t>max_features</a:t>
            </a:r>
            <a:r>
              <a:rPr lang="en-US" sz="1800" b="0" i="0" u="none" strike="noStrike" baseline="0" dirty="0">
                <a:latin typeface="UbuntuMono-Regular"/>
              </a:rPr>
              <a:t> </a:t>
            </a:r>
            <a:r>
              <a:rPr lang="en-US" sz="1800" b="0" i="0" u="none" strike="noStrike" baseline="0" dirty="0">
                <a:latin typeface="MinionPro-Regular"/>
              </a:rPr>
              <a:t>(the maximum number of features that are evaluated for splitting at each node)</a:t>
            </a:r>
            <a:br>
              <a:rPr lang="en-US" sz="1800" b="0" i="0" u="none" strike="noStrike" baseline="0" dirty="0">
                <a:latin typeface="MinionPro-Regular"/>
              </a:rPr>
            </a:br>
            <a:endParaRPr lang="en-US" dirty="0"/>
          </a:p>
        </p:txBody>
      </p:sp>
      <p:sp>
        <p:nvSpPr>
          <p:cNvPr id="4" name="Slide Number Placeholder 3"/>
          <p:cNvSpPr>
            <a:spLocks noGrp="1"/>
          </p:cNvSpPr>
          <p:nvPr>
            <p:ph type="sldNum" sz="quarter" idx="5"/>
          </p:nvPr>
        </p:nvSpPr>
        <p:spPr/>
        <p:txBody>
          <a:bodyPr/>
          <a:lstStyle/>
          <a:p>
            <a:fld id="{9CF2F013-C680-4F1D-A725-B09F536C38BD}" type="slidenum">
              <a:rPr lang="en-US" smtClean="0"/>
              <a:t>15</a:t>
            </a:fld>
            <a:endParaRPr lang="en-US"/>
          </a:p>
        </p:txBody>
      </p:sp>
    </p:spTree>
    <p:extLst>
      <p:ext uri="{BB962C8B-B14F-4D97-AF65-F5344CB8AC3E}">
        <p14:creationId xmlns:p14="http://schemas.microsoft.com/office/powerpoint/2010/main" val="35430857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err="1">
                <a:latin typeface="UbuntuMono-Regular"/>
              </a:rPr>
              <a:t>min_samples_split</a:t>
            </a:r>
            <a:r>
              <a:rPr lang="en-US" sz="1800" b="0" i="0" u="none" strike="noStrike" baseline="0" dirty="0">
                <a:latin typeface="UbuntuMono-Regular"/>
              </a:rPr>
              <a:t> </a:t>
            </a:r>
            <a:r>
              <a:rPr lang="en-US" sz="1800" b="0" i="0" u="none" strike="noStrike" baseline="0" dirty="0">
                <a:latin typeface="MinionPro-Regular"/>
              </a:rPr>
              <a:t>(the minimum number of samples a node must have before it can be split),</a:t>
            </a:r>
            <a:br>
              <a:rPr lang="en-US" sz="1800" b="0" i="0" u="none" strike="noStrike" baseline="0" dirty="0">
                <a:latin typeface="MinionPro-Regular"/>
              </a:rPr>
            </a:br>
            <a:r>
              <a:rPr lang="en-US" sz="1800" b="0" i="0" u="none" strike="noStrike" baseline="0" dirty="0" err="1">
                <a:latin typeface="UbuntuMono-Regular"/>
              </a:rPr>
              <a:t>min_samples_leaf</a:t>
            </a:r>
            <a:r>
              <a:rPr lang="en-US" sz="1800" b="0" i="0" u="none" strike="noStrike" baseline="0" dirty="0">
                <a:latin typeface="UbuntuMono-Regular"/>
              </a:rPr>
              <a:t> </a:t>
            </a:r>
            <a:r>
              <a:rPr lang="en-US" sz="1800" b="0" i="0" u="none" strike="noStrike" baseline="0" dirty="0">
                <a:latin typeface="MinionPro-Regular"/>
              </a:rPr>
              <a:t>(the minimum number of samples a leaf node must have),</a:t>
            </a:r>
            <a:br>
              <a:rPr lang="en-US" sz="1800" b="0" i="0" u="none" strike="noStrike" baseline="0" dirty="0">
                <a:latin typeface="MinionPro-Regular"/>
              </a:rPr>
            </a:br>
            <a:r>
              <a:rPr lang="en-US" sz="1800" b="0" i="0" u="none" strike="noStrike" baseline="0" dirty="0" err="1">
                <a:latin typeface="UbuntuMono-Regular"/>
              </a:rPr>
              <a:t>max_leaf_nodes</a:t>
            </a:r>
            <a:r>
              <a:rPr lang="en-US" sz="1800" b="0" i="0" u="none" strike="noStrike" baseline="0" dirty="0">
                <a:latin typeface="UbuntuMono-Regular"/>
              </a:rPr>
              <a:t> </a:t>
            </a:r>
            <a:r>
              <a:rPr lang="en-US" sz="1800" b="0" i="0" u="none" strike="noStrike" baseline="0" dirty="0">
                <a:latin typeface="MinionPro-Regular"/>
              </a:rPr>
              <a:t>(the maximum number of leaf nodes)</a:t>
            </a:r>
            <a:br>
              <a:rPr lang="en-US" sz="1800" b="0" i="0" u="none" strike="noStrike" baseline="0" dirty="0">
                <a:latin typeface="MinionPro-Regular"/>
              </a:rPr>
            </a:br>
            <a:r>
              <a:rPr lang="en-US" sz="1800" b="0" i="0" u="none" strike="noStrike" baseline="0" dirty="0" err="1">
                <a:latin typeface="UbuntuMono-Regular"/>
              </a:rPr>
              <a:t>max_features</a:t>
            </a:r>
            <a:r>
              <a:rPr lang="en-US" sz="1800" b="0" i="0" u="none" strike="noStrike" baseline="0" dirty="0">
                <a:latin typeface="UbuntuMono-Regular"/>
              </a:rPr>
              <a:t> </a:t>
            </a:r>
            <a:r>
              <a:rPr lang="en-US" sz="1800" b="0" i="0" u="none" strike="noStrike" baseline="0" dirty="0">
                <a:latin typeface="MinionPro-Regular"/>
              </a:rPr>
              <a:t>(the maximum number of features that are evaluated for splitting at each node)</a:t>
            </a:r>
            <a:br>
              <a:rPr lang="en-US" sz="1800" b="0" i="0" u="none" strike="noStrike" baseline="0" dirty="0">
                <a:latin typeface="MinionPro-Regular"/>
              </a:rPr>
            </a:br>
            <a:endParaRPr lang="en-US" dirty="0"/>
          </a:p>
        </p:txBody>
      </p:sp>
      <p:sp>
        <p:nvSpPr>
          <p:cNvPr id="4" name="Slide Number Placeholder 3"/>
          <p:cNvSpPr>
            <a:spLocks noGrp="1"/>
          </p:cNvSpPr>
          <p:nvPr>
            <p:ph type="sldNum" sz="quarter" idx="5"/>
          </p:nvPr>
        </p:nvSpPr>
        <p:spPr/>
        <p:txBody>
          <a:bodyPr/>
          <a:lstStyle/>
          <a:p>
            <a:fld id="{9CF2F013-C680-4F1D-A725-B09F536C38BD}" type="slidenum">
              <a:rPr lang="en-US" smtClean="0"/>
              <a:t>16</a:t>
            </a:fld>
            <a:endParaRPr lang="en-US"/>
          </a:p>
        </p:txBody>
      </p:sp>
    </p:spTree>
    <p:extLst>
      <p:ext uri="{BB962C8B-B14F-4D97-AF65-F5344CB8AC3E}">
        <p14:creationId xmlns:p14="http://schemas.microsoft.com/office/powerpoint/2010/main" val="19908086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err="1">
                <a:latin typeface="UbuntuMono-Regular"/>
              </a:rPr>
              <a:t>min_samples_split</a:t>
            </a:r>
            <a:r>
              <a:rPr lang="en-US" sz="1800" b="0" i="0" u="none" strike="noStrike" baseline="0" dirty="0">
                <a:latin typeface="UbuntuMono-Regular"/>
              </a:rPr>
              <a:t> </a:t>
            </a:r>
            <a:r>
              <a:rPr lang="en-US" sz="1800" b="0" i="0" u="none" strike="noStrike" baseline="0" dirty="0">
                <a:latin typeface="MinionPro-Regular"/>
              </a:rPr>
              <a:t>(the minimum number of samples a node must have before it can be split),</a:t>
            </a:r>
            <a:br>
              <a:rPr lang="en-US" sz="1800" b="0" i="0" u="none" strike="noStrike" baseline="0" dirty="0">
                <a:latin typeface="MinionPro-Regular"/>
              </a:rPr>
            </a:br>
            <a:r>
              <a:rPr lang="en-US" sz="1800" b="0" i="0" u="none" strike="noStrike" baseline="0" dirty="0" err="1">
                <a:latin typeface="UbuntuMono-Regular"/>
              </a:rPr>
              <a:t>min_samples_leaf</a:t>
            </a:r>
            <a:r>
              <a:rPr lang="en-US" sz="1800" b="0" i="0" u="none" strike="noStrike" baseline="0" dirty="0">
                <a:latin typeface="UbuntuMono-Regular"/>
              </a:rPr>
              <a:t> </a:t>
            </a:r>
            <a:r>
              <a:rPr lang="en-US" sz="1800" b="0" i="0" u="none" strike="noStrike" baseline="0" dirty="0">
                <a:latin typeface="MinionPro-Regular"/>
              </a:rPr>
              <a:t>(the minimum number of samples a leaf node must have),</a:t>
            </a:r>
            <a:br>
              <a:rPr lang="en-US" sz="1800" b="0" i="0" u="none" strike="noStrike" baseline="0" dirty="0">
                <a:latin typeface="MinionPro-Regular"/>
              </a:rPr>
            </a:br>
            <a:r>
              <a:rPr lang="en-US" sz="1800" b="0" i="0" u="none" strike="noStrike" baseline="0" dirty="0" err="1">
                <a:latin typeface="UbuntuMono-Regular"/>
              </a:rPr>
              <a:t>max_leaf_nodes</a:t>
            </a:r>
            <a:r>
              <a:rPr lang="en-US" sz="1800" b="0" i="0" u="none" strike="noStrike" baseline="0" dirty="0">
                <a:latin typeface="UbuntuMono-Regular"/>
              </a:rPr>
              <a:t> </a:t>
            </a:r>
            <a:r>
              <a:rPr lang="en-US" sz="1800" b="0" i="0" u="none" strike="noStrike" baseline="0" dirty="0">
                <a:latin typeface="MinionPro-Regular"/>
              </a:rPr>
              <a:t>(the maximum number of leaf nodes)</a:t>
            </a:r>
            <a:br>
              <a:rPr lang="en-US" sz="1800" b="0" i="0" u="none" strike="noStrike" baseline="0" dirty="0">
                <a:latin typeface="MinionPro-Regular"/>
              </a:rPr>
            </a:br>
            <a:r>
              <a:rPr lang="en-US" sz="1800" b="0" i="0" u="none" strike="noStrike" baseline="0" dirty="0" err="1">
                <a:latin typeface="UbuntuMono-Regular"/>
              </a:rPr>
              <a:t>max_features</a:t>
            </a:r>
            <a:r>
              <a:rPr lang="en-US" sz="1800" b="0" i="0" u="none" strike="noStrike" baseline="0" dirty="0">
                <a:latin typeface="UbuntuMono-Regular"/>
              </a:rPr>
              <a:t> </a:t>
            </a:r>
            <a:r>
              <a:rPr lang="en-US" sz="1800" b="0" i="0" u="none" strike="noStrike" baseline="0" dirty="0">
                <a:latin typeface="MinionPro-Regular"/>
              </a:rPr>
              <a:t>(the maximum number of features that are evaluated for splitting at each node)</a:t>
            </a:r>
          </a:p>
          <a:p>
            <a:pPr algn="l"/>
            <a:endParaRPr lang="en-US" sz="1800" b="0" i="0" u="none" strike="noStrike" baseline="0" dirty="0">
              <a:latin typeface="MinionPro-Regular"/>
            </a:endParaRPr>
          </a:p>
          <a:p>
            <a:pPr algn="l"/>
            <a:r>
              <a:rPr lang="en-US" sz="1800" b="0" i="0" u="none" strike="noStrike" baseline="0" dirty="0">
                <a:latin typeface="MinionPro-Regular"/>
              </a:rPr>
              <a:t>Vote</a:t>
            </a:r>
            <a:br>
              <a:rPr lang="en-US" sz="1800" b="0" i="0" u="none" strike="noStrike" baseline="0" dirty="0">
                <a:latin typeface="MinionPro-Regular"/>
              </a:rPr>
            </a:br>
            <a:endParaRPr lang="en-US" dirty="0"/>
          </a:p>
        </p:txBody>
      </p:sp>
      <p:sp>
        <p:nvSpPr>
          <p:cNvPr id="4" name="Slide Number Placeholder 3"/>
          <p:cNvSpPr>
            <a:spLocks noGrp="1"/>
          </p:cNvSpPr>
          <p:nvPr>
            <p:ph type="sldNum" sz="quarter" idx="5"/>
          </p:nvPr>
        </p:nvSpPr>
        <p:spPr/>
        <p:txBody>
          <a:bodyPr/>
          <a:lstStyle/>
          <a:p>
            <a:fld id="{9CF2F013-C680-4F1D-A725-B09F536C38BD}" type="slidenum">
              <a:rPr lang="en-US" smtClean="0"/>
              <a:t>17</a:t>
            </a:fld>
            <a:endParaRPr lang="en-US"/>
          </a:p>
        </p:txBody>
      </p:sp>
    </p:spTree>
    <p:extLst>
      <p:ext uri="{BB962C8B-B14F-4D97-AF65-F5344CB8AC3E}">
        <p14:creationId xmlns:p14="http://schemas.microsoft.com/office/powerpoint/2010/main" val="16710142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vote</a:t>
            </a:r>
          </a:p>
        </p:txBody>
      </p:sp>
      <p:sp>
        <p:nvSpPr>
          <p:cNvPr id="4" name="Slide Number Placeholder 3"/>
          <p:cNvSpPr>
            <a:spLocks noGrp="1"/>
          </p:cNvSpPr>
          <p:nvPr>
            <p:ph type="sldNum" sz="quarter" idx="5"/>
          </p:nvPr>
        </p:nvSpPr>
        <p:spPr/>
        <p:txBody>
          <a:bodyPr/>
          <a:lstStyle/>
          <a:p>
            <a:fld id="{9CF2F013-C680-4F1D-A725-B09F536C38BD}" type="slidenum">
              <a:rPr lang="en-US" smtClean="0"/>
              <a:t>22</a:t>
            </a:fld>
            <a:endParaRPr lang="en-US"/>
          </a:p>
        </p:txBody>
      </p:sp>
    </p:spTree>
    <p:extLst>
      <p:ext uri="{BB962C8B-B14F-4D97-AF65-F5344CB8AC3E}">
        <p14:creationId xmlns:p14="http://schemas.microsoft.com/office/powerpoint/2010/main" val="11357355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vote</a:t>
            </a:r>
          </a:p>
        </p:txBody>
      </p:sp>
      <p:sp>
        <p:nvSpPr>
          <p:cNvPr id="4" name="Slide Number Placeholder 3"/>
          <p:cNvSpPr>
            <a:spLocks noGrp="1"/>
          </p:cNvSpPr>
          <p:nvPr>
            <p:ph type="sldNum" sz="quarter" idx="5"/>
          </p:nvPr>
        </p:nvSpPr>
        <p:spPr/>
        <p:txBody>
          <a:bodyPr/>
          <a:lstStyle/>
          <a:p>
            <a:fld id="{9CF2F013-C680-4F1D-A725-B09F536C38BD}" type="slidenum">
              <a:rPr lang="en-US" smtClean="0"/>
              <a:t>23</a:t>
            </a:fld>
            <a:endParaRPr lang="en-US"/>
          </a:p>
        </p:txBody>
      </p:sp>
    </p:spTree>
    <p:extLst>
      <p:ext uri="{BB962C8B-B14F-4D97-AF65-F5344CB8AC3E}">
        <p14:creationId xmlns:p14="http://schemas.microsoft.com/office/powerpoint/2010/main" val="10918184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vote</a:t>
            </a:r>
          </a:p>
        </p:txBody>
      </p:sp>
      <p:sp>
        <p:nvSpPr>
          <p:cNvPr id="4" name="Slide Number Placeholder 3"/>
          <p:cNvSpPr>
            <a:spLocks noGrp="1"/>
          </p:cNvSpPr>
          <p:nvPr>
            <p:ph type="sldNum" sz="quarter" idx="5"/>
          </p:nvPr>
        </p:nvSpPr>
        <p:spPr/>
        <p:txBody>
          <a:bodyPr/>
          <a:lstStyle/>
          <a:p>
            <a:fld id="{9CF2F013-C680-4F1D-A725-B09F536C38BD}" type="slidenum">
              <a:rPr lang="en-US" smtClean="0"/>
              <a:t>24</a:t>
            </a:fld>
            <a:endParaRPr lang="en-US"/>
          </a:p>
        </p:txBody>
      </p:sp>
    </p:spTree>
    <p:extLst>
      <p:ext uri="{BB962C8B-B14F-4D97-AF65-F5344CB8AC3E}">
        <p14:creationId xmlns:p14="http://schemas.microsoft.com/office/powerpoint/2010/main" val="3978073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effectLst/>
                <a:latin typeface="Arial" panose="020B0604020202020204" pitchFamily="34" charset="0"/>
              </a:rPr>
              <a:t>Use of an attribution method, namely Layer-Wise Relevance Propagation (LRP),to analyze a neural network model that seeks to translate imagery from the Geostationary Op-</a:t>
            </a:r>
            <a:r>
              <a:rPr lang="en-US" b="0" i="0" dirty="0" err="1">
                <a:effectLst/>
                <a:latin typeface="Arial" panose="020B0604020202020204" pitchFamily="34" charset="0"/>
              </a:rPr>
              <a:t>erational</a:t>
            </a:r>
            <a:r>
              <a:rPr lang="en-US" b="0" i="0" dirty="0">
                <a:effectLst/>
                <a:latin typeface="Arial" panose="020B0604020202020204" pitchFamily="34" charset="0"/>
              </a:rPr>
              <a:t> Environmental Satellite into Multi-Radar Multi-Sensor (MRMS) imagery. LRP results(bottom row) </a:t>
            </a:r>
            <a:r>
              <a:rPr lang="en-US" b="0" i="0" dirty="0" err="1">
                <a:effectLst/>
                <a:latin typeface="Arial" panose="020B0604020202020204" pitchFamily="34" charset="0"/>
              </a:rPr>
              <a:t>showwherein</a:t>
            </a:r>
            <a:r>
              <a:rPr lang="en-US" b="0" i="0" dirty="0">
                <a:effectLst/>
                <a:latin typeface="Arial" panose="020B0604020202020204" pitchFamily="34" charset="0"/>
              </a:rPr>
              <a:t> the input channels the neural network is focusing when predict-</a:t>
            </a:r>
            <a:r>
              <a:rPr lang="en-US" b="0" i="0" dirty="0" err="1">
                <a:effectLst/>
                <a:latin typeface="Arial" panose="020B0604020202020204" pitchFamily="34" charset="0"/>
              </a:rPr>
              <a:t>ing</a:t>
            </a:r>
            <a:r>
              <a:rPr lang="en-US" b="0" i="0" dirty="0">
                <a:effectLst/>
                <a:latin typeface="Arial" panose="020B0604020202020204" pitchFamily="34" charset="0"/>
              </a:rPr>
              <a:t> the MRMS value for a single (central) pixel. Using LRP indicated for various samples </a:t>
            </a:r>
            <a:r>
              <a:rPr lang="en-US" b="0" i="0" dirty="0" err="1">
                <a:effectLst/>
                <a:latin typeface="Arial" panose="020B0604020202020204" pitchFamily="34" charset="0"/>
              </a:rPr>
              <a:t>threestrategies</a:t>
            </a:r>
            <a:r>
              <a:rPr lang="en-US" b="0" i="0" dirty="0">
                <a:effectLst/>
                <a:latin typeface="Arial" panose="020B0604020202020204" pitchFamily="34" charset="0"/>
              </a:rPr>
              <a:t> for the neural network to trigger large MRMS values, namely </a:t>
            </a:r>
            <a:r>
              <a:rPr lang="en-US" b="0" i="0" dirty="0" err="1">
                <a:effectLst/>
                <a:latin typeface="Arial" panose="020B0604020202020204" pitchFamily="34" charset="0"/>
              </a:rPr>
              <a:t>i</a:t>
            </a:r>
            <a:r>
              <a:rPr lang="en-US" b="0" i="0" dirty="0">
                <a:effectLst/>
                <a:latin typeface="Arial" panose="020B0604020202020204" pitchFamily="34" charset="0"/>
              </a:rPr>
              <a:t>) cloud boundaries, ii)cold cloud tops, and iii) presence of lightning in the Geostationary Lightning Mapper channel.</a:t>
            </a:r>
            <a:endParaRPr lang="en-US" dirty="0"/>
          </a:p>
        </p:txBody>
      </p:sp>
      <p:sp>
        <p:nvSpPr>
          <p:cNvPr id="4" name="Slide Number Placeholder 3"/>
          <p:cNvSpPr>
            <a:spLocks noGrp="1"/>
          </p:cNvSpPr>
          <p:nvPr>
            <p:ph type="sldNum" sz="quarter" idx="5"/>
          </p:nvPr>
        </p:nvSpPr>
        <p:spPr/>
        <p:txBody>
          <a:bodyPr/>
          <a:lstStyle/>
          <a:p>
            <a:fld id="{9CF2F013-C680-4F1D-A725-B09F536C38BD}" type="slidenum">
              <a:rPr lang="en-US" smtClean="0"/>
              <a:t>27</a:t>
            </a:fld>
            <a:endParaRPr lang="en-US"/>
          </a:p>
        </p:txBody>
      </p:sp>
    </p:spTree>
    <p:extLst>
      <p:ext uri="{BB962C8B-B14F-4D97-AF65-F5344CB8AC3E}">
        <p14:creationId xmlns:p14="http://schemas.microsoft.com/office/powerpoint/2010/main" val="6265217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F2F013-C680-4F1D-A725-B09F536C38BD}" type="slidenum">
              <a:rPr lang="en-US" smtClean="0"/>
              <a:t>31</a:t>
            </a:fld>
            <a:endParaRPr lang="en-US"/>
          </a:p>
        </p:txBody>
      </p:sp>
    </p:spTree>
    <p:extLst>
      <p:ext uri="{BB962C8B-B14F-4D97-AF65-F5344CB8AC3E}">
        <p14:creationId xmlns:p14="http://schemas.microsoft.com/office/powerpoint/2010/main" val="40901696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F2F013-C680-4F1D-A725-B09F536C38BD}" type="slidenum">
              <a:rPr lang="en-US" smtClean="0"/>
              <a:t>35</a:t>
            </a:fld>
            <a:endParaRPr lang="en-US"/>
          </a:p>
        </p:txBody>
      </p:sp>
    </p:spTree>
    <p:extLst>
      <p:ext uri="{BB962C8B-B14F-4D97-AF65-F5344CB8AC3E}">
        <p14:creationId xmlns:p14="http://schemas.microsoft.com/office/powerpoint/2010/main" val="22127175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Distinguish dynamical from statistical forecasting</a:t>
            </a:r>
          </a:p>
          <a:p>
            <a:endParaRPr lang="en-US" dirty="0"/>
          </a:p>
        </p:txBody>
      </p:sp>
      <p:sp>
        <p:nvSpPr>
          <p:cNvPr id="4" name="Slide Number Placeholder 3"/>
          <p:cNvSpPr>
            <a:spLocks noGrp="1"/>
          </p:cNvSpPr>
          <p:nvPr>
            <p:ph type="sldNum" sz="quarter" idx="5"/>
          </p:nvPr>
        </p:nvSpPr>
        <p:spPr/>
        <p:txBody>
          <a:bodyPr/>
          <a:lstStyle/>
          <a:p>
            <a:fld id="{9CF2F013-C680-4F1D-A725-B09F536C38BD}" type="slidenum">
              <a:rPr lang="en-US" smtClean="0"/>
              <a:t>37</a:t>
            </a:fld>
            <a:endParaRPr lang="en-US"/>
          </a:p>
        </p:txBody>
      </p:sp>
    </p:spTree>
    <p:extLst>
      <p:ext uri="{BB962C8B-B14F-4D97-AF65-F5344CB8AC3E}">
        <p14:creationId xmlns:p14="http://schemas.microsoft.com/office/powerpoint/2010/main" val="2126762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atin typeface="CMU Sans Serif" panose="02000603000000000000" pitchFamily="2" charset="0"/>
                <a:ea typeface="CMU Sans Serif" panose="02000603000000000000" pitchFamily="2" charset="0"/>
                <a:cs typeface="CMU Sans Serif" panose="02000603000000000000" pitchFamily="2" charset="0"/>
              </a:defRPr>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CMU Sans Serif" panose="02000603000000000000" pitchFamily="2" charset="0"/>
                <a:ea typeface="CMU Sans Serif" panose="02000603000000000000" pitchFamily="2" charset="0"/>
                <a:cs typeface="CMU Sans Serif" panose="02000603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atin typeface="CMU Sans Serif" panose="02000603000000000000" pitchFamily="2" charset="0"/>
                <a:ea typeface="CMU Sans Serif" panose="02000603000000000000" pitchFamily="2" charset="0"/>
                <a:cs typeface="CMU Sans Serif" panose="02000603000000000000" pitchFamily="2" charset="0"/>
              </a:defRPr>
            </a:lvl1pPr>
          </a:lstStyle>
          <a:p>
            <a:fld id="{9709A697-9556-4636-ADD7-C14036D27B5A}" type="datetime1">
              <a:rPr lang="en-US" smtClean="0"/>
              <a:t>10/1/2026</a:t>
            </a:fld>
            <a:endParaRPr lang="en-US" dirty="0"/>
          </a:p>
        </p:txBody>
      </p:sp>
      <p:sp>
        <p:nvSpPr>
          <p:cNvPr id="5" name="Footer Placeholder 4"/>
          <p:cNvSpPr>
            <a:spLocks noGrp="1"/>
          </p:cNvSpPr>
          <p:nvPr>
            <p:ph type="ftr" sz="quarter" idx="11"/>
          </p:nvPr>
        </p:nvSpPr>
        <p:spPr/>
        <p:txBody>
          <a:bodyPr/>
          <a:lstStyle>
            <a:lvl1pPr>
              <a:defRPr>
                <a:latin typeface="CMU Sans Serif" panose="02000603000000000000" pitchFamily="2" charset="0"/>
                <a:ea typeface="CMU Sans Serif" panose="02000603000000000000" pitchFamily="2" charset="0"/>
                <a:cs typeface="CMU Sans Serif" panose="02000603000000000000" pitchFamily="2" charset="0"/>
              </a:defRPr>
            </a:lvl1pPr>
          </a:lstStyle>
          <a:p>
            <a:endParaRPr lang="en-US" dirty="0"/>
          </a:p>
        </p:txBody>
      </p:sp>
      <p:sp>
        <p:nvSpPr>
          <p:cNvPr id="12" name="Slide Number Placeholder 8">
            <a:extLst>
              <a:ext uri="{FF2B5EF4-FFF2-40B4-BE49-F238E27FC236}">
                <a16:creationId xmlns:a16="http://schemas.microsoft.com/office/drawing/2014/main" id="{97C9A0B1-3A81-4EE2-BC0F-9246E436763C}"/>
              </a:ext>
            </a:extLst>
          </p:cNvPr>
          <p:cNvSpPr>
            <a:spLocks noGrp="1"/>
          </p:cNvSpPr>
          <p:nvPr>
            <p:ph type="sldNum" sz="quarter" idx="12"/>
          </p:nvPr>
        </p:nvSpPr>
        <p:spPr>
          <a:xfrm>
            <a:off x="4724400" y="0"/>
            <a:ext cx="2743200" cy="365125"/>
          </a:xfrm>
        </p:spPr>
        <p:txBody>
          <a:bodyPr/>
          <a:lstStyle/>
          <a:p>
            <a:fld id="{A5686A01-FA10-4E06-92C7-92734750F4C6}" type="slidenum">
              <a:rPr lang="en-US" smtClean="0"/>
              <a:t>‹#›</a:t>
            </a:fld>
            <a:endParaRPr lang="en-US"/>
          </a:p>
        </p:txBody>
      </p:sp>
    </p:spTree>
    <p:extLst>
      <p:ext uri="{BB962C8B-B14F-4D97-AF65-F5344CB8AC3E}">
        <p14:creationId xmlns:p14="http://schemas.microsoft.com/office/powerpoint/2010/main" val="3568134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032900"/>
            <a:ext cx="12192000" cy="1325563"/>
          </a:xfrm>
        </p:spPr>
        <p:txBody>
          <a:bodyPr/>
          <a:lstStyle>
            <a:lvl1pPr algn="ctr">
              <a:defRPr>
                <a:latin typeface="CMU Sans Serif" panose="02000603000000000000" pitchFamily="2" charset="0"/>
                <a:ea typeface="CMU Sans Serif" panose="02000603000000000000" pitchFamily="2" charset="0"/>
                <a:cs typeface="CMU Sans Serif" panose="02000603000000000000" pitchFamily="2" charset="0"/>
              </a:defRPr>
            </a:lvl1pPr>
          </a:lstStyle>
          <a:p>
            <a:r>
              <a:rPr lang="en-US"/>
              <a:t>Click to edit Master title style</a:t>
            </a:r>
            <a:endParaRPr lang="en-US" dirty="0"/>
          </a:p>
        </p:txBody>
      </p:sp>
      <p:sp>
        <p:nvSpPr>
          <p:cNvPr id="3" name="Content Placeholder 2"/>
          <p:cNvSpPr>
            <a:spLocks noGrp="1"/>
          </p:cNvSpPr>
          <p:nvPr>
            <p:ph idx="1"/>
          </p:nvPr>
        </p:nvSpPr>
        <p:spPr>
          <a:xfrm>
            <a:off x="0" y="2358463"/>
            <a:ext cx="12192000" cy="3818500"/>
          </a:xfrm>
        </p:spPr>
        <p:txBody>
          <a:bodyPr/>
          <a:lstStyle>
            <a:lvl1pPr>
              <a:defRPr>
                <a:latin typeface="CMU Sans Serif" panose="02000603000000000000" pitchFamily="2" charset="0"/>
                <a:ea typeface="CMU Sans Serif" panose="02000603000000000000" pitchFamily="2" charset="0"/>
                <a:cs typeface="CMU Sans Serif" panose="02000603000000000000" pitchFamily="2" charset="0"/>
              </a:defRPr>
            </a:lvl1pPr>
            <a:lvl2pPr>
              <a:defRPr>
                <a:latin typeface="CMU Sans Serif" panose="02000603000000000000" pitchFamily="2" charset="0"/>
                <a:ea typeface="CMU Sans Serif" panose="02000603000000000000" pitchFamily="2" charset="0"/>
                <a:cs typeface="CMU Sans Serif" panose="02000603000000000000" pitchFamily="2" charset="0"/>
              </a:defRPr>
            </a:lvl2pPr>
            <a:lvl3pPr>
              <a:defRPr>
                <a:latin typeface="CMU Sans Serif" panose="02000603000000000000" pitchFamily="2" charset="0"/>
                <a:ea typeface="CMU Sans Serif" panose="02000603000000000000" pitchFamily="2" charset="0"/>
                <a:cs typeface="CMU Sans Serif" panose="02000603000000000000" pitchFamily="2" charset="0"/>
              </a:defRPr>
            </a:lvl3pPr>
            <a:lvl4pPr>
              <a:defRPr>
                <a:latin typeface="CMU Sans Serif" panose="02000603000000000000" pitchFamily="2" charset="0"/>
                <a:ea typeface="CMU Sans Serif" panose="02000603000000000000" pitchFamily="2" charset="0"/>
                <a:cs typeface="CMU Sans Serif" panose="02000603000000000000" pitchFamily="2" charset="0"/>
              </a:defRPr>
            </a:lvl4pPr>
            <a:lvl5pPr>
              <a:defRPr>
                <a:latin typeface="CMU Sans Serif" panose="02000603000000000000" pitchFamily="2" charset="0"/>
                <a:ea typeface="CMU Sans Serif" panose="02000603000000000000" pitchFamily="2" charset="0"/>
                <a:cs typeface="CMU Sans Serif" panose="02000603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atin typeface="CMU Sans Serif" panose="02000603000000000000" pitchFamily="2" charset="0"/>
                <a:ea typeface="CMU Sans Serif" panose="02000603000000000000" pitchFamily="2" charset="0"/>
                <a:cs typeface="CMU Sans Serif" panose="02000603000000000000" pitchFamily="2" charset="0"/>
              </a:defRPr>
            </a:lvl1pPr>
          </a:lstStyle>
          <a:p>
            <a:fld id="{0F6E66B7-9B35-4B7B-9932-B0DB6C7780B0}" type="datetime1">
              <a:rPr lang="en-US" smtClean="0"/>
              <a:t>10/1/2026</a:t>
            </a:fld>
            <a:endParaRPr lang="en-US" dirty="0"/>
          </a:p>
        </p:txBody>
      </p:sp>
      <p:sp>
        <p:nvSpPr>
          <p:cNvPr id="5" name="Footer Placeholder 4"/>
          <p:cNvSpPr>
            <a:spLocks noGrp="1"/>
          </p:cNvSpPr>
          <p:nvPr>
            <p:ph type="ftr" sz="quarter" idx="11"/>
          </p:nvPr>
        </p:nvSpPr>
        <p:spPr/>
        <p:txBody>
          <a:bodyPr/>
          <a:lstStyle>
            <a:lvl1pPr>
              <a:defRPr>
                <a:latin typeface="CMU Sans Serif" panose="02000603000000000000" pitchFamily="2" charset="0"/>
                <a:ea typeface="CMU Sans Serif" panose="02000603000000000000" pitchFamily="2" charset="0"/>
                <a:cs typeface="CMU Sans Serif" panose="02000603000000000000" pitchFamily="2" charset="0"/>
              </a:defRPr>
            </a:lvl1pPr>
          </a:lstStyle>
          <a:p>
            <a:endParaRPr lang="en-US" dirty="0"/>
          </a:p>
        </p:txBody>
      </p:sp>
      <p:sp>
        <p:nvSpPr>
          <p:cNvPr id="12" name="Slide Number Placeholder 8">
            <a:extLst>
              <a:ext uri="{FF2B5EF4-FFF2-40B4-BE49-F238E27FC236}">
                <a16:creationId xmlns:a16="http://schemas.microsoft.com/office/drawing/2014/main" id="{95F618E1-985E-48A0-8864-543C934DB1FB}"/>
              </a:ext>
            </a:extLst>
          </p:cNvPr>
          <p:cNvSpPr>
            <a:spLocks noGrp="1"/>
          </p:cNvSpPr>
          <p:nvPr>
            <p:ph type="sldNum" sz="quarter" idx="12"/>
          </p:nvPr>
        </p:nvSpPr>
        <p:spPr>
          <a:xfrm>
            <a:off x="4724400" y="0"/>
            <a:ext cx="2743200" cy="365125"/>
          </a:xfrm>
        </p:spPr>
        <p:txBody>
          <a:bodyPr/>
          <a:lstStyle/>
          <a:p>
            <a:fld id="{A5686A01-FA10-4E06-92C7-92734750F4C6}" type="slidenum">
              <a:rPr lang="en-US" smtClean="0"/>
              <a:t>‹#›</a:t>
            </a:fld>
            <a:endParaRPr lang="en-US"/>
          </a:p>
        </p:txBody>
      </p:sp>
    </p:spTree>
    <p:extLst>
      <p:ext uri="{BB962C8B-B14F-4D97-AF65-F5344CB8AC3E}">
        <p14:creationId xmlns:p14="http://schemas.microsoft.com/office/powerpoint/2010/main" val="36656961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194678-864D-4970-8E71-CC0335BFB9F7}" type="datetime1">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12" name="Slide Number Placeholder 8">
            <a:extLst>
              <a:ext uri="{FF2B5EF4-FFF2-40B4-BE49-F238E27FC236}">
                <a16:creationId xmlns:a16="http://schemas.microsoft.com/office/drawing/2014/main" id="{5630459C-811D-4DC4-9E77-A40A3737A69E}"/>
              </a:ext>
            </a:extLst>
          </p:cNvPr>
          <p:cNvSpPr>
            <a:spLocks noGrp="1"/>
          </p:cNvSpPr>
          <p:nvPr>
            <p:ph type="sldNum" sz="quarter" idx="12"/>
          </p:nvPr>
        </p:nvSpPr>
        <p:spPr>
          <a:xfrm>
            <a:off x="4724400" y="0"/>
            <a:ext cx="2743200" cy="365125"/>
          </a:xfrm>
        </p:spPr>
        <p:txBody>
          <a:bodyPr/>
          <a:lstStyle/>
          <a:p>
            <a:fld id="{A5686A01-FA10-4E06-92C7-92734750F4C6}" type="slidenum">
              <a:rPr lang="en-US" smtClean="0"/>
              <a:t>‹#›</a:t>
            </a:fld>
            <a:endParaRPr lang="en-US"/>
          </a:p>
        </p:txBody>
      </p:sp>
    </p:spTree>
    <p:extLst>
      <p:ext uri="{BB962C8B-B14F-4D97-AF65-F5344CB8AC3E}">
        <p14:creationId xmlns:p14="http://schemas.microsoft.com/office/powerpoint/2010/main" val="133048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2368195"/>
            <a:ext cx="5181600" cy="380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368195"/>
            <a:ext cx="5181600" cy="380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46C03B7-1D8F-458E-93B0-CB00AB025C6C}" type="datetime1">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686A01-FA10-4E06-92C7-92734750F4C6}" type="slidenum">
              <a:rPr lang="en-US" smtClean="0"/>
              <a:t>‹#›</a:t>
            </a:fld>
            <a:endParaRPr lang="en-US"/>
          </a:p>
        </p:txBody>
      </p:sp>
    </p:spTree>
    <p:extLst>
      <p:ext uri="{BB962C8B-B14F-4D97-AF65-F5344CB8AC3E}">
        <p14:creationId xmlns:p14="http://schemas.microsoft.com/office/powerpoint/2010/main" val="448695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1030147"/>
            <a:ext cx="10515600" cy="1041721"/>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6611" y="2098062"/>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948168"/>
            <a:ext cx="5157787" cy="324149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1" y="2098061"/>
            <a:ext cx="5183188" cy="85010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948167"/>
            <a:ext cx="5183188" cy="32414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2745CCD-FD48-4957-97BB-996D1D1F5A92}" type="datetime1">
              <a:rPr lang="en-US" smtClean="0"/>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5686A01-FA10-4E06-92C7-92734750F4C6}" type="slidenum">
              <a:rPr lang="en-US" smtClean="0"/>
              <a:t>‹#›</a:t>
            </a:fld>
            <a:endParaRPr lang="en-US"/>
          </a:p>
        </p:txBody>
      </p:sp>
    </p:spTree>
    <p:extLst>
      <p:ext uri="{BB962C8B-B14F-4D97-AF65-F5344CB8AC3E}">
        <p14:creationId xmlns:p14="http://schemas.microsoft.com/office/powerpoint/2010/main" val="6149188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F61E08-FE4F-4BA0-9A4F-ABAA1AAD8933}" type="datetime1">
              <a:rPr lang="en-US" smtClean="0"/>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5686A01-FA10-4E06-92C7-92734750F4C6}" type="slidenum">
              <a:rPr lang="en-US" smtClean="0"/>
              <a:t>‹#›</a:t>
            </a:fld>
            <a:endParaRPr lang="en-US"/>
          </a:p>
        </p:txBody>
      </p:sp>
    </p:spTree>
    <p:extLst>
      <p:ext uri="{BB962C8B-B14F-4D97-AF65-F5344CB8AC3E}">
        <p14:creationId xmlns:p14="http://schemas.microsoft.com/office/powerpoint/2010/main" val="14443986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1F070D-6507-42AD-8A7A-A1A51651946D}" type="datetime1">
              <a:rPr lang="en-US" smtClean="0"/>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A5686A01-FA10-4E06-92C7-92734750F4C6}" type="slidenum">
              <a:rPr lang="en-US" smtClean="0"/>
              <a:pPr/>
              <a:t>‹#›</a:t>
            </a:fld>
            <a:endParaRPr lang="en-US" dirty="0"/>
          </a:p>
        </p:txBody>
      </p:sp>
    </p:spTree>
    <p:extLst>
      <p:ext uri="{BB962C8B-B14F-4D97-AF65-F5344CB8AC3E}">
        <p14:creationId xmlns:p14="http://schemas.microsoft.com/office/powerpoint/2010/main" val="23503414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16BB3DE-6B60-4982-9E73-506458BA3016}" type="datetime1">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686A01-FA10-4E06-92C7-92734750F4C6}" type="slidenum">
              <a:rPr lang="en-US" smtClean="0"/>
              <a:t>‹#›</a:t>
            </a:fld>
            <a:endParaRPr lang="en-US"/>
          </a:p>
        </p:txBody>
      </p:sp>
    </p:spTree>
    <p:extLst>
      <p:ext uri="{BB962C8B-B14F-4D97-AF65-F5344CB8AC3E}">
        <p14:creationId xmlns:p14="http://schemas.microsoft.com/office/powerpoint/2010/main" val="677016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F4C7062-7E19-4F5A-9C80-6631C3BA90C9}" type="datetime1">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686A01-FA10-4E06-92C7-92734750F4C6}" type="slidenum">
              <a:rPr lang="en-US" smtClean="0"/>
              <a:t>‹#›</a:t>
            </a:fld>
            <a:endParaRPr lang="en-US"/>
          </a:p>
        </p:txBody>
      </p:sp>
    </p:spTree>
    <p:extLst>
      <p:ext uri="{BB962C8B-B14F-4D97-AF65-F5344CB8AC3E}">
        <p14:creationId xmlns:p14="http://schemas.microsoft.com/office/powerpoint/2010/main" val="12814595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135C72-5A6E-4C5D-A140-0F430B42233B}" type="datetime1">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686A01-FA10-4E06-92C7-92734750F4C6}" type="slidenum">
              <a:rPr lang="en-US" smtClean="0"/>
              <a:t>‹#›</a:t>
            </a:fld>
            <a:endParaRPr lang="en-US"/>
          </a:p>
        </p:txBody>
      </p:sp>
    </p:spTree>
    <p:extLst>
      <p:ext uri="{BB962C8B-B14F-4D97-AF65-F5344CB8AC3E}">
        <p14:creationId xmlns:p14="http://schemas.microsoft.com/office/powerpoint/2010/main" val="2444157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9AFC8F-4F6E-4D8C-B539-DD061C8756D5}" type="datetime1">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686A01-FA10-4E06-92C7-92734750F4C6}" type="slidenum">
              <a:rPr lang="en-US" smtClean="0"/>
              <a:t>‹#›</a:t>
            </a:fld>
            <a:endParaRPr lang="en-US"/>
          </a:p>
        </p:txBody>
      </p:sp>
    </p:spTree>
    <p:extLst>
      <p:ext uri="{BB962C8B-B14F-4D97-AF65-F5344CB8AC3E}">
        <p14:creationId xmlns:p14="http://schemas.microsoft.com/office/powerpoint/2010/main" val="1350358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 y="1042632"/>
            <a:ext cx="121920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0" y="2368195"/>
            <a:ext cx="12192000" cy="33087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E9409E-6722-4D1D-BF68-530DA15E46E8}" type="datetime1">
              <a:rPr lang="en-US" smtClean="0"/>
              <a:t>10/1/2026</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724400" y="0"/>
            <a:ext cx="2743200" cy="365125"/>
          </a:xfrm>
          <a:prstGeom prst="rect">
            <a:avLst/>
          </a:prstGeom>
        </p:spPr>
        <p:txBody>
          <a:bodyPr vert="horz" lIns="91440" tIns="45720" rIns="91440" bIns="45720" rtlCol="0" anchor="ctr"/>
          <a:lstStyle>
            <a:lvl1pPr algn="ctr">
              <a:defRPr sz="1200">
                <a:solidFill>
                  <a:schemeClr val="tx1"/>
                </a:solidFill>
              </a:defRPr>
            </a:lvl1pPr>
          </a:lstStyle>
          <a:p>
            <a:fld id="{A5686A01-FA10-4E06-92C7-92734750F4C6}" type="slidenum">
              <a:rPr lang="en-US" smtClean="0"/>
              <a:pPr/>
              <a:t>‹#›</a:t>
            </a:fld>
            <a:endParaRPr lang="en-US" dirty="0"/>
          </a:p>
        </p:txBody>
      </p:sp>
      <p:sp>
        <p:nvSpPr>
          <p:cNvPr id="7" name="Rectangle 6">
            <a:extLst>
              <a:ext uri="{FF2B5EF4-FFF2-40B4-BE49-F238E27FC236}">
                <a16:creationId xmlns:a16="http://schemas.microsoft.com/office/drawing/2014/main" id="{B696E69C-EA8C-4B37-8F1F-BD0C3836FBCC}"/>
              </a:ext>
            </a:extLst>
          </p:cNvPr>
          <p:cNvSpPr/>
          <p:nvPr userDrawn="1"/>
        </p:nvSpPr>
        <p:spPr>
          <a:xfrm>
            <a:off x="0" y="-1"/>
            <a:ext cx="12192000" cy="1018800"/>
          </a:xfrm>
          <a:prstGeom prst="rect">
            <a:avLst/>
          </a:prstGeom>
          <a:solidFill>
            <a:sysClr val="windowText" lastClr="000000"/>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MU Sans Serif"/>
              <a:ea typeface="+mn-ea"/>
              <a:cs typeface="+mn-cs"/>
            </a:endParaRPr>
          </a:p>
        </p:txBody>
      </p:sp>
      <p:pic>
        <p:nvPicPr>
          <p:cNvPr id="8" name="Picture 7" descr="Text&#10;&#10;Description automatically generated">
            <a:extLst>
              <a:ext uri="{FF2B5EF4-FFF2-40B4-BE49-F238E27FC236}">
                <a16:creationId xmlns:a16="http://schemas.microsoft.com/office/drawing/2014/main" id="{4DB37FD6-FFD6-4A3C-9780-6C460EED70A4}"/>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 y="0"/>
            <a:ext cx="1811197" cy="1018799"/>
          </a:xfrm>
          <a:prstGeom prst="rect">
            <a:avLst/>
          </a:prstGeom>
        </p:spPr>
      </p:pic>
      <p:pic>
        <p:nvPicPr>
          <p:cNvPr id="9" name="Picture 8" descr="Icon&#10;&#10;Description automatically generated with low confidence">
            <a:extLst>
              <a:ext uri="{FF2B5EF4-FFF2-40B4-BE49-F238E27FC236}">
                <a16:creationId xmlns:a16="http://schemas.microsoft.com/office/drawing/2014/main" id="{649FCEFC-7013-4222-9013-007F01EDB21F}"/>
              </a:ext>
            </a:extLst>
          </p:cNvPr>
          <p:cNvPicPr>
            <a:picLocks noChangeAspect="1"/>
          </p:cNvPicPr>
          <p:nvPr userDrawn="1"/>
        </p:nvPicPr>
        <p:blipFill rotWithShape="1">
          <a:blip r:embed="rId14">
            <a:extLst>
              <a:ext uri="{28A0092B-C50C-407E-A947-70E740481C1C}">
                <a14:useLocalDpi xmlns:a14="http://schemas.microsoft.com/office/drawing/2010/main" val="0"/>
              </a:ext>
            </a:extLst>
          </a:blip>
          <a:srcRect l="-1" r="17044" b="27229"/>
          <a:stretch/>
        </p:blipFill>
        <p:spPr>
          <a:xfrm>
            <a:off x="9810109" y="139405"/>
            <a:ext cx="2381891" cy="739987"/>
          </a:xfrm>
          <a:prstGeom prst="rect">
            <a:avLst/>
          </a:prstGeom>
        </p:spPr>
      </p:pic>
      <p:sp>
        <p:nvSpPr>
          <p:cNvPr id="10" name="TextBox 9">
            <a:extLst>
              <a:ext uri="{FF2B5EF4-FFF2-40B4-BE49-F238E27FC236}">
                <a16:creationId xmlns:a16="http://schemas.microsoft.com/office/drawing/2014/main" id="{D6DF48FB-FA9B-4BA8-9E58-F2CC58B0160A}"/>
              </a:ext>
            </a:extLst>
          </p:cNvPr>
          <p:cNvSpPr txBox="1"/>
          <p:nvPr userDrawn="1"/>
        </p:nvSpPr>
        <p:spPr>
          <a:xfrm>
            <a:off x="-2" y="371432"/>
            <a:ext cx="12192000" cy="553998"/>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000" b="0" i="0" u="none" strike="noStrike" kern="0" cap="none" spc="0" normalizeH="0" baseline="0" noProof="0" dirty="0">
                <a:ln>
                  <a:noFill/>
                </a:ln>
                <a:solidFill>
                  <a:prstClr val="white"/>
                </a:solidFill>
                <a:effectLst/>
                <a:uLnTx/>
                <a:uFillTx/>
              </a:rPr>
              <a:t>ML for Earth &amp; Env Sci (Chapter 2, FA2026)</a:t>
            </a:r>
          </a:p>
        </p:txBody>
      </p:sp>
      <p:sp>
        <p:nvSpPr>
          <p:cNvPr id="11" name="Slide Number Placeholder 13">
            <a:extLst>
              <a:ext uri="{FF2B5EF4-FFF2-40B4-BE49-F238E27FC236}">
                <a16:creationId xmlns:a16="http://schemas.microsoft.com/office/drawing/2014/main" id="{73B6DC2F-9988-447F-A7C3-709BC237347B}"/>
              </a:ext>
            </a:extLst>
          </p:cNvPr>
          <p:cNvSpPr txBox="1">
            <a:spLocks/>
          </p:cNvSpPr>
          <p:nvPr userDrawn="1"/>
        </p:nvSpPr>
        <p:spPr>
          <a:xfrm>
            <a:off x="4724400" y="-1944"/>
            <a:ext cx="27432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fld id="{A5686A01-FA10-4E06-92C7-92734750F4C6}" type="slidenum">
              <a:rPr kumimoji="0" lang="en-US" sz="1200" b="0" i="0" u="none" strike="noStrike" kern="1200" cap="none" spc="0" normalizeH="0" baseline="0" noProof="0" smtClean="0">
                <a:ln>
                  <a:noFill/>
                </a:ln>
                <a:solidFill>
                  <a:prstClr val="white"/>
                </a:solidFill>
                <a:effectLst/>
                <a:uLnTx/>
                <a:uFillTx/>
                <a:latin typeface="CMU Sans Serif"/>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white"/>
              </a:solidFill>
              <a:effectLst/>
              <a:uLnTx/>
              <a:uFillTx/>
              <a:latin typeface="CMU Sans Serif"/>
              <a:ea typeface="+mn-ea"/>
              <a:cs typeface="+mn-cs"/>
            </a:endParaRPr>
          </a:p>
        </p:txBody>
      </p:sp>
    </p:spTree>
    <p:extLst>
      <p:ext uri="{BB962C8B-B14F-4D97-AF65-F5344CB8AC3E}">
        <p14:creationId xmlns:p14="http://schemas.microsoft.com/office/powerpoint/2010/main" val="143826216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1.xml"/><Relationship Id="rId7" Type="http://schemas.openxmlformats.org/officeDocument/2006/relationships/image" Target="../media/image9.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8.png"/><Relationship Id="rId5" Type="http://schemas.openxmlformats.org/officeDocument/2006/relationships/notesSlide" Target="../notesSlides/notesSlide4.xml"/><Relationship Id="rId4" Type="http://schemas.openxmlformats.org/officeDocument/2006/relationships/slideLayout" Target="../slideLayouts/slideLayout6.xml"/><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jpg"/></Relationships>
</file>

<file path=ppt/slides/_rels/slide15.xml.rels><?xml version="1.0" encoding="UTF-8" standalone="yes"?>
<Relationships xmlns="http://schemas.openxmlformats.org/package/2006/relationships"><Relationship Id="rId3" Type="http://schemas.openxmlformats.org/officeDocument/2006/relationships/image" Target="../media/image24.jpg"/><Relationship Id="rId7"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jpg"/></Relationships>
</file>

<file path=ppt/slides/_rels/slide1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tags" Target="../tags/tag4.xml"/><Relationship Id="rId7" Type="http://schemas.openxmlformats.org/officeDocument/2006/relationships/image" Target="../media/image24.jpg"/><Relationship Id="rId12" Type="http://schemas.openxmlformats.org/officeDocument/2006/relationships/image" Target="../media/image32.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notesSlide" Target="../notesSlides/notesSlide10.xml"/><Relationship Id="rId11" Type="http://schemas.openxmlformats.org/officeDocument/2006/relationships/image" Target="../media/image31.png"/><Relationship Id="rId5" Type="http://schemas.openxmlformats.org/officeDocument/2006/relationships/slideLayout" Target="../slideLayouts/slideLayout6.xml"/><Relationship Id="rId10" Type="http://schemas.openxmlformats.org/officeDocument/2006/relationships/image" Target="../media/image30.png"/><Relationship Id="rId4" Type="http://schemas.openxmlformats.org/officeDocument/2006/relationships/tags" Target="../tags/tag5.xml"/><Relationship Id="rId9"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34.pn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32.png"/><Relationship Id="rId5" Type="http://schemas.openxmlformats.org/officeDocument/2006/relationships/image" Target="../media/image33.png"/><Relationship Id="rId4"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7.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45.sv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6.xml"/><Relationship Id="rId5" Type="http://schemas.openxmlformats.org/officeDocument/2006/relationships/image" Target="../media/image59.png"/><Relationship Id="rId4"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3D9D2-B539-4A4E-A748-FE2B7C04CE94}"/>
              </a:ext>
            </a:extLst>
          </p:cNvPr>
          <p:cNvSpPr>
            <a:spLocks noGrp="1"/>
          </p:cNvSpPr>
          <p:nvPr>
            <p:ph type="ctrTitle"/>
          </p:nvPr>
        </p:nvSpPr>
        <p:spPr>
          <a:xfrm>
            <a:off x="0" y="1122363"/>
            <a:ext cx="12192000" cy="2387600"/>
          </a:xfrm>
        </p:spPr>
        <p:txBody>
          <a:bodyPr>
            <a:normAutofit/>
          </a:bodyPr>
          <a:lstStyle/>
          <a:p>
            <a:r>
              <a:rPr lang="en-US" dirty="0"/>
              <a:t>Min 15-30: </a:t>
            </a:r>
            <a:br>
              <a:rPr lang="en-US" dirty="0"/>
            </a:br>
            <a:r>
              <a:rPr lang="en-US" dirty="0"/>
              <a:t>Moodle Quiz</a:t>
            </a:r>
          </a:p>
        </p:txBody>
      </p:sp>
      <p:sp>
        <p:nvSpPr>
          <p:cNvPr id="4" name="Slide Number Placeholder 3">
            <a:extLst>
              <a:ext uri="{FF2B5EF4-FFF2-40B4-BE49-F238E27FC236}">
                <a16:creationId xmlns:a16="http://schemas.microsoft.com/office/drawing/2014/main" id="{24CCB5B1-D724-4811-BE0C-131025975F57}"/>
              </a:ext>
            </a:extLst>
          </p:cNvPr>
          <p:cNvSpPr>
            <a:spLocks noGrp="1"/>
          </p:cNvSpPr>
          <p:nvPr>
            <p:ph type="sldNum" sz="quarter" idx="12"/>
          </p:nvPr>
        </p:nvSpPr>
        <p:spPr/>
        <p:txBody>
          <a:bodyPr/>
          <a:lstStyle/>
          <a:p>
            <a:fld id="{A5686A01-FA10-4E06-92C7-92734750F4C6}" type="slidenum">
              <a:rPr lang="en-US" smtClean="0"/>
              <a:t>1</a:t>
            </a:fld>
            <a:endParaRPr lang="en-US"/>
          </a:p>
        </p:txBody>
      </p:sp>
    </p:spTree>
    <p:extLst>
      <p:ext uri="{BB962C8B-B14F-4D97-AF65-F5344CB8AC3E}">
        <p14:creationId xmlns:p14="http://schemas.microsoft.com/office/powerpoint/2010/main" val="3783990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20F80-640B-9827-A3EB-2443CE2746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20D713-B2B9-F037-8525-CF01A345962A}"/>
              </a:ext>
            </a:extLst>
          </p:cNvPr>
          <p:cNvSpPr>
            <a:spLocks noGrp="1"/>
          </p:cNvSpPr>
          <p:nvPr>
            <p:ph type="ctrTitle"/>
          </p:nvPr>
        </p:nvSpPr>
        <p:spPr>
          <a:xfrm>
            <a:off x="0" y="1122363"/>
            <a:ext cx="12192000" cy="1486554"/>
          </a:xfrm>
        </p:spPr>
        <p:txBody>
          <a:bodyPr>
            <a:normAutofit fontScale="90000"/>
          </a:bodyPr>
          <a:lstStyle/>
          <a:p>
            <a:r>
              <a:rPr lang="en-US" dirty="0"/>
              <a:t>Min 30-60: Bias-Correcting Meteorological Forecasts with simple ML</a:t>
            </a:r>
          </a:p>
        </p:txBody>
      </p:sp>
      <p:sp>
        <p:nvSpPr>
          <p:cNvPr id="4" name="Slide Number Placeholder 3">
            <a:extLst>
              <a:ext uri="{FF2B5EF4-FFF2-40B4-BE49-F238E27FC236}">
                <a16:creationId xmlns:a16="http://schemas.microsoft.com/office/drawing/2014/main" id="{6D649042-40FB-3358-3DF2-CA17BF4CC795}"/>
              </a:ext>
            </a:extLst>
          </p:cNvPr>
          <p:cNvSpPr>
            <a:spLocks noGrp="1"/>
          </p:cNvSpPr>
          <p:nvPr>
            <p:ph type="sldNum" sz="quarter" idx="12"/>
          </p:nvPr>
        </p:nvSpPr>
        <p:spPr/>
        <p:txBody>
          <a:bodyPr/>
          <a:lstStyle/>
          <a:p>
            <a:fld id="{A5686A01-FA10-4E06-92C7-92734750F4C6}" type="slidenum">
              <a:rPr lang="en-US" smtClean="0"/>
              <a:t>2</a:t>
            </a:fld>
            <a:endParaRPr lang="en-US"/>
          </a:p>
        </p:txBody>
      </p:sp>
      <p:sp>
        <p:nvSpPr>
          <p:cNvPr id="8" name="TextBox 7">
            <a:extLst>
              <a:ext uri="{FF2B5EF4-FFF2-40B4-BE49-F238E27FC236}">
                <a16:creationId xmlns:a16="http://schemas.microsoft.com/office/drawing/2014/main" id="{D7E8E141-31B5-8C1E-2F6F-1D66A13E5556}"/>
              </a:ext>
            </a:extLst>
          </p:cNvPr>
          <p:cNvSpPr txBox="1"/>
          <p:nvPr/>
        </p:nvSpPr>
        <p:spPr>
          <a:xfrm>
            <a:off x="0" y="2918460"/>
            <a:ext cx="12192000" cy="3462486"/>
          </a:xfrm>
          <a:prstGeom prst="rect">
            <a:avLst/>
          </a:prstGeom>
          <a:noFill/>
        </p:spPr>
        <p:txBody>
          <a:bodyPr wrap="square">
            <a:spAutoFit/>
          </a:bodyPr>
          <a:lstStyle/>
          <a:p>
            <a:pPr algn="ctr"/>
            <a:r>
              <a:rPr lang="en-US" sz="2500" u="sng" dirty="0"/>
              <a:t>Group activities</a:t>
            </a:r>
            <a:r>
              <a:rPr lang="en-US" sz="2500" dirty="0"/>
              <a:t> (Wilks Ch7, </a:t>
            </a:r>
            <a:r>
              <a:rPr lang="en-US" sz="2500" dirty="0" err="1"/>
              <a:t>Géron</a:t>
            </a:r>
            <a:r>
              <a:rPr lang="en-US" sz="2500" dirty="0"/>
              <a:t> Ch3+4):</a:t>
            </a:r>
            <a:br>
              <a:rPr lang="en-US" sz="2500" dirty="0"/>
            </a:br>
            <a:endParaRPr lang="en-US" sz="2500" dirty="0"/>
          </a:p>
          <a:p>
            <a:pPr fontAlgn="base"/>
            <a:r>
              <a:rPr lang="en-US" b="1" dirty="0"/>
              <a:t>(Theme 2)</a:t>
            </a:r>
            <a:r>
              <a:rPr lang="en-US" dirty="0"/>
              <a:t>Model output statistics (MOS) learn to correct the output of knowledge-based models based on past observations. Why can this be useful? Can you come up with a scenario in which it might fail?​</a:t>
            </a:r>
          </a:p>
          <a:p>
            <a:pPr fontAlgn="base"/>
            <a:r>
              <a:rPr lang="en-US" dirty="0"/>
              <a:t>​</a:t>
            </a:r>
          </a:p>
          <a:p>
            <a:pPr fontAlgn="base"/>
            <a:r>
              <a:rPr lang="en-US" b="1" dirty="0"/>
              <a:t>(Theme 3) : </a:t>
            </a:r>
            <a:r>
              <a:rPr lang="en-US" dirty="0"/>
              <a:t>Explain forward (sequential) feature selection and backward feature elimination using simple drawings/schematics. Can you think of alternative methods to select a model's features?​</a:t>
            </a:r>
          </a:p>
          <a:p>
            <a:pPr fontAlgn="base"/>
            <a:r>
              <a:rPr lang="en-US" dirty="0"/>
              <a:t>Why (think of examples in your field of interest) and how (in Python) can you regularize a linear regression model?</a:t>
            </a:r>
            <a:r>
              <a:rPr lang="en-US" b="1" dirty="0"/>
              <a:t> </a:t>
            </a:r>
            <a:r>
              <a:rPr lang="en-US" dirty="0"/>
              <a:t>​</a:t>
            </a:r>
          </a:p>
          <a:p>
            <a:pPr algn="ctr"/>
            <a:endParaRPr lang="en-US" sz="2500" dirty="0"/>
          </a:p>
          <a:p>
            <a:pPr algn="ctr"/>
            <a:r>
              <a:rPr lang="en-US" b="1" dirty="0"/>
              <a:t>(Theme 5) : </a:t>
            </a:r>
            <a:r>
              <a:rPr lang="en-US" dirty="0"/>
              <a:t>Come up with two presentations: One to convince the class that they should use confidence intervals for their project, and one to explain why you should never use confidence intervals.</a:t>
            </a:r>
            <a:r>
              <a:rPr lang="en-US" b="1" dirty="0"/>
              <a:t> </a:t>
            </a:r>
            <a:r>
              <a:rPr lang="en-US" dirty="0"/>
              <a:t>​</a:t>
            </a:r>
            <a:endParaRPr lang="en-US" sz="2500" dirty="0"/>
          </a:p>
        </p:txBody>
      </p:sp>
    </p:spTree>
    <p:extLst>
      <p:ext uri="{BB962C8B-B14F-4D97-AF65-F5344CB8AC3E}">
        <p14:creationId xmlns:p14="http://schemas.microsoft.com/office/powerpoint/2010/main" val="1827774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picture containing tree, outdoor, sky, lush&#10;&#10;Description automatically generated">
            <a:extLst>
              <a:ext uri="{FF2B5EF4-FFF2-40B4-BE49-F238E27FC236}">
                <a16:creationId xmlns:a16="http://schemas.microsoft.com/office/drawing/2014/main" id="{93BAAFDB-50B7-4E78-AD89-329B4A3EDB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65269" y="3614850"/>
            <a:ext cx="4837053" cy="3243150"/>
          </a:xfrm>
          <a:prstGeom prst="rect">
            <a:avLst/>
          </a:prstGeom>
        </p:spPr>
      </p:pic>
      <p:sp>
        <p:nvSpPr>
          <p:cNvPr id="2" name="Title 1">
            <a:extLst>
              <a:ext uri="{FF2B5EF4-FFF2-40B4-BE49-F238E27FC236}">
                <a16:creationId xmlns:a16="http://schemas.microsoft.com/office/drawing/2014/main" id="{37557CCE-FCA5-4EA9-84D7-D1726F573818}"/>
              </a:ext>
            </a:extLst>
          </p:cNvPr>
          <p:cNvSpPr>
            <a:spLocks noGrp="1"/>
          </p:cNvSpPr>
          <p:nvPr>
            <p:ph type="ctrTitle"/>
          </p:nvPr>
        </p:nvSpPr>
        <p:spPr/>
        <p:txBody>
          <a:bodyPr/>
          <a:lstStyle/>
          <a:p>
            <a:r>
              <a:rPr lang="en-US" dirty="0"/>
              <a:t>Min 60-75: Break</a:t>
            </a:r>
          </a:p>
        </p:txBody>
      </p:sp>
      <p:sp>
        <p:nvSpPr>
          <p:cNvPr id="4" name="Slide Number Placeholder 3">
            <a:extLst>
              <a:ext uri="{FF2B5EF4-FFF2-40B4-BE49-F238E27FC236}">
                <a16:creationId xmlns:a16="http://schemas.microsoft.com/office/drawing/2014/main" id="{637B5D72-1FCE-4876-B2D9-9D757C5C9C32}"/>
              </a:ext>
            </a:extLst>
          </p:cNvPr>
          <p:cNvSpPr>
            <a:spLocks noGrp="1"/>
          </p:cNvSpPr>
          <p:nvPr>
            <p:ph type="sldNum" sz="quarter" idx="12"/>
          </p:nvPr>
        </p:nvSpPr>
        <p:spPr/>
        <p:txBody>
          <a:bodyPr/>
          <a:lstStyle/>
          <a:p>
            <a:fld id="{A5686A01-FA10-4E06-92C7-92734750F4C6}" type="slidenum">
              <a:rPr lang="en-US" smtClean="0"/>
              <a:t>3</a:t>
            </a:fld>
            <a:endParaRPr lang="en-US"/>
          </a:p>
        </p:txBody>
      </p:sp>
      <p:pic>
        <p:nvPicPr>
          <p:cNvPr id="6" name="Picture 5" descr="A picture containing table, cup, sitting, indoor&#10;&#10;Description automatically generated">
            <a:extLst>
              <a:ext uri="{FF2B5EF4-FFF2-40B4-BE49-F238E27FC236}">
                <a16:creationId xmlns:a16="http://schemas.microsoft.com/office/drawing/2014/main" id="{7D264572-6C9E-4B6C-95B4-03276295BAC4}"/>
              </a:ext>
            </a:extLst>
          </p:cNvPr>
          <p:cNvPicPr>
            <a:picLocks noChangeAspect="1"/>
          </p:cNvPicPr>
          <p:nvPr/>
        </p:nvPicPr>
        <p:blipFill rotWithShape="1">
          <a:blip r:embed="rId3">
            <a:extLst>
              <a:ext uri="{28A0092B-C50C-407E-A947-70E740481C1C}">
                <a14:useLocalDpi xmlns:a14="http://schemas.microsoft.com/office/drawing/2010/main" val="0"/>
              </a:ext>
            </a:extLst>
          </a:blip>
          <a:srcRect t="10962" b="27556"/>
          <a:stretch/>
        </p:blipFill>
        <p:spPr>
          <a:xfrm>
            <a:off x="21351" y="3614850"/>
            <a:ext cx="3768329" cy="3243150"/>
          </a:xfrm>
          <a:prstGeom prst="rect">
            <a:avLst/>
          </a:prstGeom>
        </p:spPr>
      </p:pic>
      <p:pic>
        <p:nvPicPr>
          <p:cNvPr id="8" name="Picture 7" descr="A pile of green and red apples&#10;&#10;Description automatically generated with low confidence">
            <a:extLst>
              <a:ext uri="{FF2B5EF4-FFF2-40B4-BE49-F238E27FC236}">
                <a16:creationId xmlns:a16="http://schemas.microsoft.com/office/drawing/2014/main" id="{18CB289A-2A53-4076-A274-ECB92EF00A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67799" y="3614850"/>
            <a:ext cx="4324201" cy="3243151"/>
          </a:xfrm>
          <a:prstGeom prst="rect">
            <a:avLst/>
          </a:prstGeom>
        </p:spPr>
      </p:pic>
    </p:spTree>
    <p:extLst>
      <p:ext uri="{BB962C8B-B14F-4D97-AF65-F5344CB8AC3E}">
        <p14:creationId xmlns:p14="http://schemas.microsoft.com/office/powerpoint/2010/main" val="2099506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26AD2-F75E-4189-BE7C-285EBDEEBA2D}"/>
              </a:ext>
            </a:extLst>
          </p:cNvPr>
          <p:cNvSpPr>
            <a:spLocks noGrp="1"/>
          </p:cNvSpPr>
          <p:nvPr>
            <p:ph type="ctrTitle"/>
          </p:nvPr>
        </p:nvSpPr>
        <p:spPr>
          <a:xfrm>
            <a:off x="914398" y="1027050"/>
            <a:ext cx="10363200" cy="822184"/>
          </a:xfrm>
        </p:spPr>
        <p:txBody>
          <a:bodyPr>
            <a:normAutofit fontScale="90000"/>
          </a:bodyPr>
          <a:lstStyle/>
          <a:p>
            <a:r>
              <a:rPr lang="en-US" dirty="0"/>
              <a:t>Welcome back!</a:t>
            </a:r>
          </a:p>
        </p:txBody>
      </p:sp>
      <p:sp>
        <p:nvSpPr>
          <p:cNvPr id="4" name="Rectangle 3">
            <a:extLst>
              <a:ext uri="{FF2B5EF4-FFF2-40B4-BE49-F238E27FC236}">
                <a16:creationId xmlns:a16="http://schemas.microsoft.com/office/drawing/2014/main" id="{1016C7CF-C9AD-402D-B1D3-EA17ED29E245}"/>
              </a:ext>
            </a:extLst>
          </p:cNvPr>
          <p:cNvSpPr/>
          <p:nvPr/>
        </p:nvSpPr>
        <p:spPr>
          <a:xfrm>
            <a:off x="0" y="-1"/>
            <a:ext cx="12192000" cy="10188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Text&#10;&#10;Description automatically generated">
            <a:extLst>
              <a:ext uri="{FF2B5EF4-FFF2-40B4-BE49-F238E27FC236}">
                <a16:creationId xmlns:a16="http://schemas.microsoft.com/office/drawing/2014/main" id="{50C51A0F-DE65-4DD8-AF36-9706BB26E2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811197" cy="1018799"/>
          </a:xfrm>
          <a:prstGeom prst="rect">
            <a:avLst/>
          </a:prstGeom>
        </p:spPr>
      </p:pic>
      <p:pic>
        <p:nvPicPr>
          <p:cNvPr id="12" name="Picture 11" descr="Icon&#10;&#10;Description automatically generated with low confidence">
            <a:extLst>
              <a:ext uri="{FF2B5EF4-FFF2-40B4-BE49-F238E27FC236}">
                <a16:creationId xmlns:a16="http://schemas.microsoft.com/office/drawing/2014/main" id="{9C72AAB3-16B0-469E-961C-93A20A58C50B}"/>
              </a:ext>
            </a:extLst>
          </p:cNvPr>
          <p:cNvPicPr>
            <a:picLocks noChangeAspect="1"/>
          </p:cNvPicPr>
          <p:nvPr/>
        </p:nvPicPr>
        <p:blipFill rotWithShape="1">
          <a:blip r:embed="rId4">
            <a:extLst>
              <a:ext uri="{28A0092B-C50C-407E-A947-70E740481C1C}">
                <a14:useLocalDpi xmlns:a14="http://schemas.microsoft.com/office/drawing/2010/main" val="0"/>
              </a:ext>
            </a:extLst>
          </a:blip>
          <a:srcRect l="-1" r="17044" b="27229"/>
          <a:stretch/>
        </p:blipFill>
        <p:spPr>
          <a:xfrm>
            <a:off x="9810109" y="139405"/>
            <a:ext cx="2381891" cy="739987"/>
          </a:xfrm>
          <a:prstGeom prst="rect">
            <a:avLst/>
          </a:prstGeom>
        </p:spPr>
      </p:pic>
      <p:sp>
        <p:nvSpPr>
          <p:cNvPr id="13" name="TextBox 12">
            <a:extLst>
              <a:ext uri="{FF2B5EF4-FFF2-40B4-BE49-F238E27FC236}">
                <a16:creationId xmlns:a16="http://schemas.microsoft.com/office/drawing/2014/main" id="{F36F0208-B091-4A8E-B00F-31B1AEF44E7D}"/>
              </a:ext>
            </a:extLst>
          </p:cNvPr>
          <p:cNvSpPr txBox="1"/>
          <p:nvPr/>
        </p:nvSpPr>
        <p:spPr>
          <a:xfrm>
            <a:off x="-2" y="371432"/>
            <a:ext cx="12192000" cy="553998"/>
          </a:xfrm>
          <a:prstGeom prst="rect">
            <a:avLst/>
          </a:prstGeom>
          <a:noFill/>
        </p:spPr>
        <p:txBody>
          <a:bodyPr wrap="square" rtlCol="0">
            <a:spAutoFit/>
          </a:bodyPr>
          <a:lstStyle/>
          <a:p>
            <a:pPr algn="ctr"/>
            <a:r>
              <a:rPr lang="en-US" sz="3000" dirty="0"/>
              <a:t>ML for Earth &amp; Env Sci (Week 2, SP2022)</a:t>
            </a:r>
          </a:p>
        </p:txBody>
      </p:sp>
      <p:sp>
        <p:nvSpPr>
          <p:cNvPr id="14" name="Slide Number Placeholder 13">
            <a:extLst>
              <a:ext uri="{FF2B5EF4-FFF2-40B4-BE49-F238E27FC236}">
                <a16:creationId xmlns:a16="http://schemas.microsoft.com/office/drawing/2014/main" id="{CD8FF54A-18CE-4A3A-B2EA-52A0A2C3D00E}"/>
              </a:ext>
            </a:extLst>
          </p:cNvPr>
          <p:cNvSpPr>
            <a:spLocks noGrp="1"/>
          </p:cNvSpPr>
          <p:nvPr>
            <p:ph type="sldNum" sz="quarter" idx="12"/>
          </p:nvPr>
        </p:nvSpPr>
        <p:spPr>
          <a:xfrm>
            <a:off x="4724400" y="-1944"/>
            <a:ext cx="2743200" cy="365125"/>
          </a:xfrm>
        </p:spPr>
        <p:txBody>
          <a:bodyPr/>
          <a:lstStyle/>
          <a:p>
            <a:pPr algn="ctr"/>
            <a:fld id="{A5686A01-FA10-4E06-92C7-92734750F4C6}" type="slidenum">
              <a:rPr lang="en-US" smtClean="0"/>
              <a:pPr algn="ctr"/>
              <a:t>4</a:t>
            </a:fld>
            <a:endParaRPr lang="en-US" dirty="0"/>
          </a:p>
        </p:txBody>
      </p:sp>
      <p:sp>
        <p:nvSpPr>
          <p:cNvPr id="25" name="TextBox 24">
            <a:extLst>
              <a:ext uri="{FF2B5EF4-FFF2-40B4-BE49-F238E27FC236}">
                <a16:creationId xmlns:a16="http://schemas.microsoft.com/office/drawing/2014/main" id="{540813F7-6B83-43A9-8C30-0FEBE5BB745A}"/>
              </a:ext>
            </a:extLst>
          </p:cNvPr>
          <p:cNvSpPr txBox="1"/>
          <p:nvPr/>
        </p:nvSpPr>
        <p:spPr>
          <a:xfrm>
            <a:off x="-2" y="6211669"/>
            <a:ext cx="12191998" cy="369332"/>
          </a:xfrm>
          <a:prstGeom prst="rect">
            <a:avLst/>
          </a:prstGeom>
          <a:noFill/>
        </p:spPr>
        <p:txBody>
          <a:bodyPr wrap="square">
            <a:spAutoFit/>
          </a:bodyPr>
          <a:lstStyle/>
          <a:p>
            <a:pPr marL="285750" indent="-285750">
              <a:buFont typeface="Arial" panose="020B0604020202020204" pitchFamily="34" charset="0"/>
              <a:buChar char="•"/>
            </a:pPr>
            <a:r>
              <a:rPr lang="en-US" dirty="0"/>
              <a:t>Book a 1-1 meeting with me to discuss the final projects: </a:t>
            </a:r>
          </a:p>
        </p:txBody>
      </p:sp>
      <p:sp>
        <p:nvSpPr>
          <p:cNvPr id="15" name="Subtitle 2">
            <a:extLst>
              <a:ext uri="{FF2B5EF4-FFF2-40B4-BE49-F238E27FC236}">
                <a16:creationId xmlns:a16="http://schemas.microsoft.com/office/drawing/2014/main" id="{E363A6DE-E4F6-4B46-832F-B81698F9E8A5}"/>
              </a:ext>
            </a:extLst>
          </p:cNvPr>
          <p:cNvSpPr>
            <a:spLocks noGrp="1"/>
          </p:cNvSpPr>
          <p:nvPr>
            <p:ph type="subTitle" idx="1"/>
          </p:nvPr>
        </p:nvSpPr>
        <p:spPr>
          <a:xfrm>
            <a:off x="0" y="2401694"/>
            <a:ext cx="12192000" cy="3255962"/>
          </a:xfrm>
        </p:spPr>
        <p:txBody>
          <a:bodyPr>
            <a:normAutofit/>
          </a:bodyPr>
          <a:lstStyle/>
          <a:p>
            <a:r>
              <a:rPr lang="en-US" u="sng" dirty="0"/>
              <a:t>Learning Objectives</a:t>
            </a:r>
            <a:r>
              <a:rPr lang="en-US" dirty="0"/>
              <a:t>:</a:t>
            </a:r>
          </a:p>
          <a:p>
            <a:pPr marL="457200" indent="-457200">
              <a:buFont typeface="+mj-lt"/>
              <a:buAutoNum type="arabicPeriod"/>
            </a:pPr>
            <a:r>
              <a:rPr lang="en-US" dirty="0"/>
              <a:t>Name Support Vector Machines &amp; understand their applicability</a:t>
            </a:r>
          </a:p>
          <a:p>
            <a:pPr marL="457200" indent="-457200">
              <a:buFont typeface="+mj-lt"/>
              <a:buAutoNum type="arabicPeriod"/>
            </a:pPr>
            <a:r>
              <a:rPr lang="en-US" dirty="0"/>
              <a:t>Know how to train &amp; interpret a decision tree</a:t>
            </a:r>
          </a:p>
          <a:p>
            <a:pPr marL="457200" indent="-457200">
              <a:buFont typeface="+mj-lt"/>
              <a:buAutoNum type="arabicPeriod"/>
            </a:pPr>
            <a:r>
              <a:rPr lang="en-US" dirty="0"/>
              <a:t>Understand how to choose a regularization hyperparameter</a:t>
            </a:r>
          </a:p>
          <a:p>
            <a:pPr marL="457200" indent="-457200">
              <a:buFont typeface="+mj-lt"/>
              <a:buAutoNum type="arabicPeriod"/>
            </a:pPr>
            <a:r>
              <a:rPr lang="en-US" dirty="0"/>
              <a:t>Define a random forest</a:t>
            </a:r>
          </a:p>
          <a:p>
            <a:pPr marL="457200" indent="-457200">
              <a:buFont typeface="+mj-lt"/>
              <a:buAutoNum type="arabicPeriod"/>
            </a:pPr>
            <a:r>
              <a:rPr lang="en-US" dirty="0"/>
              <a:t>Know some advantages/drawbacks of ensemble modeling</a:t>
            </a:r>
          </a:p>
          <a:p>
            <a:pPr marL="457200" indent="-457200">
              <a:buFont typeface="+mj-lt"/>
              <a:buAutoNum type="arabicPeriod"/>
            </a:pPr>
            <a:r>
              <a:rPr lang="en-US" dirty="0"/>
              <a:t>Understand feature importance</a:t>
            </a:r>
          </a:p>
          <a:p>
            <a:pPr marL="457200" indent="-457200">
              <a:buFont typeface="+mj-lt"/>
              <a:buAutoNum type="arabicPeriod"/>
            </a:pPr>
            <a:endParaRPr lang="en-US" dirty="0"/>
          </a:p>
        </p:txBody>
      </p:sp>
      <p:pic>
        <p:nvPicPr>
          <p:cNvPr id="5" name="Picture 4">
            <a:extLst>
              <a:ext uri="{FF2B5EF4-FFF2-40B4-BE49-F238E27FC236}">
                <a16:creationId xmlns:a16="http://schemas.microsoft.com/office/drawing/2014/main" id="{21DF0CCE-BB6B-8254-E26C-256337FFCF7B}"/>
              </a:ext>
            </a:extLst>
          </p:cNvPr>
          <p:cNvPicPr>
            <a:picLocks noChangeAspect="1"/>
          </p:cNvPicPr>
          <p:nvPr/>
        </p:nvPicPr>
        <p:blipFill>
          <a:blip r:embed="rId5"/>
          <a:stretch>
            <a:fillRect/>
          </a:stretch>
        </p:blipFill>
        <p:spPr>
          <a:xfrm>
            <a:off x="6025544" y="6139147"/>
            <a:ext cx="2387723" cy="514376"/>
          </a:xfrm>
          <a:prstGeom prst="rect">
            <a:avLst/>
          </a:prstGeom>
        </p:spPr>
      </p:pic>
    </p:spTree>
    <p:extLst>
      <p:ext uri="{BB962C8B-B14F-4D97-AF65-F5344CB8AC3E}">
        <p14:creationId xmlns:p14="http://schemas.microsoft.com/office/powerpoint/2010/main" val="971605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1E10A-3459-4F37-B2D1-3F864BD5CB33}"/>
              </a:ext>
            </a:extLst>
          </p:cNvPr>
          <p:cNvSpPr>
            <a:spLocks noGrp="1"/>
          </p:cNvSpPr>
          <p:nvPr>
            <p:ph type="ctrTitle"/>
          </p:nvPr>
        </p:nvSpPr>
        <p:spPr>
          <a:xfrm>
            <a:off x="0" y="1031359"/>
            <a:ext cx="12192000" cy="1977656"/>
          </a:xfrm>
        </p:spPr>
        <p:txBody>
          <a:bodyPr>
            <a:normAutofit/>
          </a:bodyPr>
          <a:lstStyle/>
          <a:p>
            <a:r>
              <a:rPr lang="en-US" dirty="0"/>
              <a:t>Min 75-85: Support Vector Machines</a:t>
            </a:r>
            <a:br>
              <a:rPr lang="en-US" dirty="0"/>
            </a:br>
            <a:r>
              <a:rPr lang="en-US" dirty="0"/>
              <a:t>for Classification on Small Datasets</a:t>
            </a:r>
          </a:p>
        </p:txBody>
      </p:sp>
      <p:sp>
        <p:nvSpPr>
          <p:cNvPr id="4" name="Slide Number Placeholder 3">
            <a:extLst>
              <a:ext uri="{FF2B5EF4-FFF2-40B4-BE49-F238E27FC236}">
                <a16:creationId xmlns:a16="http://schemas.microsoft.com/office/drawing/2014/main" id="{65951D8F-8562-4A80-A9B3-5D34DC991367}"/>
              </a:ext>
            </a:extLst>
          </p:cNvPr>
          <p:cNvSpPr>
            <a:spLocks noGrp="1"/>
          </p:cNvSpPr>
          <p:nvPr>
            <p:ph type="sldNum" sz="quarter" idx="12"/>
          </p:nvPr>
        </p:nvSpPr>
        <p:spPr/>
        <p:txBody>
          <a:bodyPr/>
          <a:lstStyle/>
          <a:p>
            <a:fld id="{A5686A01-FA10-4E06-92C7-92734750F4C6}" type="slidenum">
              <a:rPr lang="en-US" smtClean="0"/>
              <a:t>5</a:t>
            </a:fld>
            <a:endParaRPr lang="en-US"/>
          </a:p>
        </p:txBody>
      </p:sp>
      <p:sp>
        <p:nvSpPr>
          <p:cNvPr id="5" name="Subtitle 2">
            <a:extLst>
              <a:ext uri="{FF2B5EF4-FFF2-40B4-BE49-F238E27FC236}">
                <a16:creationId xmlns:a16="http://schemas.microsoft.com/office/drawing/2014/main" id="{F938649D-351C-4F26-B22E-257FBE0817E2}"/>
              </a:ext>
            </a:extLst>
          </p:cNvPr>
          <p:cNvSpPr txBox="1">
            <a:spLocks/>
          </p:cNvSpPr>
          <p:nvPr/>
        </p:nvSpPr>
        <p:spPr>
          <a:xfrm>
            <a:off x="0" y="3675249"/>
            <a:ext cx="12192001" cy="238760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CMU Sans Serif" panose="02000603000000000000" pitchFamily="2" charset="0"/>
                <a:ea typeface="CMU Sans Serif" panose="02000603000000000000" pitchFamily="2" charset="0"/>
                <a:cs typeface="CMU Sans Serif" panose="02000603000000000000" pitchFamily="2"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u="sng" dirty="0"/>
              <a:t>Learning Objectives</a:t>
            </a:r>
            <a:r>
              <a:rPr lang="en-US" dirty="0"/>
              <a:t> (</a:t>
            </a:r>
            <a:r>
              <a:rPr lang="en-US" dirty="0" err="1"/>
              <a:t>Géron</a:t>
            </a:r>
            <a:r>
              <a:rPr lang="en-US" dirty="0"/>
              <a:t> Ch5):</a:t>
            </a:r>
          </a:p>
          <a:p>
            <a:pPr marL="457200" indent="-457200">
              <a:buFont typeface="+mj-lt"/>
              <a:buAutoNum type="arabicPeriod"/>
            </a:pPr>
            <a:r>
              <a:rPr lang="en-US" dirty="0"/>
              <a:t>Name Support Vector Machines &amp; understand their applicability</a:t>
            </a:r>
          </a:p>
          <a:p>
            <a:pPr marL="457200" indent="-457200">
              <a:buFont typeface="+mj-lt"/>
              <a:buAutoNum type="arabicPeriod"/>
            </a:pPr>
            <a:r>
              <a:rPr lang="en-US" dirty="0"/>
              <a:t>Understand how to choose a regularization hyperparameter</a:t>
            </a:r>
          </a:p>
        </p:txBody>
      </p:sp>
    </p:spTree>
    <p:extLst>
      <p:ext uri="{BB962C8B-B14F-4D97-AF65-F5344CB8AC3E}">
        <p14:creationId xmlns:p14="http://schemas.microsoft.com/office/powerpoint/2010/main" val="1571380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FFF47-9A4A-4D50-88C6-4C9A0B4CA51A}"/>
              </a:ext>
            </a:extLst>
          </p:cNvPr>
          <p:cNvSpPr>
            <a:spLocks noGrp="1"/>
          </p:cNvSpPr>
          <p:nvPr>
            <p:ph type="title"/>
          </p:nvPr>
        </p:nvSpPr>
        <p:spPr/>
        <p:txBody>
          <a:bodyPr/>
          <a:lstStyle/>
          <a:p>
            <a:r>
              <a:rPr lang="en-US" dirty="0"/>
              <a:t>What is a Support Vector Machine (SVM)?</a:t>
            </a:r>
          </a:p>
        </p:txBody>
      </p:sp>
      <p:sp>
        <p:nvSpPr>
          <p:cNvPr id="3" name="Slide Number Placeholder 2">
            <a:extLst>
              <a:ext uri="{FF2B5EF4-FFF2-40B4-BE49-F238E27FC236}">
                <a16:creationId xmlns:a16="http://schemas.microsoft.com/office/drawing/2014/main" id="{7784DB8D-9F51-4101-B2E3-E77C6C674E4F}"/>
              </a:ext>
            </a:extLst>
          </p:cNvPr>
          <p:cNvSpPr>
            <a:spLocks noGrp="1"/>
          </p:cNvSpPr>
          <p:nvPr>
            <p:ph type="sldNum" sz="quarter" idx="12"/>
          </p:nvPr>
        </p:nvSpPr>
        <p:spPr/>
        <p:txBody>
          <a:bodyPr/>
          <a:lstStyle/>
          <a:p>
            <a:fld id="{A5686A01-FA10-4E06-92C7-92734750F4C6}" type="slidenum">
              <a:rPr lang="en-US" smtClean="0"/>
              <a:t>6</a:t>
            </a:fld>
            <a:endParaRPr lang="en-US"/>
          </a:p>
        </p:txBody>
      </p:sp>
      <p:pic>
        <p:nvPicPr>
          <p:cNvPr id="5" name="Picture 4">
            <a:extLst>
              <a:ext uri="{FF2B5EF4-FFF2-40B4-BE49-F238E27FC236}">
                <a16:creationId xmlns:a16="http://schemas.microsoft.com/office/drawing/2014/main" id="{AA56E483-725F-4979-8D99-5C0B8E01C440}"/>
              </a:ext>
            </a:extLst>
          </p:cNvPr>
          <p:cNvPicPr>
            <a:picLocks noChangeAspect="1"/>
          </p:cNvPicPr>
          <p:nvPr/>
        </p:nvPicPr>
        <p:blipFill>
          <a:blip r:embed="rId3"/>
          <a:stretch>
            <a:fillRect/>
          </a:stretch>
        </p:blipFill>
        <p:spPr>
          <a:xfrm>
            <a:off x="-2" y="2648498"/>
            <a:ext cx="12192000" cy="3166870"/>
          </a:xfrm>
          <a:prstGeom prst="rect">
            <a:avLst/>
          </a:prstGeom>
        </p:spPr>
      </p:pic>
      <p:sp>
        <p:nvSpPr>
          <p:cNvPr id="6" name="Arrow: Right 5">
            <a:extLst>
              <a:ext uri="{FF2B5EF4-FFF2-40B4-BE49-F238E27FC236}">
                <a16:creationId xmlns:a16="http://schemas.microsoft.com/office/drawing/2014/main" id="{9C60BA97-6D3C-41F5-BD74-8CC8A6BF9DF0}"/>
              </a:ext>
            </a:extLst>
          </p:cNvPr>
          <p:cNvSpPr/>
          <p:nvPr/>
        </p:nvSpPr>
        <p:spPr>
          <a:xfrm rot="-1800000">
            <a:off x="8443260" y="3052168"/>
            <a:ext cx="652548" cy="229037"/>
          </a:xfrm>
          <a:prstGeom prst="rightArrow">
            <a:avLst/>
          </a:prstGeom>
          <a:solidFill>
            <a:srgbClr val="3C9D3C"/>
          </a:solidFill>
          <a:ln>
            <a:solidFill>
              <a:srgbClr val="3C9D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Right 6">
            <a:extLst>
              <a:ext uri="{FF2B5EF4-FFF2-40B4-BE49-F238E27FC236}">
                <a16:creationId xmlns:a16="http://schemas.microsoft.com/office/drawing/2014/main" id="{66FE4D5F-E93A-465F-9AC9-1CCC6238DDE8}"/>
              </a:ext>
            </a:extLst>
          </p:cNvPr>
          <p:cNvSpPr/>
          <p:nvPr/>
        </p:nvSpPr>
        <p:spPr>
          <a:xfrm rot="9000000">
            <a:off x="7848410" y="3389007"/>
            <a:ext cx="652548" cy="229037"/>
          </a:xfrm>
          <a:prstGeom prst="rightArrow">
            <a:avLst/>
          </a:prstGeom>
          <a:solidFill>
            <a:srgbClr val="3C9D3C"/>
          </a:solidFill>
          <a:ln>
            <a:solidFill>
              <a:srgbClr val="3C9D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5071556-958A-4FF5-BC27-1CEF36518522}"/>
              </a:ext>
            </a:extLst>
          </p:cNvPr>
          <p:cNvSpPr txBox="1"/>
          <p:nvPr/>
        </p:nvSpPr>
        <p:spPr>
          <a:xfrm>
            <a:off x="6558116" y="2118845"/>
            <a:ext cx="5407742" cy="553998"/>
          </a:xfrm>
          <a:prstGeom prst="rect">
            <a:avLst/>
          </a:prstGeom>
          <a:noFill/>
        </p:spPr>
        <p:txBody>
          <a:bodyPr wrap="square" rtlCol="0">
            <a:spAutoFit/>
          </a:bodyPr>
          <a:lstStyle/>
          <a:p>
            <a:pPr algn="ctr"/>
            <a:r>
              <a:rPr lang="en-US" sz="3000" dirty="0">
                <a:solidFill>
                  <a:srgbClr val="3C9D3C"/>
                </a:solidFill>
              </a:rPr>
              <a:t>Goal = Widest Possible Street</a:t>
            </a:r>
          </a:p>
        </p:txBody>
      </p:sp>
      <p:cxnSp>
        <p:nvCxnSpPr>
          <p:cNvPr id="10" name="Straight Arrow Connector 9">
            <a:extLst>
              <a:ext uri="{FF2B5EF4-FFF2-40B4-BE49-F238E27FC236}">
                <a16:creationId xmlns:a16="http://schemas.microsoft.com/office/drawing/2014/main" id="{4471DDB1-EC9D-49B3-BF6D-A837C63B5FD0}"/>
              </a:ext>
            </a:extLst>
          </p:cNvPr>
          <p:cNvCxnSpPr>
            <a:cxnSpLocks/>
          </p:cNvCxnSpPr>
          <p:nvPr/>
        </p:nvCxnSpPr>
        <p:spPr>
          <a:xfrm flipV="1">
            <a:off x="8429713" y="4847303"/>
            <a:ext cx="0" cy="1396181"/>
          </a:xfrm>
          <a:prstGeom prst="straightConnector1">
            <a:avLst/>
          </a:prstGeom>
          <a:ln w="38100">
            <a:solidFill>
              <a:srgbClr val="FFAAAA"/>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801714C-31D5-46CE-AF57-6C9F1658E943}"/>
              </a:ext>
            </a:extLst>
          </p:cNvPr>
          <p:cNvCxnSpPr>
            <a:cxnSpLocks/>
          </p:cNvCxnSpPr>
          <p:nvPr/>
        </p:nvCxnSpPr>
        <p:spPr>
          <a:xfrm flipH="1" flipV="1">
            <a:off x="9610804" y="4031226"/>
            <a:ext cx="958873" cy="2359742"/>
          </a:xfrm>
          <a:prstGeom prst="straightConnector1">
            <a:avLst/>
          </a:prstGeom>
          <a:ln w="38100">
            <a:solidFill>
              <a:srgbClr val="FFAAAA"/>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C16804C-0C6F-4F61-8632-A56524D4D5DD}"/>
              </a:ext>
            </a:extLst>
          </p:cNvPr>
          <p:cNvSpPr txBox="1"/>
          <p:nvPr/>
        </p:nvSpPr>
        <p:spPr>
          <a:xfrm>
            <a:off x="7964128" y="6322142"/>
            <a:ext cx="3008671" cy="553998"/>
          </a:xfrm>
          <a:prstGeom prst="rect">
            <a:avLst/>
          </a:prstGeom>
          <a:noFill/>
        </p:spPr>
        <p:txBody>
          <a:bodyPr wrap="square" rtlCol="0">
            <a:spAutoFit/>
          </a:bodyPr>
          <a:lstStyle/>
          <a:p>
            <a:pPr algn="ctr"/>
            <a:r>
              <a:rPr lang="en-US" sz="3000" dirty="0">
                <a:solidFill>
                  <a:srgbClr val="FFAAAA"/>
                </a:solidFill>
              </a:rPr>
              <a:t>“Support Vectors”</a:t>
            </a:r>
          </a:p>
        </p:txBody>
      </p:sp>
      <p:sp>
        <p:nvSpPr>
          <p:cNvPr id="18" name="Rectangle 17">
            <a:extLst>
              <a:ext uri="{FF2B5EF4-FFF2-40B4-BE49-F238E27FC236}">
                <a16:creationId xmlns:a16="http://schemas.microsoft.com/office/drawing/2014/main" id="{99121C80-B4A7-4536-95D2-8F90EB921A63}"/>
              </a:ext>
            </a:extLst>
          </p:cNvPr>
          <p:cNvSpPr/>
          <p:nvPr/>
        </p:nvSpPr>
        <p:spPr>
          <a:xfrm>
            <a:off x="6448097" y="2057400"/>
            <a:ext cx="5743901" cy="4800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AE831F8D-565C-4636-8B00-B4C9F46E1BC2}"/>
              </a:ext>
            </a:extLst>
          </p:cNvPr>
          <p:cNvCxnSpPr>
            <a:cxnSpLocks/>
          </p:cNvCxnSpPr>
          <p:nvPr/>
        </p:nvCxnSpPr>
        <p:spPr>
          <a:xfrm flipV="1">
            <a:off x="1950098" y="5159830"/>
            <a:ext cx="727788" cy="1231138"/>
          </a:xfrm>
          <a:prstGeom prst="straightConnector1">
            <a:avLst/>
          </a:prstGeom>
          <a:ln w="57150">
            <a:solidFill>
              <a:srgbClr val="C218C2"/>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C06A73C4-62E4-41B1-8510-4A43D5C34768}"/>
              </a:ext>
            </a:extLst>
          </p:cNvPr>
          <p:cNvSpPr txBox="1"/>
          <p:nvPr/>
        </p:nvSpPr>
        <p:spPr>
          <a:xfrm>
            <a:off x="0" y="6322142"/>
            <a:ext cx="7044612" cy="553998"/>
          </a:xfrm>
          <a:prstGeom prst="rect">
            <a:avLst/>
          </a:prstGeom>
          <a:noFill/>
        </p:spPr>
        <p:txBody>
          <a:bodyPr wrap="square" rtlCol="0">
            <a:spAutoFit/>
          </a:bodyPr>
          <a:lstStyle/>
          <a:p>
            <a:pPr algn="l"/>
            <a:r>
              <a:rPr lang="en-US" sz="3000" dirty="0">
                <a:solidFill>
                  <a:srgbClr val="C218C2"/>
                </a:solidFill>
              </a:rPr>
              <a:t>How to choose the best decision boundary?</a:t>
            </a:r>
          </a:p>
        </p:txBody>
      </p:sp>
    </p:spTree>
    <p:extLst>
      <p:ext uri="{BB962C8B-B14F-4D97-AF65-F5344CB8AC3E}">
        <p14:creationId xmlns:p14="http://schemas.microsoft.com/office/powerpoint/2010/main" val="1466175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0" nodeType="clickEffect">
                                  <p:stCondLst>
                                    <p:cond delay="0"/>
                                  </p:stCondLst>
                                  <p:childTnLst>
                                    <p:animEffect transition="out" filter="fade">
                                      <p:cBhvr>
                                        <p:cTn id="14" dur="500"/>
                                        <p:tgtEl>
                                          <p:spTgt spid="18"/>
                                        </p:tgtEl>
                                      </p:cBhvr>
                                    </p:animEffect>
                                    <p:set>
                                      <p:cBhvr>
                                        <p:cTn id="15" dur="1" fill="hold">
                                          <p:stCondLst>
                                            <p:cond delay="499"/>
                                          </p:stCondLst>
                                        </p:cTn>
                                        <p:tgtEl>
                                          <p:spTgt spid="18"/>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16" grpId="0"/>
      <p:bldP spid="18" grpId="0" animBg="1"/>
      <p:bldP spid="2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ADDE0-E71C-496F-A0A5-A95B6AFBCAFE}"/>
              </a:ext>
            </a:extLst>
          </p:cNvPr>
          <p:cNvSpPr>
            <a:spLocks noGrp="1"/>
          </p:cNvSpPr>
          <p:nvPr>
            <p:ph type="title"/>
          </p:nvPr>
        </p:nvSpPr>
        <p:spPr>
          <a:xfrm>
            <a:off x="-2" y="1042633"/>
            <a:ext cx="12192000" cy="963449"/>
          </a:xfrm>
        </p:spPr>
        <p:txBody>
          <a:bodyPr/>
          <a:lstStyle/>
          <a:p>
            <a:r>
              <a:rPr lang="en-US" dirty="0"/>
              <a:t>Can you elaborate on kernels?</a:t>
            </a:r>
          </a:p>
        </p:txBody>
      </p:sp>
      <p:sp>
        <p:nvSpPr>
          <p:cNvPr id="3" name="Slide Number Placeholder 2">
            <a:extLst>
              <a:ext uri="{FF2B5EF4-FFF2-40B4-BE49-F238E27FC236}">
                <a16:creationId xmlns:a16="http://schemas.microsoft.com/office/drawing/2014/main" id="{19BB10DD-FB40-4224-9788-016FE8FB2E1F}"/>
              </a:ext>
            </a:extLst>
          </p:cNvPr>
          <p:cNvSpPr>
            <a:spLocks noGrp="1"/>
          </p:cNvSpPr>
          <p:nvPr>
            <p:ph type="sldNum" sz="quarter" idx="12"/>
          </p:nvPr>
        </p:nvSpPr>
        <p:spPr/>
        <p:txBody>
          <a:bodyPr/>
          <a:lstStyle/>
          <a:p>
            <a:fld id="{A5686A01-FA10-4E06-92C7-92734750F4C6}" type="slidenum">
              <a:rPr lang="en-US" smtClean="0"/>
              <a:t>7</a:t>
            </a:fld>
            <a:endParaRPr lang="en-US"/>
          </a:p>
        </p:txBody>
      </p:sp>
      <p:pic>
        <p:nvPicPr>
          <p:cNvPr id="4" name="SVM_Polynomial_Kernels">
            <a:hlinkClick r:id="" action="ppaction://media"/>
            <a:extLst>
              <a:ext uri="{FF2B5EF4-FFF2-40B4-BE49-F238E27FC236}">
                <a16:creationId xmlns:a16="http://schemas.microsoft.com/office/drawing/2014/main" id="{5DDA65ED-D553-43A8-902D-2E0878331E9C}"/>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 y="1910953"/>
            <a:ext cx="6596062" cy="4947047"/>
          </a:xfrm>
          <a:prstGeom prst="rect">
            <a:avLst/>
          </a:prstGeom>
        </p:spPr>
      </p:pic>
      <p:pic>
        <p:nvPicPr>
          <p:cNvPr id="6" name="Picture 5">
            <a:extLst>
              <a:ext uri="{FF2B5EF4-FFF2-40B4-BE49-F238E27FC236}">
                <a16:creationId xmlns:a16="http://schemas.microsoft.com/office/drawing/2014/main" id="{0E732F42-61F7-49CF-B9B9-810DC310F1F1}"/>
              </a:ext>
            </a:extLst>
          </p:cNvPr>
          <p:cNvPicPr>
            <a:picLocks noChangeAspect="1"/>
          </p:cNvPicPr>
          <p:nvPr/>
        </p:nvPicPr>
        <p:blipFill>
          <a:blip r:embed="rId7"/>
          <a:stretch>
            <a:fillRect/>
          </a:stretch>
        </p:blipFill>
        <p:spPr>
          <a:xfrm>
            <a:off x="6610418" y="2483694"/>
            <a:ext cx="5581582" cy="2368225"/>
          </a:xfrm>
          <a:prstGeom prst="rect">
            <a:avLst/>
          </a:prstGeom>
        </p:spPr>
      </p:pic>
      <p:pic>
        <p:nvPicPr>
          <p:cNvPr id="8" name="Picture 7" descr="\documentclass{article}&#10;\usepackage{amsmath}&#10;\usepackage{amsbsy}&#10;\usepackage{babel}&#10;\usepackage{xcolor}&#10;\pagestyle{empty}&#10;\begin{document}&#10;&#10;$&#10;\textcolor{white}{&#10;\exists\varphi:\ \underbrace{K\left(\boldsymbol{a},\boldsymbol{b}\right)}_{\mathrm{Kernel}}=\underbrace{\left\langle \varphi\left(\boldsymbol{a}\right)\cdot\varphi\left(\boldsymbol{b}\right)\right\rangle }_{\mathrm{Scalar\ product\ feature\ map}}&#10;}&#10;$&#10;&#10;\end{document}" title="IguanaTex Bitmap Display">
            <a:extLst>
              <a:ext uri="{FF2B5EF4-FFF2-40B4-BE49-F238E27FC236}">
                <a16:creationId xmlns:a16="http://schemas.microsoft.com/office/drawing/2014/main" id="{7CC402C0-4E5C-43B2-B14C-18370A39B33C}"/>
              </a:ext>
            </a:extLst>
          </p:cNvPr>
          <p:cNvPicPr>
            <a:picLocks noChangeAspect="1"/>
          </p:cNvPicPr>
          <p:nvPr>
            <p:custDataLst>
              <p:tags r:id="rId3"/>
            </p:custDataLst>
          </p:nvPr>
        </p:nvPicPr>
        <p:blipFill>
          <a:blip r:embed="rId8">
            <a:extLst>
              <a:ext uri="{28A0092B-C50C-407E-A947-70E740481C1C}">
                <a14:useLocalDpi xmlns:a14="http://schemas.microsoft.com/office/drawing/2010/main" val="0"/>
              </a:ext>
            </a:extLst>
          </a:blip>
          <a:stretch>
            <a:fillRect/>
          </a:stretch>
        </p:blipFill>
        <p:spPr>
          <a:xfrm>
            <a:off x="6610417" y="5023713"/>
            <a:ext cx="5581581" cy="831258"/>
          </a:xfrm>
          <a:prstGeom prst="rect">
            <a:avLst/>
          </a:prstGeom>
        </p:spPr>
      </p:pic>
      <p:sp>
        <p:nvSpPr>
          <p:cNvPr id="9" name="Rectangle 8">
            <a:extLst>
              <a:ext uri="{FF2B5EF4-FFF2-40B4-BE49-F238E27FC236}">
                <a16:creationId xmlns:a16="http://schemas.microsoft.com/office/drawing/2014/main" id="{8FA94C53-8A7B-431E-8BD6-DCC46E40058D}"/>
              </a:ext>
            </a:extLst>
          </p:cNvPr>
          <p:cNvSpPr/>
          <p:nvPr/>
        </p:nvSpPr>
        <p:spPr>
          <a:xfrm>
            <a:off x="6596060" y="6199422"/>
            <a:ext cx="5595941" cy="646331"/>
          </a:xfrm>
          <a:prstGeom prst="rect">
            <a:avLst/>
          </a:prstGeom>
        </p:spPr>
        <p:txBody>
          <a:bodyPr wrap="squar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de-DE" sz="1800" b="0" i="1" u="sng" strike="noStrike" kern="0" cap="none" spc="0" normalizeH="0" baseline="0" noProof="0" dirty="0">
                <a:ln>
                  <a:noFill/>
                </a:ln>
                <a:effectLst/>
                <a:uLnTx/>
                <a:uFillTx/>
              </a:rPr>
              <a:t>Source</a:t>
            </a:r>
            <a:r>
              <a:rPr kumimoji="0" lang="de-DE" sz="1800" b="0" i="1" u="none" strike="noStrike" kern="0" cap="none" spc="0" normalizeH="0" baseline="0" noProof="0" dirty="0">
                <a:ln>
                  <a:noFill/>
                </a:ln>
                <a:effectLst/>
                <a:uLnTx/>
                <a:uFillTx/>
              </a:rPr>
              <a:t>: </a:t>
            </a:r>
            <a:r>
              <a:rPr kumimoji="0" lang="en-US" sz="1800" b="0" i="1" u="none" strike="noStrike" kern="0" cap="none" spc="0" normalizeH="0" baseline="0" noProof="0" dirty="0">
                <a:ln>
                  <a:noFill/>
                </a:ln>
                <a:effectLst/>
                <a:uLnTx/>
                <a:uFillTx/>
              </a:rPr>
              <a:t>SVM with polynomial kernel visualization (</a:t>
            </a:r>
            <a:r>
              <a:rPr kumimoji="0" lang="en-US" sz="1800" b="0" i="1" u="none" strike="noStrike" kern="0" cap="none" spc="0" normalizeH="0" baseline="0" noProof="0" dirty="0" err="1">
                <a:ln>
                  <a:noFill/>
                </a:ln>
                <a:effectLst/>
                <a:uLnTx/>
                <a:uFillTx/>
              </a:rPr>
              <a:t>Udiprod</a:t>
            </a:r>
            <a:r>
              <a:rPr kumimoji="0" lang="en-US" sz="1800" b="0" i="1" u="none" strike="noStrike" kern="0" cap="none" spc="0" normalizeH="0" baseline="0" noProof="0" dirty="0">
                <a:ln>
                  <a:noFill/>
                </a:ln>
                <a:effectLst/>
                <a:uLnTx/>
                <a:uFillTx/>
              </a:rPr>
              <a:t>, </a:t>
            </a:r>
            <a:r>
              <a:rPr kumimoji="0" lang="en-US" sz="1800" b="0" i="1" u="none" strike="noStrike" kern="0" cap="none" spc="0" normalizeH="0" baseline="0" noProof="0" dirty="0" err="1">
                <a:ln>
                  <a:noFill/>
                </a:ln>
                <a:effectLst/>
                <a:uLnTx/>
                <a:uFillTx/>
              </a:rPr>
              <a:t>Youtube</a:t>
            </a:r>
            <a:r>
              <a:rPr kumimoji="0" lang="en-US" sz="1800" b="0" i="1" u="none" strike="noStrike" kern="0" cap="none" spc="0" normalizeH="0" baseline="0" noProof="0" dirty="0">
                <a:ln>
                  <a:noFill/>
                </a:ln>
                <a:effectLst/>
                <a:uLnTx/>
                <a:uFillTx/>
              </a:rPr>
              <a:t>)</a:t>
            </a:r>
          </a:p>
        </p:txBody>
      </p:sp>
      <p:pic>
        <p:nvPicPr>
          <p:cNvPr id="10" name="Picture 9" descr="Icon&#10;&#10;Description automatically generated">
            <a:extLst>
              <a:ext uri="{FF2B5EF4-FFF2-40B4-BE49-F238E27FC236}">
                <a16:creationId xmlns:a16="http://schemas.microsoft.com/office/drawing/2014/main" id="{8DFEDC8D-B01F-44B5-BE73-6DFC0AD1824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868699" y="1090124"/>
            <a:ext cx="915958" cy="915958"/>
          </a:xfrm>
          <a:prstGeom prst="rect">
            <a:avLst/>
          </a:prstGeom>
        </p:spPr>
      </p:pic>
    </p:spTree>
    <p:extLst>
      <p:ext uri="{BB962C8B-B14F-4D97-AF65-F5344CB8AC3E}">
        <p14:creationId xmlns:p14="http://schemas.microsoft.com/office/powerpoint/2010/main" val="83911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2886"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48958-9633-400C-9E88-B29715A5E44B}"/>
              </a:ext>
            </a:extLst>
          </p:cNvPr>
          <p:cNvSpPr>
            <a:spLocks noGrp="1"/>
          </p:cNvSpPr>
          <p:nvPr>
            <p:ph type="title"/>
          </p:nvPr>
        </p:nvSpPr>
        <p:spPr>
          <a:xfrm>
            <a:off x="-2" y="1042633"/>
            <a:ext cx="12192000" cy="842152"/>
          </a:xfrm>
        </p:spPr>
        <p:txBody>
          <a:bodyPr/>
          <a:lstStyle/>
          <a:p>
            <a:r>
              <a:rPr lang="en-US" dirty="0"/>
              <a:t>SVMs sorted by complexity/representation power</a:t>
            </a:r>
          </a:p>
        </p:txBody>
      </p:sp>
      <p:sp>
        <p:nvSpPr>
          <p:cNvPr id="3" name="Slide Number Placeholder 2">
            <a:extLst>
              <a:ext uri="{FF2B5EF4-FFF2-40B4-BE49-F238E27FC236}">
                <a16:creationId xmlns:a16="http://schemas.microsoft.com/office/drawing/2014/main" id="{C142815E-590A-4AF2-BFC1-6AE7B3077B5E}"/>
              </a:ext>
            </a:extLst>
          </p:cNvPr>
          <p:cNvSpPr>
            <a:spLocks noGrp="1"/>
          </p:cNvSpPr>
          <p:nvPr>
            <p:ph type="sldNum" sz="quarter" idx="12"/>
          </p:nvPr>
        </p:nvSpPr>
        <p:spPr/>
        <p:txBody>
          <a:bodyPr/>
          <a:lstStyle/>
          <a:p>
            <a:fld id="{A5686A01-FA10-4E06-92C7-92734750F4C6}" type="slidenum">
              <a:rPr lang="en-US" smtClean="0"/>
              <a:t>8</a:t>
            </a:fld>
            <a:endParaRPr lang="en-US"/>
          </a:p>
        </p:txBody>
      </p:sp>
      <p:cxnSp>
        <p:nvCxnSpPr>
          <p:cNvPr id="5" name="Straight Arrow Connector 4">
            <a:extLst>
              <a:ext uri="{FF2B5EF4-FFF2-40B4-BE49-F238E27FC236}">
                <a16:creationId xmlns:a16="http://schemas.microsoft.com/office/drawing/2014/main" id="{811D3196-1727-4AD7-8FC9-F351465346FC}"/>
              </a:ext>
            </a:extLst>
          </p:cNvPr>
          <p:cNvCxnSpPr>
            <a:cxnSpLocks/>
          </p:cNvCxnSpPr>
          <p:nvPr/>
        </p:nvCxnSpPr>
        <p:spPr>
          <a:xfrm>
            <a:off x="455645" y="6727378"/>
            <a:ext cx="11280710"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3730DB2-BB06-48D1-843E-FD149146214A}"/>
              </a:ext>
            </a:extLst>
          </p:cNvPr>
          <p:cNvSpPr txBox="1"/>
          <p:nvPr/>
        </p:nvSpPr>
        <p:spPr>
          <a:xfrm>
            <a:off x="6096000" y="6173380"/>
            <a:ext cx="5640355" cy="553998"/>
          </a:xfrm>
          <a:prstGeom prst="rect">
            <a:avLst/>
          </a:prstGeom>
          <a:noFill/>
        </p:spPr>
        <p:txBody>
          <a:bodyPr wrap="square" rtlCol="0">
            <a:spAutoFit/>
          </a:bodyPr>
          <a:lstStyle/>
          <a:p>
            <a:pPr algn="l"/>
            <a:r>
              <a:rPr lang="en-US" sz="3000" dirty="0"/>
              <a:t>Representation power/Complexity</a:t>
            </a:r>
          </a:p>
        </p:txBody>
      </p:sp>
      <p:pic>
        <p:nvPicPr>
          <p:cNvPr id="10" name="Picture 9">
            <a:extLst>
              <a:ext uri="{FF2B5EF4-FFF2-40B4-BE49-F238E27FC236}">
                <a16:creationId xmlns:a16="http://schemas.microsoft.com/office/drawing/2014/main" id="{8670D54E-D447-41F3-90F7-151F7275B805}"/>
              </a:ext>
            </a:extLst>
          </p:cNvPr>
          <p:cNvPicPr>
            <a:picLocks noChangeAspect="1"/>
          </p:cNvPicPr>
          <p:nvPr/>
        </p:nvPicPr>
        <p:blipFill>
          <a:blip r:embed="rId3"/>
          <a:stretch>
            <a:fillRect/>
          </a:stretch>
        </p:blipFill>
        <p:spPr>
          <a:xfrm>
            <a:off x="455645" y="1789962"/>
            <a:ext cx="3600000" cy="1737413"/>
          </a:xfrm>
          <a:prstGeom prst="rect">
            <a:avLst/>
          </a:prstGeom>
        </p:spPr>
      </p:pic>
      <p:pic>
        <p:nvPicPr>
          <p:cNvPr id="12" name="Picture 11">
            <a:extLst>
              <a:ext uri="{FF2B5EF4-FFF2-40B4-BE49-F238E27FC236}">
                <a16:creationId xmlns:a16="http://schemas.microsoft.com/office/drawing/2014/main" id="{6674FAC5-1EB4-42C2-A22A-09F890033736}"/>
              </a:ext>
            </a:extLst>
          </p:cNvPr>
          <p:cNvPicPr>
            <a:picLocks noChangeAspect="1"/>
          </p:cNvPicPr>
          <p:nvPr/>
        </p:nvPicPr>
        <p:blipFill>
          <a:blip r:embed="rId4"/>
          <a:stretch>
            <a:fillRect/>
          </a:stretch>
        </p:blipFill>
        <p:spPr>
          <a:xfrm>
            <a:off x="455645" y="3666505"/>
            <a:ext cx="3600000" cy="1923364"/>
          </a:xfrm>
          <a:prstGeom prst="rect">
            <a:avLst/>
          </a:prstGeom>
        </p:spPr>
      </p:pic>
      <p:sp>
        <p:nvSpPr>
          <p:cNvPr id="13" name="TextBox 12">
            <a:extLst>
              <a:ext uri="{FF2B5EF4-FFF2-40B4-BE49-F238E27FC236}">
                <a16:creationId xmlns:a16="http://schemas.microsoft.com/office/drawing/2014/main" id="{F7250E9A-E2F6-47CA-BA22-6F55ADC9F8F8}"/>
              </a:ext>
            </a:extLst>
          </p:cNvPr>
          <p:cNvSpPr txBox="1"/>
          <p:nvPr/>
        </p:nvSpPr>
        <p:spPr>
          <a:xfrm>
            <a:off x="455645" y="5604625"/>
            <a:ext cx="3600000" cy="1015663"/>
          </a:xfrm>
          <a:prstGeom prst="rect">
            <a:avLst/>
          </a:prstGeom>
          <a:noFill/>
        </p:spPr>
        <p:txBody>
          <a:bodyPr wrap="square" rtlCol="0">
            <a:spAutoFit/>
          </a:bodyPr>
          <a:lstStyle/>
          <a:p>
            <a:pPr algn="ctr"/>
            <a:r>
              <a:rPr lang="en-US" sz="3000" dirty="0"/>
              <a:t>Linear SVM</a:t>
            </a:r>
          </a:p>
          <a:p>
            <a:pPr algn="ctr"/>
            <a:r>
              <a:rPr lang="en-US" sz="3000" dirty="0"/>
              <a:t>(with soft margin)</a:t>
            </a:r>
          </a:p>
        </p:txBody>
      </p:sp>
      <p:pic>
        <p:nvPicPr>
          <p:cNvPr id="6" name="Picture 5">
            <a:extLst>
              <a:ext uri="{FF2B5EF4-FFF2-40B4-BE49-F238E27FC236}">
                <a16:creationId xmlns:a16="http://schemas.microsoft.com/office/drawing/2014/main" id="{0E6304F5-64B8-4A17-8BEB-FC98C0E278BC}"/>
              </a:ext>
            </a:extLst>
          </p:cNvPr>
          <p:cNvPicPr>
            <a:picLocks noChangeAspect="1"/>
          </p:cNvPicPr>
          <p:nvPr/>
        </p:nvPicPr>
        <p:blipFill>
          <a:blip r:embed="rId5"/>
          <a:stretch>
            <a:fillRect/>
          </a:stretch>
        </p:blipFill>
        <p:spPr>
          <a:xfrm>
            <a:off x="4724400" y="1789962"/>
            <a:ext cx="2612903" cy="1800000"/>
          </a:xfrm>
          <a:prstGeom prst="rect">
            <a:avLst/>
          </a:prstGeom>
        </p:spPr>
      </p:pic>
      <p:pic>
        <p:nvPicPr>
          <p:cNvPr id="9" name="Picture 8">
            <a:extLst>
              <a:ext uri="{FF2B5EF4-FFF2-40B4-BE49-F238E27FC236}">
                <a16:creationId xmlns:a16="http://schemas.microsoft.com/office/drawing/2014/main" id="{95A6432E-1193-4FEA-8E7D-E1E3782780B3}"/>
              </a:ext>
            </a:extLst>
          </p:cNvPr>
          <p:cNvPicPr>
            <a:picLocks noChangeAspect="1"/>
          </p:cNvPicPr>
          <p:nvPr/>
        </p:nvPicPr>
        <p:blipFill>
          <a:blip r:embed="rId6"/>
          <a:stretch>
            <a:fillRect/>
          </a:stretch>
        </p:blipFill>
        <p:spPr>
          <a:xfrm>
            <a:off x="4884962" y="3827471"/>
            <a:ext cx="2291777" cy="1800000"/>
          </a:xfrm>
          <a:prstGeom prst="rect">
            <a:avLst/>
          </a:prstGeom>
        </p:spPr>
      </p:pic>
      <p:sp>
        <p:nvSpPr>
          <p:cNvPr id="22" name="TextBox 21">
            <a:extLst>
              <a:ext uri="{FF2B5EF4-FFF2-40B4-BE49-F238E27FC236}">
                <a16:creationId xmlns:a16="http://schemas.microsoft.com/office/drawing/2014/main" id="{9278E74E-7F71-4C70-B5E6-33EED172F3F7}"/>
              </a:ext>
            </a:extLst>
          </p:cNvPr>
          <p:cNvSpPr txBox="1"/>
          <p:nvPr/>
        </p:nvSpPr>
        <p:spPr>
          <a:xfrm>
            <a:off x="3859701" y="5550301"/>
            <a:ext cx="4724461" cy="553998"/>
          </a:xfrm>
          <a:prstGeom prst="rect">
            <a:avLst/>
          </a:prstGeom>
          <a:noFill/>
        </p:spPr>
        <p:txBody>
          <a:bodyPr wrap="square" rtlCol="0">
            <a:spAutoFit/>
          </a:bodyPr>
          <a:lstStyle/>
          <a:p>
            <a:pPr algn="ctr"/>
            <a:r>
              <a:rPr lang="en-US" sz="3000" dirty="0"/>
              <a:t>SVM with polynomial kernel</a:t>
            </a:r>
          </a:p>
        </p:txBody>
      </p:sp>
      <p:pic>
        <p:nvPicPr>
          <p:cNvPr id="14" name="Picture 13">
            <a:extLst>
              <a:ext uri="{FF2B5EF4-FFF2-40B4-BE49-F238E27FC236}">
                <a16:creationId xmlns:a16="http://schemas.microsoft.com/office/drawing/2014/main" id="{20190847-06AD-406D-A1E9-D8E62F6F6010}"/>
              </a:ext>
            </a:extLst>
          </p:cNvPr>
          <p:cNvPicPr>
            <a:picLocks noChangeAspect="1"/>
          </p:cNvPicPr>
          <p:nvPr/>
        </p:nvPicPr>
        <p:blipFill>
          <a:blip r:embed="rId7"/>
          <a:stretch>
            <a:fillRect/>
          </a:stretch>
        </p:blipFill>
        <p:spPr>
          <a:xfrm>
            <a:off x="7595119" y="1834149"/>
            <a:ext cx="4290024" cy="2789780"/>
          </a:xfrm>
          <a:prstGeom prst="rect">
            <a:avLst/>
          </a:prstGeom>
        </p:spPr>
      </p:pic>
      <p:sp>
        <p:nvSpPr>
          <p:cNvPr id="26" name="TextBox 25">
            <a:extLst>
              <a:ext uri="{FF2B5EF4-FFF2-40B4-BE49-F238E27FC236}">
                <a16:creationId xmlns:a16="http://schemas.microsoft.com/office/drawing/2014/main" id="{42229D68-0BC6-44F4-89C4-DA6414D0AC15}"/>
              </a:ext>
            </a:extLst>
          </p:cNvPr>
          <p:cNvSpPr txBox="1"/>
          <p:nvPr/>
        </p:nvSpPr>
        <p:spPr>
          <a:xfrm>
            <a:off x="7595119" y="4648257"/>
            <a:ext cx="4290024" cy="553998"/>
          </a:xfrm>
          <a:prstGeom prst="rect">
            <a:avLst/>
          </a:prstGeom>
          <a:noFill/>
        </p:spPr>
        <p:txBody>
          <a:bodyPr wrap="square" rtlCol="0">
            <a:spAutoFit/>
          </a:bodyPr>
          <a:lstStyle/>
          <a:p>
            <a:pPr algn="ctr"/>
            <a:r>
              <a:rPr lang="en-US" sz="3000" dirty="0"/>
              <a:t>SVM with RBF kernel</a:t>
            </a:r>
          </a:p>
        </p:txBody>
      </p:sp>
      <p:pic>
        <p:nvPicPr>
          <p:cNvPr id="15" name="Picture 14" descr="Icon&#10;&#10;Description automatically generated">
            <a:extLst>
              <a:ext uri="{FF2B5EF4-FFF2-40B4-BE49-F238E27FC236}">
                <a16:creationId xmlns:a16="http://schemas.microsoft.com/office/drawing/2014/main" id="{224C8600-855C-4761-89F4-23A1C223147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276040" y="4673911"/>
            <a:ext cx="915958" cy="915958"/>
          </a:xfrm>
          <a:prstGeom prst="rect">
            <a:avLst/>
          </a:prstGeom>
        </p:spPr>
      </p:pic>
    </p:spTree>
    <p:extLst>
      <p:ext uri="{BB962C8B-B14F-4D97-AF65-F5344CB8AC3E}">
        <p14:creationId xmlns:p14="http://schemas.microsoft.com/office/powerpoint/2010/main" val="2475895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48958-9633-400C-9E88-B29715A5E44B}"/>
              </a:ext>
            </a:extLst>
          </p:cNvPr>
          <p:cNvSpPr>
            <a:spLocks noGrp="1"/>
          </p:cNvSpPr>
          <p:nvPr>
            <p:ph type="title"/>
          </p:nvPr>
        </p:nvSpPr>
        <p:spPr>
          <a:xfrm>
            <a:off x="-2" y="939992"/>
            <a:ext cx="12192000" cy="842152"/>
          </a:xfrm>
        </p:spPr>
        <p:txBody>
          <a:bodyPr>
            <a:normAutofit/>
          </a:bodyPr>
          <a:lstStyle/>
          <a:p>
            <a:r>
              <a:rPr lang="en-US" dirty="0"/>
              <a:t>Which complexity to choose for env. applications?</a:t>
            </a:r>
          </a:p>
        </p:txBody>
      </p:sp>
      <p:sp>
        <p:nvSpPr>
          <p:cNvPr id="3" name="Slide Number Placeholder 2">
            <a:extLst>
              <a:ext uri="{FF2B5EF4-FFF2-40B4-BE49-F238E27FC236}">
                <a16:creationId xmlns:a16="http://schemas.microsoft.com/office/drawing/2014/main" id="{C142815E-590A-4AF2-BFC1-6AE7B3077B5E}"/>
              </a:ext>
            </a:extLst>
          </p:cNvPr>
          <p:cNvSpPr>
            <a:spLocks noGrp="1"/>
          </p:cNvSpPr>
          <p:nvPr>
            <p:ph type="sldNum" sz="quarter" idx="12"/>
          </p:nvPr>
        </p:nvSpPr>
        <p:spPr/>
        <p:txBody>
          <a:bodyPr/>
          <a:lstStyle/>
          <a:p>
            <a:fld id="{A5686A01-FA10-4E06-92C7-92734750F4C6}" type="slidenum">
              <a:rPr lang="en-US" smtClean="0"/>
              <a:t>9</a:t>
            </a:fld>
            <a:endParaRPr lang="en-US"/>
          </a:p>
        </p:txBody>
      </p:sp>
      <p:cxnSp>
        <p:nvCxnSpPr>
          <p:cNvPr id="5" name="Straight Arrow Connector 4">
            <a:extLst>
              <a:ext uri="{FF2B5EF4-FFF2-40B4-BE49-F238E27FC236}">
                <a16:creationId xmlns:a16="http://schemas.microsoft.com/office/drawing/2014/main" id="{811D3196-1727-4AD7-8FC9-F351465346FC}"/>
              </a:ext>
            </a:extLst>
          </p:cNvPr>
          <p:cNvCxnSpPr>
            <a:cxnSpLocks/>
          </p:cNvCxnSpPr>
          <p:nvPr/>
        </p:nvCxnSpPr>
        <p:spPr>
          <a:xfrm>
            <a:off x="455645" y="6727378"/>
            <a:ext cx="11280710"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3730DB2-BB06-48D1-843E-FD149146214A}"/>
              </a:ext>
            </a:extLst>
          </p:cNvPr>
          <p:cNvSpPr txBox="1"/>
          <p:nvPr/>
        </p:nvSpPr>
        <p:spPr>
          <a:xfrm>
            <a:off x="6096000" y="6173380"/>
            <a:ext cx="5640355" cy="553998"/>
          </a:xfrm>
          <a:prstGeom prst="rect">
            <a:avLst/>
          </a:prstGeom>
          <a:noFill/>
        </p:spPr>
        <p:txBody>
          <a:bodyPr wrap="square" rtlCol="0">
            <a:spAutoFit/>
          </a:bodyPr>
          <a:lstStyle/>
          <a:p>
            <a:pPr algn="l"/>
            <a:r>
              <a:rPr lang="en-US" sz="3000" dirty="0"/>
              <a:t>Representation power/Complexity</a:t>
            </a:r>
          </a:p>
        </p:txBody>
      </p:sp>
      <p:sp>
        <p:nvSpPr>
          <p:cNvPr id="13" name="TextBox 12">
            <a:extLst>
              <a:ext uri="{FF2B5EF4-FFF2-40B4-BE49-F238E27FC236}">
                <a16:creationId xmlns:a16="http://schemas.microsoft.com/office/drawing/2014/main" id="{F7250E9A-E2F6-47CA-BA22-6F55ADC9F8F8}"/>
              </a:ext>
            </a:extLst>
          </p:cNvPr>
          <p:cNvSpPr txBox="1"/>
          <p:nvPr/>
        </p:nvSpPr>
        <p:spPr>
          <a:xfrm>
            <a:off x="455645" y="5604625"/>
            <a:ext cx="3600000" cy="1015663"/>
          </a:xfrm>
          <a:prstGeom prst="rect">
            <a:avLst/>
          </a:prstGeom>
          <a:noFill/>
        </p:spPr>
        <p:txBody>
          <a:bodyPr wrap="square" rtlCol="0">
            <a:spAutoFit/>
          </a:bodyPr>
          <a:lstStyle/>
          <a:p>
            <a:pPr algn="ctr"/>
            <a:r>
              <a:rPr lang="en-US" sz="3000" dirty="0"/>
              <a:t>Linear SVM</a:t>
            </a:r>
          </a:p>
          <a:p>
            <a:pPr algn="ctr"/>
            <a:r>
              <a:rPr lang="en-US" sz="3000" dirty="0"/>
              <a:t>(with soft margin)</a:t>
            </a:r>
          </a:p>
        </p:txBody>
      </p:sp>
      <p:sp>
        <p:nvSpPr>
          <p:cNvPr id="22" name="TextBox 21">
            <a:extLst>
              <a:ext uri="{FF2B5EF4-FFF2-40B4-BE49-F238E27FC236}">
                <a16:creationId xmlns:a16="http://schemas.microsoft.com/office/drawing/2014/main" id="{9278E74E-7F71-4C70-B5E6-33EED172F3F7}"/>
              </a:ext>
            </a:extLst>
          </p:cNvPr>
          <p:cNvSpPr txBox="1"/>
          <p:nvPr/>
        </p:nvSpPr>
        <p:spPr>
          <a:xfrm>
            <a:off x="3956669" y="4828845"/>
            <a:ext cx="3238422" cy="1015663"/>
          </a:xfrm>
          <a:prstGeom prst="rect">
            <a:avLst/>
          </a:prstGeom>
          <a:noFill/>
        </p:spPr>
        <p:txBody>
          <a:bodyPr wrap="square" rtlCol="0">
            <a:spAutoFit/>
          </a:bodyPr>
          <a:lstStyle/>
          <a:p>
            <a:pPr algn="ctr"/>
            <a:r>
              <a:rPr lang="en-US" sz="3000" dirty="0"/>
              <a:t>SVM with polynomial kernel</a:t>
            </a:r>
          </a:p>
        </p:txBody>
      </p:sp>
      <p:sp>
        <p:nvSpPr>
          <p:cNvPr id="26" name="TextBox 25">
            <a:extLst>
              <a:ext uri="{FF2B5EF4-FFF2-40B4-BE49-F238E27FC236}">
                <a16:creationId xmlns:a16="http://schemas.microsoft.com/office/drawing/2014/main" id="{42229D68-0BC6-44F4-89C4-DA6414D0AC15}"/>
              </a:ext>
            </a:extLst>
          </p:cNvPr>
          <p:cNvSpPr txBox="1"/>
          <p:nvPr/>
        </p:nvSpPr>
        <p:spPr>
          <a:xfrm>
            <a:off x="7262226" y="5235200"/>
            <a:ext cx="4929767" cy="553998"/>
          </a:xfrm>
          <a:prstGeom prst="rect">
            <a:avLst/>
          </a:prstGeom>
          <a:noFill/>
        </p:spPr>
        <p:txBody>
          <a:bodyPr wrap="square" rtlCol="0">
            <a:spAutoFit/>
          </a:bodyPr>
          <a:lstStyle/>
          <a:p>
            <a:pPr algn="ctr"/>
            <a:r>
              <a:rPr lang="en-US" sz="3000" dirty="0"/>
              <a:t>SVM with RBF kernel</a:t>
            </a:r>
          </a:p>
        </p:txBody>
      </p:sp>
      <p:cxnSp>
        <p:nvCxnSpPr>
          <p:cNvPr id="7" name="Straight Connector 6">
            <a:extLst>
              <a:ext uri="{FF2B5EF4-FFF2-40B4-BE49-F238E27FC236}">
                <a16:creationId xmlns:a16="http://schemas.microsoft.com/office/drawing/2014/main" id="{FB4EEFB4-279C-4D11-BC93-74E5E6D7D74E}"/>
              </a:ext>
            </a:extLst>
          </p:cNvPr>
          <p:cNvCxnSpPr>
            <a:cxnSpLocks/>
          </p:cNvCxnSpPr>
          <p:nvPr/>
        </p:nvCxnSpPr>
        <p:spPr>
          <a:xfrm>
            <a:off x="3948400" y="1780807"/>
            <a:ext cx="0" cy="483948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83B8F7D-2E30-4758-A44B-0639484586EF}"/>
              </a:ext>
            </a:extLst>
          </p:cNvPr>
          <p:cNvCxnSpPr>
            <a:cxnSpLocks/>
          </p:cNvCxnSpPr>
          <p:nvPr/>
        </p:nvCxnSpPr>
        <p:spPr>
          <a:xfrm>
            <a:off x="7186823" y="1780807"/>
            <a:ext cx="27115" cy="403559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718C2AC0-B0B0-418E-87AE-DB6DFDF5A49D}"/>
              </a:ext>
            </a:extLst>
          </p:cNvPr>
          <p:cNvSpPr txBox="1"/>
          <p:nvPr/>
        </p:nvSpPr>
        <p:spPr>
          <a:xfrm>
            <a:off x="7213938" y="1861439"/>
            <a:ext cx="4978062" cy="646331"/>
          </a:xfrm>
          <a:prstGeom prst="rect">
            <a:avLst/>
          </a:prstGeom>
          <a:noFill/>
        </p:spPr>
        <p:txBody>
          <a:bodyPr wrap="square">
            <a:spAutoFit/>
          </a:bodyPr>
          <a:lstStyle/>
          <a:p>
            <a:pPr algn="ctr"/>
            <a:r>
              <a:rPr lang="en-US" dirty="0"/>
              <a:t>determining forest cover from its surrounding, only based on longitude and latitude.</a:t>
            </a:r>
          </a:p>
        </p:txBody>
      </p:sp>
      <p:sp>
        <p:nvSpPr>
          <p:cNvPr id="35" name="TextBox 34">
            <a:extLst>
              <a:ext uri="{FF2B5EF4-FFF2-40B4-BE49-F238E27FC236}">
                <a16:creationId xmlns:a16="http://schemas.microsoft.com/office/drawing/2014/main" id="{63CD318B-5A96-416C-8783-3EF70D8B1E89}"/>
              </a:ext>
            </a:extLst>
          </p:cNvPr>
          <p:cNvSpPr txBox="1"/>
          <p:nvPr/>
        </p:nvSpPr>
        <p:spPr>
          <a:xfrm>
            <a:off x="-3" y="1818438"/>
            <a:ext cx="3948401" cy="646331"/>
          </a:xfrm>
          <a:prstGeom prst="rect">
            <a:avLst/>
          </a:prstGeom>
          <a:noFill/>
        </p:spPr>
        <p:txBody>
          <a:bodyPr wrap="square">
            <a:spAutoFit/>
          </a:bodyPr>
          <a:lstStyle/>
          <a:p>
            <a:pPr algn="ctr"/>
            <a:r>
              <a:rPr lang="en-US" dirty="0"/>
              <a:t>An example would be classifying water and vegetation pixels based on NDVI.</a:t>
            </a:r>
          </a:p>
        </p:txBody>
      </p:sp>
      <p:sp>
        <p:nvSpPr>
          <p:cNvPr id="39" name="TextBox 38">
            <a:extLst>
              <a:ext uri="{FF2B5EF4-FFF2-40B4-BE49-F238E27FC236}">
                <a16:creationId xmlns:a16="http://schemas.microsoft.com/office/drawing/2014/main" id="{0D4498BF-4415-43E9-ACDF-9E2D89571086}"/>
              </a:ext>
            </a:extLst>
          </p:cNvPr>
          <p:cNvSpPr txBox="1"/>
          <p:nvPr/>
        </p:nvSpPr>
        <p:spPr>
          <a:xfrm>
            <a:off x="36599" y="2464769"/>
            <a:ext cx="3804557" cy="1200329"/>
          </a:xfrm>
          <a:prstGeom prst="rect">
            <a:avLst/>
          </a:prstGeom>
          <a:noFill/>
        </p:spPr>
        <p:txBody>
          <a:bodyPr wrap="square">
            <a:spAutoFit/>
          </a:bodyPr>
          <a:lstStyle/>
          <a:p>
            <a:pPr algn="ctr"/>
            <a:r>
              <a:rPr lang="en-US" dirty="0"/>
              <a:t>When there is a clear difference between two groups, for </a:t>
            </a:r>
            <a:r>
              <a:rPr lang="en-US" dirty="0" err="1"/>
              <a:t>exemple</a:t>
            </a:r>
            <a:r>
              <a:rPr lang="en-US" dirty="0"/>
              <a:t> tree population over/under a decided altitude</a:t>
            </a:r>
          </a:p>
        </p:txBody>
      </p:sp>
      <p:sp>
        <p:nvSpPr>
          <p:cNvPr id="43" name="TextBox 42">
            <a:extLst>
              <a:ext uri="{FF2B5EF4-FFF2-40B4-BE49-F238E27FC236}">
                <a16:creationId xmlns:a16="http://schemas.microsoft.com/office/drawing/2014/main" id="{92E4903B-ADEC-40D1-92A7-DFB077FABF7A}"/>
              </a:ext>
            </a:extLst>
          </p:cNvPr>
          <p:cNvSpPr txBox="1"/>
          <p:nvPr/>
        </p:nvSpPr>
        <p:spPr>
          <a:xfrm>
            <a:off x="7259130" y="4046590"/>
            <a:ext cx="4978061" cy="646331"/>
          </a:xfrm>
          <a:prstGeom prst="rect">
            <a:avLst/>
          </a:prstGeom>
          <a:noFill/>
        </p:spPr>
        <p:txBody>
          <a:bodyPr wrap="square">
            <a:spAutoFit/>
          </a:bodyPr>
          <a:lstStyle/>
          <a:p>
            <a:pPr algn="ctr"/>
            <a:r>
              <a:rPr lang="en-US" dirty="0"/>
              <a:t>differentiate convective storms that produce hail and those that do not</a:t>
            </a:r>
          </a:p>
        </p:txBody>
      </p:sp>
      <p:sp>
        <p:nvSpPr>
          <p:cNvPr id="47" name="TextBox 46">
            <a:extLst>
              <a:ext uri="{FF2B5EF4-FFF2-40B4-BE49-F238E27FC236}">
                <a16:creationId xmlns:a16="http://schemas.microsoft.com/office/drawing/2014/main" id="{E04E6760-1149-4E4F-8C5D-2C4CDA9C67E8}"/>
              </a:ext>
            </a:extLst>
          </p:cNvPr>
          <p:cNvSpPr txBox="1"/>
          <p:nvPr/>
        </p:nvSpPr>
        <p:spPr>
          <a:xfrm>
            <a:off x="-8270" y="3698888"/>
            <a:ext cx="3948402" cy="923330"/>
          </a:xfrm>
          <a:prstGeom prst="rect">
            <a:avLst/>
          </a:prstGeom>
          <a:noFill/>
        </p:spPr>
        <p:txBody>
          <a:bodyPr wrap="square">
            <a:spAutoFit/>
          </a:bodyPr>
          <a:lstStyle/>
          <a:p>
            <a:pPr algn="ctr"/>
            <a:r>
              <a:rPr lang="en-US" dirty="0"/>
              <a:t>differentiating cloudy and non-cloudy satellite imagery pixels in the open oceans</a:t>
            </a:r>
          </a:p>
        </p:txBody>
      </p:sp>
      <p:sp>
        <p:nvSpPr>
          <p:cNvPr id="19" name="TextBox 18">
            <a:extLst>
              <a:ext uri="{FF2B5EF4-FFF2-40B4-BE49-F238E27FC236}">
                <a16:creationId xmlns:a16="http://schemas.microsoft.com/office/drawing/2014/main" id="{D1384375-E997-49ED-881E-65263D7880A5}"/>
              </a:ext>
            </a:extLst>
          </p:cNvPr>
          <p:cNvSpPr txBox="1"/>
          <p:nvPr/>
        </p:nvSpPr>
        <p:spPr>
          <a:xfrm>
            <a:off x="7186823" y="2707769"/>
            <a:ext cx="5005178" cy="923330"/>
          </a:xfrm>
          <a:prstGeom prst="rect">
            <a:avLst/>
          </a:prstGeom>
          <a:noFill/>
        </p:spPr>
        <p:txBody>
          <a:bodyPr wrap="square">
            <a:spAutoFit/>
          </a:bodyPr>
          <a:lstStyle/>
          <a:p>
            <a:pPr algn="ctr"/>
            <a:r>
              <a:rPr lang="en-US" dirty="0"/>
              <a:t>Asses species environment (biomes, coordinates) based on many features such as physical characteristics, alimentation, behavior, </a:t>
            </a:r>
            <a:r>
              <a:rPr lang="en-US" dirty="0" err="1"/>
              <a:t>ect</a:t>
            </a:r>
            <a:r>
              <a:rPr lang="en-US" dirty="0"/>
              <a:t>..</a:t>
            </a:r>
          </a:p>
        </p:txBody>
      </p:sp>
      <p:sp>
        <p:nvSpPr>
          <p:cNvPr id="25" name="TextBox 24">
            <a:extLst>
              <a:ext uri="{FF2B5EF4-FFF2-40B4-BE49-F238E27FC236}">
                <a16:creationId xmlns:a16="http://schemas.microsoft.com/office/drawing/2014/main" id="{CE9661F8-F5EC-428E-91E3-EF6DECAF507D}"/>
              </a:ext>
            </a:extLst>
          </p:cNvPr>
          <p:cNvSpPr txBox="1"/>
          <p:nvPr/>
        </p:nvSpPr>
        <p:spPr>
          <a:xfrm>
            <a:off x="-78915" y="4692921"/>
            <a:ext cx="4035584" cy="923330"/>
          </a:xfrm>
          <a:prstGeom prst="rect">
            <a:avLst/>
          </a:prstGeom>
          <a:noFill/>
        </p:spPr>
        <p:txBody>
          <a:bodyPr wrap="square">
            <a:spAutoFit/>
          </a:bodyPr>
          <a:lstStyle/>
          <a:p>
            <a:pPr algn="ctr"/>
            <a:r>
              <a:rPr lang="en-US" dirty="0"/>
              <a:t>Classifying linearly separable values </a:t>
            </a:r>
            <a:r>
              <a:rPr lang="en-US" dirty="0" err="1"/>
              <a:t>e.g</a:t>
            </a:r>
            <a:r>
              <a:rPr lang="en-US" dirty="0"/>
              <a:t> species differentiation by physiological characteristic</a:t>
            </a:r>
          </a:p>
        </p:txBody>
      </p:sp>
    </p:spTree>
    <p:extLst>
      <p:ext uri="{BB962C8B-B14F-4D97-AF65-F5344CB8AC3E}">
        <p14:creationId xmlns:p14="http://schemas.microsoft.com/office/powerpoint/2010/main" val="3674676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3"/>
                                        </p:tgtEl>
                                        <p:attrNameLst>
                                          <p:attrName>style.visibility</p:attrName>
                                        </p:attrNameLst>
                                      </p:cBhvr>
                                      <p:to>
                                        <p:strVal val="visible"/>
                                      </p:to>
                                    </p:set>
                                    <p:animEffect transition="in" filter="fade">
                                      <p:cBhvr>
                                        <p:cTn id="10" dur="500"/>
                                        <p:tgtEl>
                                          <p:spTgt spid="4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9"/>
                                        </p:tgtEl>
                                        <p:attrNameLst>
                                          <p:attrName>style.visibility</p:attrName>
                                        </p:attrNameLst>
                                      </p:cBhvr>
                                      <p:to>
                                        <p:strVal val="visible"/>
                                      </p:to>
                                    </p:set>
                                    <p:animEffect transition="in" filter="fade">
                                      <p:cBhvr>
                                        <p:cTn id="18" dur="500"/>
                                        <p:tgtEl>
                                          <p:spTgt spid="3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7"/>
                                        </p:tgtEl>
                                        <p:attrNameLst>
                                          <p:attrName>style.visibility</p:attrName>
                                        </p:attrNameLst>
                                      </p:cBhvr>
                                      <p:to>
                                        <p:strVal val="visible"/>
                                      </p:to>
                                    </p:set>
                                    <p:animEffect transition="in" filter="fade">
                                      <p:cBhvr>
                                        <p:cTn id="21"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5" grpId="0"/>
      <p:bldP spid="39" grpId="0"/>
      <p:bldP spid="43" grpId="0"/>
      <p:bldP spid="4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3C396-ADF8-493E-ADC2-606281CBCCE1}"/>
              </a:ext>
            </a:extLst>
          </p:cNvPr>
          <p:cNvSpPr>
            <a:spLocks noGrp="1"/>
          </p:cNvSpPr>
          <p:nvPr>
            <p:ph type="title"/>
          </p:nvPr>
        </p:nvSpPr>
        <p:spPr>
          <a:xfrm>
            <a:off x="-2" y="1042633"/>
            <a:ext cx="12192000" cy="576519"/>
          </a:xfrm>
        </p:spPr>
        <p:txBody>
          <a:bodyPr>
            <a:normAutofit fontScale="90000"/>
          </a:bodyPr>
          <a:lstStyle/>
          <a:p>
            <a:r>
              <a:rPr lang="en-US" dirty="0"/>
              <a:t>SVM Regression: Are wide margins a good thing of not?</a:t>
            </a:r>
          </a:p>
        </p:txBody>
      </p:sp>
      <p:sp>
        <p:nvSpPr>
          <p:cNvPr id="3" name="Slide Number Placeholder 2">
            <a:extLst>
              <a:ext uri="{FF2B5EF4-FFF2-40B4-BE49-F238E27FC236}">
                <a16:creationId xmlns:a16="http://schemas.microsoft.com/office/drawing/2014/main" id="{CEF74754-A64E-4781-930F-9DBBC65FA0A9}"/>
              </a:ext>
            </a:extLst>
          </p:cNvPr>
          <p:cNvSpPr>
            <a:spLocks noGrp="1"/>
          </p:cNvSpPr>
          <p:nvPr>
            <p:ph type="sldNum" sz="quarter" idx="12"/>
          </p:nvPr>
        </p:nvSpPr>
        <p:spPr/>
        <p:txBody>
          <a:bodyPr/>
          <a:lstStyle/>
          <a:p>
            <a:fld id="{A5686A01-FA10-4E06-92C7-92734750F4C6}" type="slidenum">
              <a:rPr lang="en-US" smtClean="0"/>
              <a:t>10</a:t>
            </a:fld>
            <a:endParaRPr lang="en-US"/>
          </a:p>
        </p:txBody>
      </p:sp>
      <p:pic>
        <p:nvPicPr>
          <p:cNvPr id="5" name="Picture 4">
            <a:extLst>
              <a:ext uri="{FF2B5EF4-FFF2-40B4-BE49-F238E27FC236}">
                <a16:creationId xmlns:a16="http://schemas.microsoft.com/office/drawing/2014/main" id="{6CCC2363-C4F7-4F78-9C30-FC59CB683944}"/>
              </a:ext>
            </a:extLst>
          </p:cNvPr>
          <p:cNvPicPr>
            <a:picLocks noChangeAspect="1"/>
          </p:cNvPicPr>
          <p:nvPr/>
        </p:nvPicPr>
        <p:blipFill>
          <a:blip r:embed="rId2"/>
          <a:stretch>
            <a:fillRect/>
          </a:stretch>
        </p:blipFill>
        <p:spPr>
          <a:xfrm>
            <a:off x="4610098" y="1619152"/>
            <a:ext cx="7581900" cy="3234276"/>
          </a:xfrm>
          <a:prstGeom prst="rect">
            <a:avLst/>
          </a:prstGeom>
        </p:spPr>
      </p:pic>
      <p:pic>
        <p:nvPicPr>
          <p:cNvPr id="7" name="Picture 6">
            <a:extLst>
              <a:ext uri="{FF2B5EF4-FFF2-40B4-BE49-F238E27FC236}">
                <a16:creationId xmlns:a16="http://schemas.microsoft.com/office/drawing/2014/main" id="{A7C018D6-F718-4F6B-B593-E070997C4E19}"/>
              </a:ext>
            </a:extLst>
          </p:cNvPr>
          <p:cNvPicPr>
            <a:picLocks noChangeAspect="1"/>
          </p:cNvPicPr>
          <p:nvPr/>
        </p:nvPicPr>
        <p:blipFill>
          <a:blip r:embed="rId3"/>
          <a:stretch>
            <a:fillRect/>
          </a:stretch>
        </p:blipFill>
        <p:spPr>
          <a:xfrm>
            <a:off x="0" y="4600574"/>
            <a:ext cx="5310671" cy="2257425"/>
          </a:xfrm>
          <a:prstGeom prst="rect">
            <a:avLst/>
          </a:prstGeom>
        </p:spPr>
      </p:pic>
      <p:sp>
        <p:nvSpPr>
          <p:cNvPr id="8" name="TextBox 7">
            <a:extLst>
              <a:ext uri="{FF2B5EF4-FFF2-40B4-BE49-F238E27FC236}">
                <a16:creationId xmlns:a16="http://schemas.microsoft.com/office/drawing/2014/main" id="{913D57D4-3810-45E8-A1C8-F0D8670725D7}"/>
              </a:ext>
            </a:extLst>
          </p:cNvPr>
          <p:cNvSpPr txBox="1"/>
          <p:nvPr/>
        </p:nvSpPr>
        <p:spPr>
          <a:xfrm>
            <a:off x="-2" y="2185439"/>
            <a:ext cx="4610100" cy="1938992"/>
          </a:xfrm>
          <a:prstGeom prst="rect">
            <a:avLst/>
          </a:prstGeom>
          <a:noFill/>
        </p:spPr>
        <p:txBody>
          <a:bodyPr wrap="square" rtlCol="0">
            <a:spAutoFit/>
          </a:bodyPr>
          <a:lstStyle/>
          <a:p>
            <a:pPr algn="l"/>
            <a:r>
              <a:rPr lang="en-US" sz="3000" u="sng" dirty="0"/>
              <a:t>Reverse the objective</a:t>
            </a:r>
            <a:r>
              <a:rPr lang="en-US" sz="3000" dirty="0"/>
              <a:t>:</a:t>
            </a:r>
            <a:br>
              <a:rPr lang="en-US" sz="3000" dirty="0"/>
            </a:br>
            <a:r>
              <a:rPr lang="en-US" sz="3000" dirty="0"/>
              <a:t>Try to fit as many instances </a:t>
            </a:r>
            <a:r>
              <a:rPr lang="en-US" sz="3000" i="1" dirty="0"/>
              <a:t>on</a:t>
            </a:r>
            <a:r>
              <a:rPr lang="en-US" sz="3000" dirty="0"/>
              <a:t> the street while limiting instances </a:t>
            </a:r>
            <a:r>
              <a:rPr lang="en-US" sz="3000" i="1" dirty="0"/>
              <a:t>off</a:t>
            </a:r>
            <a:r>
              <a:rPr lang="en-US" sz="3000" dirty="0"/>
              <a:t> the street</a:t>
            </a:r>
          </a:p>
        </p:txBody>
      </p:sp>
      <p:sp>
        <p:nvSpPr>
          <p:cNvPr id="9" name="TextBox 8">
            <a:extLst>
              <a:ext uri="{FF2B5EF4-FFF2-40B4-BE49-F238E27FC236}">
                <a16:creationId xmlns:a16="http://schemas.microsoft.com/office/drawing/2014/main" id="{52A74041-CBC3-4F10-A529-287C112A27E1}"/>
              </a:ext>
            </a:extLst>
          </p:cNvPr>
          <p:cNvSpPr txBox="1"/>
          <p:nvPr/>
        </p:nvSpPr>
        <p:spPr>
          <a:xfrm>
            <a:off x="5310670" y="4880799"/>
            <a:ext cx="6881327" cy="1938992"/>
          </a:xfrm>
          <a:prstGeom prst="rect">
            <a:avLst/>
          </a:prstGeom>
          <a:noFill/>
        </p:spPr>
        <p:txBody>
          <a:bodyPr wrap="square" rtlCol="0">
            <a:spAutoFit/>
          </a:bodyPr>
          <a:lstStyle/>
          <a:p>
            <a:pPr marL="457200" indent="-457200" algn="l">
              <a:buFont typeface="Arial" panose="020B0604020202020204" pitchFamily="34" charset="0"/>
              <a:buChar char="•"/>
            </a:pPr>
            <a:r>
              <a:rPr lang="en-US" sz="3000" dirty="0"/>
              <a:t>Possible to use nonlinear kernels</a:t>
            </a:r>
          </a:p>
          <a:p>
            <a:pPr marL="457200" indent="-457200" algn="l">
              <a:buFont typeface="Arial" panose="020B0604020202020204" pitchFamily="34" charset="0"/>
              <a:buChar char="•"/>
            </a:pPr>
            <a:r>
              <a:rPr lang="en-US" sz="3000" dirty="0"/>
              <a:t>Useful for detecting outliers</a:t>
            </a:r>
          </a:p>
          <a:p>
            <a:pPr marL="457200" indent="-457200" algn="l">
              <a:buFont typeface="Arial" panose="020B0604020202020204" pitchFamily="34" charset="0"/>
              <a:buChar char="•"/>
            </a:pPr>
            <a:r>
              <a:rPr lang="en-US" sz="3000" u="sng" dirty="0"/>
              <a:t>Problem for applications</a:t>
            </a:r>
            <a:r>
              <a:rPr lang="en-US" sz="3000" dirty="0"/>
              <a:t>: Does not scale well with data size</a:t>
            </a:r>
          </a:p>
        </p:txBody>
      </p:sp>
    </p:spTree>
    <p:extLst>
      <p:ext uri="{BB962C8B-B14F-4D97-AF65-F5344CB8AC3E}">
        <p14:creationId xmlns:p14="http://schemas.microsoft.com/office/powerpoint/2010/main" val="3945960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1E10A-3459-4F37-B2D1-3F864BD5CB33}"/>
              </a:ext>
            </a:extLst>
          </p:cNvPr>
          <p:cNvSpPr>
            <a:spLocks noGrp="1"/>
          </p:cNvSpPr>
          <p:nvPr>
            <p:ph type="ctrTitle"/>
          </p:nvPr>
        </p:nvSpPr>
        <p:spPr>
          <a:xfrm>
            <a:off x="0" y="1031359"/>
            <a:ext cx="12192000" cy="1977656"/>
          </a:xfrm>
        </p:spPr>
        <p:txBody>
          <a:bodyPr>
            <a:normAutofit/>
          </a:bodyPr>
          <a:lstStyle/>
          <a:p>
            <a:r>
              <a:rPr lang="en-US" dirty="0"/>
              <a:t>Min 85-95: Decision Trees for Interpretable Classification/Regression </a:t>
            </a:r>
          </a:p>
        </p:txBody>
      </p:sp>
      <p:sp>
        <p:nvSpPr>
          <p:cNvPr id="4" name="Slide Number Placeholder 3">
            <a:extLst>
              <a:ext uri="{FF2B5EF4-FFF2-40B4-BE49-F238E27FC236}">
                <a16:creationId xmlns:a16="http://schemas.microsoft.com/office/drawing/2014/main" id="{65951D8F-8562-4A80-A9B3-5D34DC991367}"/>
              </a:ext>
            </a:extLst>
          </p:cNvPr>
          <p:cNvSpPr>
            <a:spLocks noGrp="1"/>
          </p:cNvSpPr>
          <p:nvPr>
            <p:ph type="sldNum" sz="quarter" idx="12"/>
          </p:nvPr>
        </p:nvSpPr>
        <p:spPr/>
        <p:txBody>
          <a:bodyPr/>
          <a:lstStyle/>
          <a:p>
            <a:fld id="{A5686A01-FA10-4E06-92C7-92734750F4C6}" type="slidenum">
              <a:rPr lang="en-US" smtClean="0"/>
              <a:t>11</a:t>
            </a:fld>
            <a:endParaRPr lang="en-US"/>
          </a:p>
        </p:txBody>
      </p:sp>
      <p:sp>
        <p:nvSpPr>
          <p:cNvPr id="5" name="Subtitle 2">
            <a:extLst>
              <a:ext uri="{FF2B5EF4-FFF2-40B4-BE49-F238E27FC236}">
                <a16:creationId xmlns:a16="http://schemas.microsoft.com/office/drawing/2014/main" id="{F938649D-351C-4F26-B22E-257FBE0817E2}"/>
              </a:ext>
            </a:extLst>
          </p:cNvPr>
          <p:cNvSpPr txBox="1">
            <a:spLocks/>
          </p:cNvSpPr>
          <p:nvPr/>
        </p:nvSpPr>
        <p:spPr>
          <a:xfrm>
            <a:off x="0" y="3675249"/>
            <a:ext cx="12192001" cy="238760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CMU Sans Serif" panose="02000603000000000000" pitchFamily="2" charset="0"/>
                <a:ea typeface="CMU Sans Serif" panose="02000603000000000000" pitchFamily="2" charset="0"/>
                <a:cs typeface="CMU Sans Serif" panose="02000603000000000000" pitchFamily="2"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u="sng" dirty="0"/>
              <a:t>Learning Objectives</a:t>
            </a:r>
            <a:r>
              <a:rPr lang="en-US" dirty="0"/>
              <a:t> (</a:t>
            </a:r>
            <a:r>
              <a:rPr lang="en-US" dirty="0" err="1"/>
              <a:t>Géron</a:t>
            </a:r>
            <a:r>
              <a:rPr lang="en-US" dirty="0"/>
              <a:t> Ch6):</a:t>
            </a:r>
          </a:p>
          <a:p>
            <a:pPr marL="457200" indent="-457200">
              <a:buFont typeface="+mj-lt"/>
              <a:buAutoNum type="arabicPeriod"/>
            </a:pPr>
            <a:r>
              <a:rPr lang="en-US" dirty="0"/>
              <a:t>Know how to train &amp; interpret a decision tree</a:t>
            </a:r>
          </a:p>
          <a:p>
            <a:pPr marL="457200" indent="-457200">
              <a:buFont typeface="+mj-lt"/>
              <a:buAutoNum type="arabicPeriod"/>
            </a:pPr>
            <a:r>
              <a:rPr lang="en-US" dirty="0"/>
              <a:t>Understand how to choose a regularization hyperparameter</a:t>
            </a:r>
          </a:p>
        </p:txBody>
      </p:sp>
    </p:spTree>
    <p:extLst>
      <p:ext uri="{BB962C8B-B14F-4D97-AF65-F5344CB8AC3E}">
        <p14:creationId xmlns:p14="http://schemas.microsoft.com/office/powerpoint/2010/main" val="2716878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C6BC7-0149-4C6C-AF1B-B6DF16F94DBE}"/>
              </a:ext>
            </a:extLst>
          </p:cNvPr>
          <p:cNvSpPr>
            <a:spLocks noGrp="1"/>
          </p:cNvSpPr>
          <p:nvPr>
            <p:ph type="title"/>
          </p:nvPr>
        </p:nvSpPr>
        <p:spPr>
          <a:xfrm>
            <a:off x="-2" y="1042632"/>
            <a:ext cx="12192000" cy="890943"/>
          </a:xfrm>
        </p:spPr>
        <p:txBody>
          <a:bodyPr/>
          <a:lstStyle/>
          <a:p>
            <a:r>
              <a:rPr lang="en-US" dirty="0"/>
              <a:t>The advantages of a Transparent Model</a:t>
            </a:r>
          </a:p>
        </p:txBody>
      </p:sp>
      <p:sp>
        <p:nvSpPr>
          <p:cNvPr id="3" name="Slide Number Placeholder 2">
            <a:extLst>
              <a:ext uri="{FF2B5EF4-FFF2-40B4-BE49-F238E27FC236}">
                <a16:creationId xmlns:a16="http://schemas.microsoft.com/office/drawing/2014/main" id="{420B38B7-D2C3-451D-A960-7159F31E9F4E}"/>
              </a:ext>
            </a:extLst>
          </p:cNvPr>
          <p:cNvSpPr>
            <a:spLocks noGrp="1"/>
          </p:cNvSpPr>
          <p:nvPr>
            <p:ph type="sldNum" sz="quarter" idx="12"/>
          </p:nvPr>
        </p:nvSpPr>
        <p:spPr/>
        <p:txBody>
          <a:bodyPr/>
          <a:lstStyle/>
          <a:p>
            <a:fld id="{A5686A01-FA10-4E06-92C7-92734750F4C6}" type="slidenum">
              <a:rPr lang="en-US" smtClean="0"/>
              <a:t>12</a:t>
            </a:fld>
            <a:endParaRPr lang="en-US"/>
          </a:p>
        </p:txBody>
      </p:sp>
      <p:pic>
        <p:nvPicPr>
          <p:cNvPr id="5" name="Picture 4">
            <a:extLst>
              <a:ext uri="{FF2B5EF4-FFF2-40B4-BE49-F238E27FC236}">
                <a16:creationId xmlns:a16="http://schemas.microsoft.com/office/drawing/2014/main" id="{004A15BD-C38F-4DE6-83B6-B96C0DBC62B1}"/>
              </a:ext>
            </a:extLst>
          </p:cNvPr>
          <p:cNvPicPr>
            <a:picLocks noChangeAspect="1"/>
          </p:cNvPicPr>
          <p:nvPr/>
        </p:nvPicPr>
        <p:blipFill>
          <a:blip r:embed="rId3"/>
          <a:stretch>
            <a:fillRect/>
          </a:stretch>
        </p:blipFill>
        <p:spPr>
          <a:xfrm>
            <a:off x="0" y="1933574"/>
            <a:ext cx="6240232" cy="4924425"/>
          </a:xfrm>
          <a:prstGeom prst="rect">
            <a:avLst/>
          </a:prstGeom>
        </p:spPr>
      </p:pic>
      <p:pic>
        <p:nvPicPr>
          <p:cNvPr id="7" name="Picture 6" descr="A group of purple flowers&#10;&#10;Description automatically generated with low confidence">
            <a:extLst>
              <a:ext uri="{FF2B5EF4-FFF2-40B4-BE49-F238E27FC236}">
                <a16:creationId xmlns:a16="http://schemas.microsoft.com/office/drawing/2014/main" id="{CFFD0027-439A-41C0-815B-07780F3860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40232" y="1933573"/>
            <a:ext cx="5951766" cy="2661290"/>
          </a:xfrm>
          <a:prstGeom prst="rect">
            <a:avLst/>
          </a:prstGeom>
        </p:spPr>
      </p:pic>
      <p:pic>
        <p:nvPicPr>
          <p:cNvPr id="9" name="Picture 8" descr="Diagram&#10;&#10;Description automatically generated">
            <a:extLst>
              <a:ext uri="{FF2B5EF4-FFF2-40B4-BE49-F238E27FC236}">
                <a16:creationId xmlns:a16="http://schemas.microsoft.com/office/drawing/2014/main" id="{82EF01B5-ED01-4C76-8F2A-96C9D14B419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67600" y="4550703"/>
            <a:ext cx="3848100" cy="2307296"/>
          </a:xfrm>
          <a:prstGeom prst="rect">
            <a:avLst/>
          </a:prstGeom>
        </p:spPr>
      </p:pic>
      <p:pic>
        <p:nvPicPr>
          <p:cNvPr id="11" name="Picture 10" descr="A green leaf with a black background&#10;&#10;Description automatically generated with low confidence">
            <a:extLst>
              <a:ext uri="{FF2B5EF4-FFF2-40B4-BE49-F238E27FC236}">
                <a16:creationId xmlns:a16="http://schemas.microsoft.com/office/drawing/2014/main" id="{5D22852E-3564-415B-98AB-A5DF32ACBE3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4384066"/>
            <a:ext cx="324991" cy="333273"/>
          </a:xfrm>
          <a:prstGeom prst="rect">
            <a:avLst/>
          </a:prstGeom>
        </p:spPr>
      </p:pic>
      <p:pic>
        <p:nvPicPr>
          <p:cNvPr id="12" name="Picture 11" descr="A green leaf with a black background&#10;&#10;Description automatically generated with low confidence">
            <a:extLst>
              <a:ext uri="{FF2B5EF4-FFF2-40B4-BE49-F238E27FC236}">
                <a16:creationId xmlns:a16="http://schemas.microsoft.com/office/drawing/2014/main" id="{34AFD984-7631-4C78-8256-C5B62107E80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1391792" y="6060934"/>
            <a:ext cx="306122" cy="313923"/>
          </a:xfrm>
          <a:prstGeom prst="rect">
            <a:avLst/>
          </a:prstGeom>
        </p:spPr>
      </p:pic>
      <p:pic>
        <p:nvPicPr>
          <p:cNvPr id="13" name="Picture 12" descr="A green leaf with a black background&#10;&#10;Description automatically generated with low confidence">
            <a:extLst>
              <a:ext uri="{FF2B5EF4-FFF2-40B4-BE49-F238E27FC236}">
                <a16:creationId xmlns:a16="http://schemas.microsoft.com/office/drawing/2014/main" id="{CDB5BA57-E902-4D53-919E-1D20B987D60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89876" y="6060933"/>
            <a:ext cx="306122" cy="313923"/>
          </a:xfrm>
          <a:prstGeom prst="rect">
            <a:avLst/>
          </a:prstGeom>
        </p:spPr>
      </p:pic>
      <p:sp>
        <p:nvSpPr>
          <p:cNvPr id="14" name="TextBox 13">
            <a:extLst>
              <a:ext uri="{FF2B5EF4-FFF2-40B4-BE49-F238E27FC236}">
                <a16:creationId xmlns:a16="http://schemas.microsoft.com/office/drawing/2014/main" id="{70A193A5-C814-445E-88BF-3342EF614C84}"/>
              </a:ext>
            </a:extLst>
          </p:cNvPr>
          <p:cNvSpPr txBox="1"/>
          <p:nvPr/>
        </p:nvSpPr>
        <p:spPr>
          <a:xfrm>
            <a:off x="3870649" y="2334083"/>
            <a:ext cx="1447800" cy="553998"/>
          </a:xfrm>
          <a:prstGeom prst="rect">
            <a:avLst/>
          </a:prstGeom>
          <a:noFill/>
        </p:spPr>
        <p:txBody>
          <a:bodyPr wrap="square" rtlCol="0">
            <a:spAutoFit/>
          </a:bodyPr>
          <a:lstStyle/>
          <a:p>
            <a:pPr algn="l"/>
            <a:r>
              <a:rPr lang="en-US" sz="3000" dirty="0">
                <a:solidFill>
                  <a:schemeClr val="bg1"/>
                </a:solidFill>
              </a:rPr>
              <a:t>Parents</a:t>
            </a:r>
          </a:p>
        </p:txBody>
      </p:sp>
      <p:sp>
        <p:nvSpPr>
          <p:cNvPr id="15" name="TextBox 14">
            <a:extLst>
              <a:ext uri="{FF2B5EF4-FFF2-40B4-BE49-F238E27FC236}">
                <a16:creationId xmlns:a16="http://schemas.microsoft.com/office/drawing/2014/main" id="{6775F675-9EEF-4257-8EA2-C0B8B92D30FF}"/>
              </a:ext>
            </a:extLst>
          </p:cNvPr>
          <p:cNvSpPr txBox="1"/>
          <p:nvPr/>
        </p:nvSpPr>
        <p:spPr>
          <a:xfrm>
            <a:off x="5080101" y="3876234"/>
            <a:ext cx="1647270" cy="553998"/>
          </a:xfrm>
          <a:prstGeom prst="rect">
            <a:avLst/>
          </a:prstGeom>
          <a:noFill/>
        </p:spPr>
        <p:txBody>
          <a:bodyPr wrap="square" rtlCol="0">
            <a:spAutoFit/>
          </a:bodyPr>
          <a:lstStyle/>
          <a:p>
            <a:pPr algn="l"/>
            <a:r>
              <a:rPr lang="en-US" sz="3000" dirty="0">
                <a:solidFill>
                  <a:schemeClr val="bg1"/>
                </a:solidFill>
              </a:rPr>
              <a:t>Children</a:t>
            </a:r>
          </a:p>
        </p:txBody>
      </p:sp>
    </p:spTree>
    <p:extLst>
      <p:ext uri="{BB962C8B-B14F-4D97-AF65-F5344CB8AC3E}">
        <p14:creationId xmlns:p14="http://schemas.microsoft.com/office/powerpoint/2010/main" val="198540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C6BC7-0149-4C6C-AF1B-B6DF16F94DBE}"/>
              </a:ext>
            </a:extLst>
          </p:cNvPr>
          <p:cNvSpPr>
            <a:spLocks noGrp="1"/>
          </p:cNvSpPr>
          <p:nvPr>
            <p:ph type="title"/>
          </p:nvPr>
        </p:nvSpPr>
        <p:spPr>
          <a:xfrm>
            <a:off x="-2" y="1042632"/>
            <a:ext cx="12192000" cy="890943"/>
          </a:xfrm>
        </p:spPr>
        <p:txBody>
          <a:bodyPr/>
          <a:lstStyle/>
          <a:p>
            <a:r>
              <a:rPr lang="en-US" dirty="0"/>
              <a:t>When do we need transparent models in env. sci.?</a:t>
            </a:r>
          </a:p>
        </p:txBody>
      </p:sp>
      <p:sp>
        <p:nvSpPr>
          <p:cNvPr id="3" name="Slide Number Placeholder 2">
            <a:extLst>
              <a:ext uri="{FF2B5EF4-FFF2-40B4-BE49-F238E27FC236}">
                <a16:creationId xmlns:a16="http://schemas.microsoft.com/office/drawing/2014/main" id="{420B38B7-D2C3-451D-A960-7159F31E9F4E}"/>
              </a:ext>
            </a:extLst>
          </p:cNvPr>
          <p:cNvSpPr>
            <a:spLocks noGrp="1"/>
          </p:cNvSpPr>
          <p:nvPr>
            <p:ph type="sldNum" sz="quarter" idx="12"/>
          </p:nvPr>
        </p:nvSpPr>
        <p:spPr/>
        <p:txBody>
          <a:bodyPr/>
          <a:lstStyle/>
          <a:p>
            <a:fld id="{A5686A01-FA10-4E06-92C7-92734750F4C6}" type="slidenum">
              <a:rPr lang="en-US" smtClean="0"/>
              <a:t>13</a:t>
            </a:fld>
            <a:endParaRPr lang="en-US"/>
          </a:p>
        </p:txBody>
      </p:sp>
      <p:sp>
        <p:nvSpPr>
          <p:cNvPr id="10" name="TextBox 9">
            <a:extLst>
              <a:ext uri="{FF2B5EF4-FFF2-40B4-BE49-F238E27FC236}">
                <a16:creationId xmlns:a16="http://schemas.microsoft.com/office/drawing/2014/main" id="{83C64912-E06E-4494-8556-5D08DEA556DE}"/>
              </a:ext>
            </a:extLst>
          </p:cNvPr>
          <p:cNvSpPr txBox="1"/>
          <p:nvPr/>
        </p:nvSpPr>
        <p:spPr>
          <a:xfrm>
            <a:off x="-2" y="5630701"/>
            <a:ext cx="4997304" cy="1200329"/>
          </a:xfrm>
          <a:prstGeom prst="rect">
            <a:avLst/>
          </a:prstGeom>
          <a:noFill/>
        </p:spPr>
        <p:txBody>
          <a:bodyPr wrap="square">
            <a:spAutoFit/>
          </a:bodyPr>
          <a:lstStyle/>
          <a:p>
            <a:pPr algn="ctr"/>
            <a:r>
              <a:rPr lang="en-US" dirty="0"/>
              <a:t>When the goal is to </a:t>
            </a:r>
            <a:r>
              <a:rPr lang="en-US" b="1" dirty="0"/>
              <a:t>understand rather than to predict</a:t>
            </a:r>
            <a:r>
              <a:rPr lang="en-US" dirty="0"/>
              <a:t>, for example classify sediment samples into groups of different origin with the goal to understand the influence of the different variables.</a:t>
            </a:r>
          </a:p>
        </p:txBody>
      </p:sp>
      <p:sp>
        <p:nvSpPr>
          <p:cNvPr id="14" name="TextBox 13">
            <a:extLst>
              <a:ext uri="{FF2B5EF4-FFF2-40B4-BE49-F238E27FC236}">
                <a16:creationId xmlns:a16="http://schemas.microsoft.com/office/drawing/2014/main" id="{45D6E4A6-F987-4EB6-9903-515875423345}"/>
              </a:ext>
            </a:extLst>
          </p:cNvPr>
          <p:cNvSpPr txBox="1"/>
          <p:nvPr/>
        </p:nvSpPr>
        <p:spPr>
          <a:xfrm>
            <a:off x="6863031" y="5056971"/>
            <a:ext cx="5320851" cy="369332"/>
          </a:xfrm>
          <a:prstGeom prst="rect">
            <a:avLst/>
          </a:prstGeom>
          <a:noFill/>
        </p:spPr>
        <p:txBody>
          <a:bodyPr wrap="square">
            <a:spAutoFit/>
          </a:bodyPr>
          <a:lstStyle/>
          <a:p>
            <a:pPr algn="ctr"/>
            <a:r>
              <a:rPr lang="en-US" dirty="0"/>
              <a:t>Environmental policy making</a:t>
            </a:r>
          </a:p>
        </p:txBody>
      </p:sp>
      <p:pic>
        <p:nvPicPr>
          <p:cNvPr id="16" name="Picture 15" descr="Diagram&#10;&#10;Description automatically generated">
            <a:extLst>
              <a:ext uri="{FF2B5EF4-FFF2-40B4-BE49-F238E27FC236}">
                <a16:creationId xmlns:a16="http://schemas.microsoft.com/office/drawing/2014/main" id="{D9257827-CB8A-406E-8091-D5D9149CBB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77368"/>
            <a:ext cx="6875533" cy="3632573"/>
          </a:xfrm>
          <a:prstGeom prst="rect">
            <a:avLst/>
          </a:prstGeom>
        </p:spPr>
      </p:pic>
      <p:sp>
        <p:nvSpPr>
          <p:cNvPr id="17" name="Rectangle 16">
            <a:extLst>
              <a:ext uri="{FF2B5EF4-FFF2-40B4-BE49-F238E27FC236}">
                <a16:creationId xmlns:a16="http://schemas.microsoft.com/office/drawing/2014/main" id="{D9C501CF-86FE-48B6-A365-96533AC878BF}"/>
              </a:ext>
            </a:extLst>
          </p:cNvPr>
          <p:cNvSpPr/>
          <p:nvPr/>
        </p:nvSpPr>
        <p:spPr>
          <a:xfrm>
            <a:off x="6596059" y="6488668"/>
            <a:ext cx="5595941" cy="369332"/>
          </a:xfrm>
          <a:prstGeom prst="rect">
            <a:avLst/>
          </a:prstGeom>
        </p:spPr>
        <p:txBody>
          <a:bodyPr wrap="squar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de-DE" sz="1800" b="0" i="1" u="sng" strike="noStrike" kern="0" cap="none" spc="0" normalizeH="0" baseline="0" noProof="0" dirty="0">
                <a:ln>
                  <a:noFill/>
                </a:ln>
                <a:effectLst/>
                <a:uLnTx/>
                <a:uFillTx/>
              </a:rPr>
              <a:t>Source</a:t>
            </a:r>
            <a:r>
              <a:rPr kumimoji="0" lang="de-DE" sz="1800" b="0" i="1" u="none" strike="noStrike" kern="0" cap="none" spc="0" normalizeH="0" baseline="0" noProof="0" dirty="0">
                <a:ln>
                  <a:noFill/>
                </a:ln>
                <a:effectLst/>
                <a:uLnTx/>
                <a:uFillTx/>
              </a:rPr>
              <a:t>: </a:t>
            </a:r>
            <a:r>
              <a:rPr kumimoji="0" lang="en-US" sz="1800" b="0" i="1" u="none" strike="noStrike" kern="0" cap="none" spc="0" normalizeH="0" baseline="0" noProof="0" dirty="0">
                <a:ln>
                  <a:noFill/>
                </a:ln>
                <a:effectLst/>
                <a:uLnTx/>
                <a:uFillTx/>
              </a:rPr>
              <a:t>Interpretable ML (C. Molnar)</a:t>
            </a:r>
          </a:p>
        </p:txBody>
      </p:sp>
      <p:sp>
        <p:nvSpPr>
          <p:cNvPr id="18" name="TextBox 17">
            <a:extLst>
              <a:ext uri="{FF2B5EF4-FFF2-40B4-BE49-F238E27FC236}">
                <a16:creationId xmlns:a16="http://schemas.microsoft.com/office/drawing/2014/main" id="{2DEEBCC0-32EB-4728-B719-AFF3E23E7586}"/>
              </a:ext>
            </a:extLst>
          </p:cNvPr>
          <p:cNvSpPr txBox="1"/>
          <p:nvPr/>
        </p:nvSpPr>
        <p:spPr>
          <a:xfrm>
            <a:off x="6871149" y="3185822"/>
            <a:ext cx="5325233" cy="1015663"/>
          </a:xfrm>
          <a:prstGeom prst="rect">
            <a:avLst/>
          </a:prstGeom>
          <a:noFill/>
        </p:spPr>
        <p:txBody>
          <a:bodyPr wrap="square" rtlCol="0">
            <a:spAutoFit/>
          </a:bodyPr>
          <a:lstStyle/>
          <a:p>
            <a:pPr algn="l"/>
            <a:r>
              <a:rPr lang="en-US" sz="3000" dirty="0"/>
              <a:t>When we need interpretability</a:t>
            </a:r>
          </a:p>
          <a:p>
            <a:pPr algn="l"/>
            <a:r>
              <a:rPr lang="en-US" sz="3000" dirty="0">
                <a:cs typeface="Times New Roman" panose="02020603050405020304" pitchFamily="18" charset="0"/>
              </a:rPr>
              <a:t>← ← ← ← ← ← ← ← ←</a:t>
            </a:r>
            <a:endParaRPr lang="en-US" sz="3000" dirty="0"/>
          </a:p>
        </p:txBody>
      </p:sp>
      <p:sp>
        <p:nvSpPr>
          <p:cNvPr id="12" name="TextBox 11">
            <a:extLst>
              <a:ext uri="{FF2B5EF4-FFF2-40B4-BE49-F238E27FC236}">
                <a16:creationId xmlns:a16="http://schemas.microsoft.com/office/drawing/2014/main" id="{BD2C24DF-0BE9-425B-9591-33BC832BABEB}"/>
              </a:ext>
            </a:extLst>
          </p:cNvPr>
          <p:cNvSpPr txBox="1"/>
          <p:nvPr/>
        </p:nvSpPr>
        <p:spPr>
          <a:xfrm>
            <a:off x="5171710" y="5519959"/>
            <a:ext cx="7012172" cy="1200329"/>
          </a:xfrm>
          <a:prstGeom prst="rect">
            <a:avLst/>
          </a:prstGeom>
          <a:noFill/>
        </p:spPr>
        <p:txBody>
          <a:bodyPr wrap="square">
            <a:spAutoFit/>
          </a:bodyPr>
          <a:lstStyle/>
          <a:p>
            <a:r>
              <a:rPr lang="en-US" dirty="0"/>
              <a:t>a phenomenon which requires </a:t>
            </a:r>
            <a:r>
              <a:rPr lang="en-US" b="1" dirty="0"/>
              <a:t>clear comprehension after the prediction process</a:t>
            </a:r>
            <a:r>
              <a:rPr lang="en-US" dirty="0"/>
              <a:t>. For instance, the application of a type of decision tree on a specific pixel type in satellite image to distinguish between vegetation and no vegetation.</a:t>
            </a:r>
          </a:p>
        </p:txBody>
      </p:sp>
    </p:spTree>
    <p:extLst>
      <p:ext uri="{BB962C8B-B14F-4D97-AF65-F5344CB8AC3E}">
        <p14:creationId xmlns:p14="http://schemas.microsoft.com/office/powerpoint/2010/main" val="192695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P spid="17" grpId="0"/>
      <p:bldP spid="1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CACD1-983B-4600-9328-00EB371C1DB5}"/>
              </a:ext>
            </a:extLst>
          </p:cNvPr>
          <p:cNvSpPr>
            <a:spLocks noGrp="1"/>
          </p:cNvSpPr>
          <p:nvPr>
            <p:ph type="title"/>
          </p:nvPr>
        </p:nvSpPr>
        <p:spPr>
          <a:xfrm>
            <a:off x="-2" y="1042632"/>
            <a:ext cx="12192000" cy="916689"/>
          </a:xfrm>
        </p:spPr>
        <p:txBody>
          <a:bodyPr/>
          <a:lstStyle/>
          <a:p>
            <a:r>
              <a:rPr lang="en-US" dirty="0"/>
              <a:t>How can we train or “grow” a decision tree?</a:t>
            </a:r>
          </a:p>
        </p:txBody>
      </p:sp>
      <p:sp>
        <p:nvSpPr>
          <p:cNvPr id="3" name="Slide Number Placeholder 2">
            <a:extLst>
              <a:ext uri="{FF2B5EF4-FFF2-40B4-BE49-F238E27FC236}">
                <a16:creationId xmlns:a16="http://schemas.microsoft.com/office/drawing/2014/main" id="{94C498FD-247D-4421-A1BA-8713D6276D60}"/>
              </a:ext>
            </a:extLst>
          </p:cNvPr>
          <p:cNvSpPr>
            <a:spLocks noGrp="1"/>
          </p:cNvSpPr>
          <p:nvPr>
            <p:ph type="sldNum" sz="quarter" idx="12"/>
          </p:nvPr>
        </p:nvSpPr>
        <p:spPr/>
        <p:txBody>
          <a:bodyPr/>
          <a:lstStyle/>
          <a:p>
            <a:fld id="{A5686A01-FA10-4E06-92C7-92734750F4C6}" type="slidenum">
              <a:rPr lang="en-US" smtClean="0"/>
              <a:t>14</a:t>
            </a:fld>
            <a:endParaRPr lang="en-US"/>
          </a:p>
        </p:txBody>
      </p:sp>
      <p:pic>
        <p:nvPicPr>
          <p:cNvPr id="5" name="Picture 4" descr="A picture containing outdoor, grass, handcart, transport&#10;&#10;Description automatically generated">
            <a:extLst>
              <a:ext uri="{FF2B5EF4-FFF2-40B4-BE49-F238E27FC236}">
                <a16:creationId xmlns:a16="http://schemas.microsoft.com/office/drawing/2014/main" id="{FC94914E-C03C-4D2D-8105-4E1893A1E135}"/>
              </a:ext>
            </a:extLst>
          </p:cNvPr>
          <p:cNvPicPr>
            <a:picLocks noChangeAspect="1"/>
          </p:cNvPicPr>
          <p:nvPr/>
        </p:nvPicPr>
        <p:blipFill rotWithShape="1">
          <a:blip r:embed="rId3">
            <a:extLst>
              <a:ext uri="{28A0092B-C50C-407E-A947-70E740481C1C}">
                <a14:useLocalDpi xmlns:a14="http://schemas.microsoft.com/office/drawing/2010/main" val="0"/>
              </a:ext>
            </a:extLst>
          </a:blip>
          <a:srcRect l="33750"/>
          <a:stretch/>
        </p:blipFill>
        <p:spPr>
          <a:xfrm>
            <a:off x="-1" y="1986940"/>
            <a:ext cx="3392000" cy="2880000"/>
          </a:xfrm>
          <a:prstGeom prst="rect">
            <a:avLst/>
          </a:prstGeom>
        </p:spPr>
      </p:pic>
      <p:sp>
        <p:nvSpPr>
          <p:cNvPr id="6" name="Rectangle 5">
            <a:extLst>
              <a:ext uri="{FF2B5EF4-FFF2-40B4-BE49-F238E27FC236}">
                <a16:creationId xmlns:a16="http://schemas.microsoft.com/office/drawing/2014/main" id="{0C735B35-A321-45BB-9B2B-0205F3F423F2}"/>
              </a:ext>
            </a:extLst>
          </p:cNvPr>
          <p:cNvSpPr/>
          <p:nvPr/>
        </p:nvSpPr>
        <p:spPr>
          <a:xfrm>
            <a:off x="6596059" y="6488668"/>
            <a:ext cx="5595941" cy="369332"/>
          </a:xfrm>
          <a:prstGeom prst="rect">
            <a:avLst/>
          </a:prstGeom>
        </p:spPr>
        <p:txBody>
          <a:bodyPr wrap="square">
            <a:spAutoFit/>
          </a:bodyPr>
          <a:lstStyle/>
          <a:p>
            <a:pPr lvl="0" algn="r" defTabSz="914400">
              <a:defRPr/>
            </a:pPr>
            <a:r>
              <a:rPr kumimoji="0" lang="de-DE" sz="1800" b="0" i="1" u="sng" strike="noStrike" kern="0" cap="none" spc="0" normalizeH="0" baseline="0" noProof="0" dirty="0" err="1">
                <a:ln>
                  <a:noFill/>
                </a:ln>
                <a:effectLst/>
                <a:uLnTx/>
                <a:uFillTx/>
              </a:rPr>
              <a:t>Photos</a:t>
            </a:r>
            <a:r>
              <a:rPr kumimoji="0" lang="de-DE" sz="1800" b="0" i="1" u="sng" strike="noStrike" kern="0" cap="none" spc="0" normalizeH="0" baseline="0" noProof="0" dirty="0">
                <a:ln>
                  <a:noFill/>
                </a:ln>
                <a:effectLst/>
                <a:uLnTx/>
                <a:uFillTx/>
              </a:rPr>
              <a:t> </a:t>
            </a:r>
            <a:r>
              <a:rPr kumimoji="0" lang="de-DE" sz="1800" b="0" i="1" u="sng" strike="noStrike" kern="0" cap="none" spc="0" normalizeH="0" baseline="0" noProof="0" dirty="0" err="1">
                <a:ln>
                  <a:noFill/>
                </a:ln>
                <a:effectLst/>
                <a:uLnTx/>
                <a:uFillTx/>
              </a:rPr>
              <a:t>by</a:t>
            </a:r>
            <a:r>
              <a:rPr kumimoji="0" lang="de-DE" sz="1800" b="0" i="1" u="none" strike="noStrike" kern="0" cap="none" spc="0" normalizeH="0" baseline="0" noProof="0" dirty="0">
                <a:ln>
                  <a:noFill/>
                </a:ln>
                <a:effectLst/>
                <a:uLnTx/>
                <a:uFillTx/>
              </a:rPr>
              <a:t>:</a:t>
            </a:r>
            <a:r>
              <a:rPr kumimoji="0" lang="de-DE" sz="1800" b="0" i="1" u="none" strike="noStrike" kern="0" cap="none" spc="0" normalizeH="0" noProof="0" dirty="0">
                <a:ln>
                  <a:noFill/>
                </a:ln>
                <a:effectLst/>
                <a:uLnTx/>
                <a:uFillTx/>
              </a:rPr>
              <a:t> </a:t>
            </a:r>
            <a:r>
              <a:rPr lang="en-US" i="1" kern="0" dirty="0"/>
              <a:t>Bruno </a:t>
            </a:r>
            <a:r>
              <a:rPr lang="en-US" i="1" kern="0" dirty="0" err="1"/>
              <a:t>Kelzer</a:t>
            </a:r>
            <a:r>
              <a:rPr lang="en-US" i="1" kern="0" dirty="0"/>
              <a:t>, Johann Siemens</a:t>
            </a:r>
            <a:endParaRPr kumimoji="0" lang="en-US" sz="1800" b="0" i="1" u="none" strike="noStrike" kern="0" cap="none" spc="0" normalizeH="0" baseline="0" noProof="0" dirty="0">
              <a:ln>
                <a:noFill/>
              </a:ln>
              <a:effectLst/>
              <a:uLnTx/>
              <a:uFillTx/>
            </a:endParaRPr>
          </a:p>
        </p:txBody>
      </p:sp>
      <p:pic>
        <p:nvPicPr>
          <p:cNvPr id="8" name="Picture 7" descr="A tree in a field&#10;&#10;Description automatically generated with medium confidence">
            <a:extLst>
              <a:ext uri="{FF2B5EF4-FFF2-40B4-BE49-F238E27FC236}">
                <a16:creationId xmlns:a16="http://schemas.microsoft.com/office/drawing/2014/main" id="{86928A8D-C117-487A-AF31-D8A7080FC7F9}"/>
              </a:ext>
            </a:extLst>
          </p:cNvPr>
          <p:cNvPicPr>
            <a:picLocks noChangeAspect="1"/>
          </p:cNvPicPr>
          <p:nvPr/>
        </p:nvPicPr>
        <p:blipFill rotWithShape="1">
          <a:blip r:embed="rId4">
            <a:extLst>
              <a:ext uri="{28A0092B-C50C-407E-A947-70E740481C1C}">
                <a14:useLocalDpi xmlns:a14="http://schemas.microsoft.com/office/drawing/2010/main" val="0"/>
              </a:ext>
            </a:extLst>
          </a:blip>
          <a:srcRect l="35826"/>
          <a:stretch/>
        </p:blipFill>
        <p:spPr>
          <a:xfrm>
            <a:off x="5446985" y="1986940"/>
            <a:ext cx="2789763" cy="2880000"/>
          </a:xfrm>
          <a:prstGeom prst="rect">
            <a:avLst/>
          </a:prstGeom>
        </p:spPr>
      </p:pic>
      <p:sp>
        <p:nvSpPr>
          <p:cNvPr id="9" name="TextBox 8">
            <a:extLst>
              <a:ext uri="{FF2B5EF4-FFF2-40B4-BE49-F238E27FC236}">
                <a16:creationId xmlns:a16="http://schemas.microsoft.com/office/drawing/2014/main" id="{5EE8237A-6909-4BED-923E-55CB8A9296C9}"/>
              </a:ext>
            </a:extLst>
          </p:cNvPr>
          <p:cNvSpPr txBox="1"/>
          <p:nvPr/>
        </p:nvSpPr>
        <p:spPr>
          <a:xfrm>
            <a:off x="3752193" y="2611332"/>
            <a:ext cx="1324303" cy="1631216"/>
          </a:xfrm>
          <a:prstGeom prst="rect">
            <a:avLst/>
          </a:prstGeom>
          <a:noFill/>
        </p:spPr>
        <p:txBody>
          <a:bodyPr wrap="square" rtlCol="0">
            <a:spAutoFit/>
          </a:bodyPr>
          <a:lstStyle/>
          <a:p>
            <a:pPr algn="ctr"/>
            <a:r>
              <a:rPr lang="en-US" sz="10000" dirty="0"/>
              <a:t>+</a:t>
            </a:r>
          </a:p>
        </p:txBody>
      </p:sp>
      <p:sp>
        <p:nvSpPr>
          <p:cNvPr id="10" name="TextBox 9">
            <a:extLst>
              <a:ext uri="{FF2B5EF4-FFF2-40B4-BE49-F238E27FC236}">
                <a16:creationId xmlns:a16="http://schemas.microsoft.com/office/drawing/2014/main" id="{84055515-23A4-44AB-B5F5-8CE9DC8C9DD9}"/>
              </a:ext>
            </a:extLst>
          </p:cNvPr>
          <p:cNvSpPr txBox="1"/>
          <p:nvPr/>
        </p:nvSpPr>
        <p:spPr>
          <a:xfrm>
            <a:off x="8253983" y="2611332"/>
            <a:ext cx="1869154" cy="1631216"/>
          </a:xfrm>
          <a:prstGeom prst="rect">
            <a:avLst/>
          </a:prstGeom>
          <a:noFill/>
        </p:spPr>
        <p:txBody>
          <a:bodyPr wrap="square" rtlCol="0">
            <a:spAutoFit/>
          </a:bodyPr>
          <a:lstStyle/>
          <a:p>
            <a:pPr algn="ctr"/>
            <a:r>
              <a:rPr lang="en-US" sz="10000" dirty="0"/>
              <a:t>= ?</a:t>
            </a:r>
          </a:p>
        </p:txBody>
      </p:sp>
      <p:sp>
        <p:nvSpPr>
          <p:cNvPr id="11" name="TextBox 10">
            <a:extLst>
              <a:ext uri="{FF2B5EF4-FFF2-40B4-BE49-F238E27FC236}">
                <a16:creationId xmlns:a16="http://schemas.microsoft.com/office/drawing/2014/main" id="{F2F7A1CD-2D3E-4F5A-BAB0-BDD9045D4553}"/>
              </a:ext>
            </a:extLst>
          </p:cNvPr>
          <p:cNvSpPr txBox="1"/>
          <p:nvPr/>
        </p:nvSpPr>
        <p:spPr>
          <a:xfrm>
            <a:off x="0" y="4866940"/>
            <a:ext cx="3391999" cy="553998"/>
          </a:xfrm>
          <a:prstGeom prst="rect">
            <a:avLst/>
          </a:prstGeom>
          <a:noFill/>
        </p:spPr>
        <p:txBody>
          <a:bodyPr wrap="square" rtlCol="0">
            <a:spAutoFit/>
          </a:bodyPr>
          <a:lstStyle/>
          <a:p>
            <a:pPr algn="ctr"/>
            <a:r>
              <a:rPr lang="en-US" sz="3000" dirty="0"/>
              <a:t>CART algorithm</a:t>
            </a:r>
          </a:p>
        </p:txBody>
      </p:sp>
      <p:pic>
        <p:nvPicPr>
          <p:cNvPr id="13" name="Picture 12">
            <a:extLst>
              <a:ext uri="{FF2B5EF4-FFF2-40B4-BE49-F238E27FC236}">
                <a16:creationId xmlns:a16="http://schemas.microsoft.com/office/drawing/2014/main" id="{893566C4-8F28-4E26-A705-1AFB29CFD0FC}"/>
              </a:ext>
            </a:extLst>
          </p:cNvPr>
          <p:cNvPicPr>
            <a:picLocks noChangeAspect="1"/>
          </p:cNvPicPr>
          <p:nvPr/>
        </p:nvPicPr>
        <p:blipFill>
          <a:blip r:embed="rId5"/>
          <a:stretch>
            <a:fillRect/>
          </a:stretch>
        </p:blipFill>
        <p:spPr>
          <a:xfrm>
            <a:off x="-2" y="5419493"/>
            <a:ext cx="3391999" cy="663652"/>
          </a:xfrm>
          <a:prstGeom prst="rect">
            <a:avLst/>
          </a:prstGeom>
        </p:spPr>
      </p:pic>
      <p:pic>
        <p:nvPicPr>
          <p:cNvPr id="16" name="Picture 15">
            <a:extLst>
              <a:ext uri="{FF2B5EF4-FFF2-40B4-BE49-F238E27FC236}">
                <a16:creationId xmlns:a16="http://schemas.microsoft.com/office/drawing/2014/main" id="{E7581789-4357-44CD-A1A3-28D216D16A56}"/>
              </a:ext>
            </a:extLst>
          </p:cNvPr>
          <p:cNvPicPr>
            <a:picLocks noChangeAspect="1"/>
          </p:cNvPicPr>
          <p:nvPr/>
        </p:nvPicPr>
        <p:blipFill>
          <a:blip r:embed="rId6"/>
          <a:stretch>
            <a:fillRect/>
          </a:stretch>
        </p:blipFill>
        <p:spPr>
          <a:xfrm>
            <a:off x="1580764" y="6083145"/>
            <a:ext cx="1811234" cy="780224"/>
          </a:xfrm>
          <a:prstGeom prst="rect">
            <a:avLst/>
          </a:prstGeom>
        </p:spPr>
      </p:pic>
      <p:sp>
        <p:nvSpPr>
          <p:cNvPr id="17" name="TextBox 16">
            <a:extLst>
              <a:ext uri="{FF2B5EF4-FFF2-40B4-BE49-F238E27FC236}">
                <a16:creationId xmlns:a16="http://schemas.microsoft.com/office/drawing/2014/main" id="{BB4149AD-1FD4-4510-87FC-D64EEBEF242C}"/>
              </a:ext>
            </a:extLst>
          </p:cNvPr>
          <p:cNvSpPr txBox="1"/>
          <p:nvPr/>
        </p:nvSpPr>
        <p:spPr>
          <a:xfrm>
            <a:off x="-56018" y="5941251"/>
            <a:ext cx="1636777" cy="1015663"/>
          </a:xfrm>
          <a:prstGeom prst="rect">
            <a:avLst/>
          </a:prstGeom>
          <a:noFill/>
        </p:spPr>
        <p:txBody>
          <a:bodyPr wrap="square" rtlCol="0">
            <a:spAutoFit/>
          </a:bodyPr>
          <a:lstStyle/>
          <a:p>
            <a:pPr algn="l"/>
            <a:r>
              <a:rPr lang="en-US" sz="3000" dirty="0"/>
              <a:t>Gini impurity:</a:t>
            </a:r>
          </a:p>
        </p:txBody>
      </p:sp>
      <p:sp>
        <p:nvSpPr>
          <p:cNvPr id="18" name="TextBox 17">
            <a:extLst>
              <a:ext uri="{FF2B5EF4-FFF2-40B4-BE49-F238E27FC236}">
                <a16:creationId xmlns:a16="http://schemas.microsoft.com/office/drawing/2014/main" id="{EE191885-0F94-435E-8222-293CA8B7713A}"/>
              </a:ext>
            </a:extLst>
          </p:cNvPr>
          <p:cNvSpPr txBox="1"/>
          <p:nvPr/>
        </p:nvSpPr>
        <p:spPr>
          <a:xfrm>
            <a:off x="5446983" y="4866940"/>
            <a:ext cx="2853562" cy="553998"/>
          </a:xfrm>
          <a:prstGeom prst="rect">
            <a:avLst/>
          </a:prstGeom>
          <a:noFill/>
        </p:spPr>
        <p:txBody>
          <a:bodyPr wrap="square" rtlCol="0">
            <a:spAutoFit/>
          </a:bodyPr>
          <a:lstStyle/>
          <a:p>
            <a:pPr algn="ctr"/>
            <a:r>
              <a:rPr lang="en-US" sz="3000" dirty="0"/>
              <a:t>Decision tree</a:t>
            </a:r>
          </a:p>
        </p:txBody>
      </p:sp>
      <p:sp>
        <p:nvSpPr>
          <p:cNvPr id="19" name="TextBox 18">
            <a:extLst>
              <a:ext uri="{FF2B5EF4-FFF2-40B4-BE49-F238E27FC236}">
                <a16:creationId xmlns:a16="http://schemas.microsoft.com/office/drawing/2014/main" id="{708E9D91-79DA-4C97-B416-72B3679C189B}"/>
              </a:ext>
            </a:extLst>
          </p:cNvPr>
          <p:cNvSpPr txBox="1"/>
          <p:nvPr/>
        </p:nvSpPr>
        <p:spPr>
          <a:xfrm>
            <a:off x="3520035" y="5419493"/>
            <a:ext cx="3076023" cy="1015663"/>
          </a:xfrm>
          <a:prstGeom prst="rect">
            <a:avLst/>
          </a:prstGeom>
          <a:noFill/>
        </p:spPr>
        <p:txBody>
          <a:bodyPr wrap="square" rtlCol="0">
            <a:spAutoFit/>
          </a:bodyPr>
          <a:lstStyle/>
          <a:p>
            <a:pPr algn="l"/>
            <a:r>
              <a:rPr lang="en-US" sz="3000" dirty="0" err="1"/>
              <a:t>min_samples_split</a:t>
            </a:r>
            <a:endParaRPr lang="en-US" sz="3000" dirty="0"/>
          </a:p>
          <a:p>
            <a:pPr algn="l"/>
            <a:r>
              <a:rPr lang="en-US" sz="3000" dirty="0" err="1"/>
              <a:t>min_samples_leaf</a:t>
            </a:r>
            <a:endParaRPr lang="en-US" sz="3000" dirty="0"/>
          </a:p>
        </p:txBody>
      </p:sp>
      <p:sp>
        <p:nvSpPr>
          <p:cNvPr id="20" name="TextBox 19">
            <a:extLst>
              <a:ext uri="{FF2B5EF4-FFF2-40B4-BE49-F238E27FC236}">
                <a16:creationId xmlns:a16="http://schemas.microsoft.com/office/drawing/2014/main" id="{E11CD29D-D867-400F-B01A-0723DF970CD2}"/>
              </a:ext>
            </a:extLst>
          </p:cNvPr>
          <p:cNvSpPr txBox="1"/>
          <p:nvPr/>
        </p:nvSpPr>
        <p:spPr>
          <a:xfrm>
            <a:off x="6803397" y="5419492"/>
            <a:ext cx="2761390" cy="1015663"/>
          </a:xfrm>
          <a:prstGeom prst="rect">
            <a:avLst/>
          </a:prstGeom>
          <a:noFill/>
        </p:spPr>
        <p:txBody>
          <a:bodyPr wrap="square" rtlCol="0">
            <a:spAutoFit/>
          </a:bodyPr>
          <a:lstStyle/>
          <a:p>
            <a:pPr algn="r"/>
            <a:r>
              <a:rPr lang="en-US" sz="3000" dirty="0" err="1"/>
              <a:t>max_leaf_nodes</a:t>
            </a:r>
            <a:endParaRPr lang="en-US" sz="3000" dirty="0"/>
          </a:p>
          <a:p>
            <a:pPr algn="r"/>
            <a:r>
              <a:rPr lang="en-US" sz="3000" dirty="0" err="1"/>
              <a:t>max_features</a:t>
            </a:r>
            <a:endParaRPr lang="en-US" sz="3000" dirty="0"/>
          </a:p>
        </p:txBody>
      </p:sp>
      <p:cxnSp>
        <p:nvCxnSpPr>
          <p:cNvPr id="22" name="Straight Connector 21">
            <a:extLst>
              <a:ext uri="{FF2B5EF4-FFF2-40B4-BE49-F238E27FC236}">
                <a16:creationId xmlns:a16="http://schemas.microsoft.com/office/drawing/2014/main" id="{CD7769F1-A5B9-4514-AB0F-791AB16B89B6}"/>
              </a:ext>
            </a:extLst>
          </p:cNvPr>
          <p:cNvCxnSpPr/>
          <p:nvPr/>
        </p:nvCxnSpPr>
        <p:spPr>
          <a:xfrm>
            <a:off x="6714384" y="5560925"/>
            <a:ext cx="0" cy="76065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6D1710B7-B221-4704-A649-865BC8BCCD44}"/>
              </a:ext>
            </a:extLst>
          </p:cNvPr>
          <p:cNvCxnSpPr>
            <a:cxnSpLocks/>
          </p:cNvCxnSpPr>
          <p:nvPr/>
        </p:nvCxnSpPr>
        <p:spPr>
          <a:xfrm flipV="1">
            <a:off x="3520035" y="5502585"/>
            <a:ext cx="0" cy="9325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903B60C2-E135-4688-8189-F1F61AAE8930}"/>
              </a:ext>
            </a:extLst>
          </p:cNvPr>
          <p:cNvCxnSpPr>
            <a:cxnSpLocks/>
          </p:cNvCxnSpPr>
          <p:nvPr/>
        </p:nvCxnSpPr>
        <p:spPr>
          <a:xfrm>
            <a:off x="9564787" y="5474966"/>
            <a:ext cx="0" cy="9325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4325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par>
                                <p:cTn id="18" presetID="10" presetClass="entr" presetSubtype="0" fill="hold"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500"/>
                                        <p:tgtEl>
                                          <p:spTgt spid="20"/>
                                        </p:tgtEl>
                                      </p:cBhvr>
                                    </p:animEffect>
                                  </p:childTnLst>
                                </p:cTn>
                              </p:par>
                              <p:par>
                                <p:cTn id="34" presetID="10" presetClass="entr" presetSubtype="0" fill="hold"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500"/>
                                        <p:tgtEl>
                                          <p:spTgt spid="2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500"/>
                                        <p:tgtEl>
                                          <p:spTgt spid="24"/>
                                        </p:tgtEl>
                                      </p:cBhvr>
                                    </p:animEffect>
                                  </p:childTnLst>
                                </p:cTn>
                              </p:par>
                              <p:par>
                                <p:cTn id="42" presetID="10" presetClass="entr" presetSubtype="0" fill="hold"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7" grpId="0"/>
      <p:bldP spid="18" grpId="0"/>
      <p:bldP spid="19" grpId="0"/>
      <p:bldP spid="2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CACD1-983B-4600-9328-00EB371C1DB5}"/>
              </a:ext>
            </a:extLst>
          </p:cNvPr>
          <p:cNvSpPr>
            <a:spLocks noGrp="1"/>
          </p:cNvSpPr>
          <p:nvPr>
            <p:ph type="title"/>
          </p:nvPr>
        </p:nvSpPr>
        <p:spPr>
          <a:xfrm>
            <a:off x="-2" y="1042632"/>
            <a:ext cx="12192000" cy="944307"/>
          </a:xfrm>
        </p:spPr>
        <p:txBody>
          <a:bodyPr/>
          <a:lstStyle/>
          <a:p>
            <a:r>
              <a:rPr lang="en-US" dirty="0"/>
              <a:t>How can we train or “grow” a decision tree?</a:t>
            </a:r>
          </a:p>
        </p:txBody>
      </p:sp>
      <p:sp>
        <p:nvSpPr>
          <p:cNvPr id="3" name="Slide Number Placeholder 2">
            <a:extLst>
              <a:ext uri="{FF2B5EF4-FFF2-40B4-BE49-F238E27FC236}">
                <a16:creationId xmlns:a16="http://schemas.microsoft.com/office/drawing/2014/main" id="{94C498FD-247D-4421-A1BA-8713D6276D60}"/>
              </a:ext>
            </a:extLst>
          </p:cNvPr>
          <p:cNvSpPr>
            <a:spLocks noGrp="1"/>
          </p:cNvSpPr>
          <p:nvPr>
            <p:ph type="sldNum" sz="quarter" idx="12"/>
          </p:nvPr>
        </p:nvSpPr>
        <p:spPr/>
        <p:txBody>
          <a:bodyPr/>
          <a:lstStyle/>
          <a:p>
            <a:fld id="{A5686A01-FA10-4E06-92C7-92734750F4C6}" type="slidenum">
              <a:rPr lang="en-US" smtClean="0"/>
              <a:t>15</a:t>
            </a:fld>
            <a:endParaRPr lang="en-US"/>
          </a:p>
        </p:txBody>
      </p:sp>
      <p:pic>
        <p:nvPicPr>
          <p:cNvPr id="5" name="Picture 4" descr="A picture containing outdoor, grass, handcart, transport&#10;&#10;Description automatically generated">
            <a:extLst>
              <a:ext uri="{FF2B5EF4-FFF2-40B4-BE49-F238E27FC236}">
                <a16:creationId xmlns:a16="http://schemas.microsoft.com/office/drawing/2014/main" id="{FC94914E-C03C-4D2D-8105-4E1893A1E135}"/>
              </a:ext>
            </a:extLst>
          </p:cNvPr>
          <p:cNvPicPr>
            <a:picLocks noChangeAspect="1"/>
          </p:cNvPicPr>
          <p:nvPr/>
        </p:nvPicPr>
        <p:blipFill rotWithShape="1">
          <a:blip r:embed="rId3">
            <a:extLst>
              <a:ext uri="{28A0092B-C50C-407E-A947-70E740481C1C}">
                <a14:useLocalDpi xmlns:a14="http://schemas.microsoft.com/office/drawing/2010/main" val="0"/>
              </a:ext>
            </a:extLst>
          </a:blip>
          <a:srcRect l="33750"/>
          <a:stretch/>
        </p:blipFill>
        <p:spPr>
          <a:xfrm>
            <a:off x="-1" y="1986940"/>
            <a:ext cx="3392000" cy="2880000"/>
          </a:xfrm>
          <a:prstGeom prst="rect">
            <a:avLst/>
          </a:prstGeom>
        </p:spPr>
      </p:pic>
      <p:sp>
        <p:nvSpPr>
          <p:cNvPr id="6" name="Rectangle 5">
            <a:extLst>
              <a:ext uri="{FF2B5EF4-FFF2-40B4-BE49-F238E27FC236}">
                <a16:creationId xmlns:a16="http://schemas.microsoft.com/office/drawing/2014/main" id="{0C735B35-A321-45BB-9B2B-0205F3F423F2}"/>
              </a:ext>
            </a:extLst>
          </p:cNvPr>
          <p:cNvSpPr/>
          <p:nvPr/>
        </p:nvSpPr>
        <p:spPr>
          <a:xfrm>
            <a:off x="6596059" y="6488668"/>
            <a:ext cx="5595941" cy="369332"/>
          </a:xfrm>
          <a:prstGeom prst="rect">
            <a:avLst/>
          </a:prstGeom>
        </p:spPr>
        <p:txBody>
          <a:bodyPr wrap="square">
            <a:spAutoFit/>
          </a:bodyPr>
          <a:lstStyle/>
          <a:p>
            <a:pPr lvl="0" algn="r" defTabSz="914400">
              <a:defRPr/>
            </a:pPr>
            <a:r>
              <a:rPr kumimoji="0" lang="de-DE" sz="1800" b="0" i="1" u="sng" strike="noStrike" kern="0" cap="none" spc="0" normalizeH="0" baseline="0" noProof="0" dirty="0" err="1">
                <a:ln>
                  <a:noFill/>
                </a:ln>
                <a:effectLst/>
                <a:uLnTx/>
                <a:uFillTx/>
              </a:rPr>
              <a:t>Photos</a:t>
            </a:r>
            <a:r>
              <a:rPr kumimoji="0" lang="de-DE" sz="1800" b="0" i="1" u="sng" strike="noStrike" kern="0" cap="none" spc="0" normalizeH="0" baseline="0" noProof="0" dirty="0">
                <a:ln>
                  <a:noFill/>
                </a:ln>
                <a:effectLst/>
                <a:uLnTx/>
                <a:uFillTx/>
              </a:rPr>
              <a:t> </a:t>
            </a:r>
            <a:r>
              <a:rPr kumimoji="0" lang="de-DE" sz="1800" b="0" i="1" u="sng" strike="noStrike" kern="0" cap="none" spc="0" normalizeH="0" baseline="0" noProof="0" dirty="0" err="1">
                <a:ln>
                  <a:noFill/>
                </a:ln>
                <a:effectLst/>
                <a:uLnTx/>
                <a:uFillTx/>
              </a:rPr>
              <a:t>by</a:t>
            </a:r>
            <a:r>
              <a:rPr kumimoji="0" lang="de-DE" sz="1800" b="0" i="1" u="none" strike="noStrike" kern="0" cap="none" spc="0" normalizeH="0" baseline="0" noProof="0" dirty="0">
                <a:ln>
                  <a:noFill/>
                </a:ln>
                <a:effectLst/>
                <a:uLnTx/>
                <a:uFillTx/>
              </a:rPr>
              <a:t>:</a:t>
            </a:r>
            <a:r>
              <a:rPr kumimoji="0" lang="de-DE" sz="1800" b="0" i="1" u="none" strike="noStrike" kern="0" cap="none" spc="0" normalizeH="0" noProof="0" dirty="0">
                <a:ln>
                  <a:noFill/>
                </a:ln>
                <a:effectLst/>
                <a:uLnTx/>
                <a:uFillTx/>
              </a:rPr>
              <a:t> </a:t>
            </a:r>
            <a:r>
              <a:rPr lang="en-US" i="1" kern="0" dirty="0"/>
              <a:t>Bruno </a:t>
            </a:r>
            <a:r>
              <a:rPr lang="en-US" i="1" kern="0" dirty="0" err="1"/>
              <a:t>Kelzer</a:t>
            </a:r>
            <a:r>
              <a:rPr lang="en-US" i="1" kern="0" dirty="0"/>
              <a:t>, Johann Siemens</a:t>
            </a:r>
            <a:endParaRPr kumimoji="0" lang="en-US" sz="1800" b="0" i="1" u="none" strike="noStrike" kern="0" cap="none" spc="0" normalizeH="0" baseline="0" noProof="0" dirty="0">
              <a:ln>
                <a:noFill/>
              </a:ln>
              <a:effectLst/>
              <a:uLnTx/>
              <a:uFillTx/>
            </a:endParaRPr>
          </a:p>
        </p:txBody>
      </p:sp>
      <p:pic>
        <p:nvPicPr>
          <p:cNvPr id="8" name="Picture 7" descr="A tree in a field&#10;&#10;Description automatically generated with medium confidence">
            <a:extLst>
              <a:ext uri="{FF2B5EF4-FFF2-40B4-BE49-F238E27FC236}">
                <a16:creationId xmlns:a16="http://schemas.microsoft.com/office/drawing/2014/main" id="{86928A8D-C117-487A-AF31-D8A7080FC7F9}"/>
              </a:ext>
            </a:extLst>
          </p:cNvPr>
          <p:cNvPicPr>
            <a:picLocks noChangeAspect="1"/>
          </p:cNvPicPr>
          <p:nvPr/>
        </p:nvPicPr>
        <p:blipFill rotWithShape="1">
          <a:blip r:embed="rId4">
            <a:extLst>
              <a:ext uri="{28A0092B-C50C-407E-A947-70E740481C1C}">
                <a14:useLocalDpi xmlns:a14="http://schemas.microsoft.com/office/drawing/2010/main" val="0"/>
              </a:ext>
            </a:extLst>
          </a:blip>
          <a:srcRect l="35826"/>
          <a:stretch/>
        </p:blipFill>
        <p:spPr>
          <a:xfrm>
            <a:off x="4182741" y="1986940"/>
            <a:ext cx="2789763" cy="2880000"/>
          </a:xfrm>
          <a:prstGeom prst="rect">
            <a:avLst/>
          </a:prstGeom>
        </p:spPr>
      </p:pic>
      <p:sp>
        <p:nvSpPr>
          <p:cNvPr id="9" name="TextBox 8">
            <a:extLst>
              <a:ext uri="{FF2B5EF4-FFF2-40B4-BE49-F238E27FC236}">
                <a16:creationId xmlns:a16="http://schemas.microsoft.com/office/drawing/2014/main" id="{5EE8237A-6909-4BED-923E-55CB8A9296C9}"/>
              </a:ext>
            </a:extLst>
          </p:cNvPr>
          <p:cNvSpPr txBox="1"/>
          <p:nvPr/>
        </p:nvSpPr>
        <p:spPr>
          <a:xfrm>
            <a:off x="3177442" y="2611332"/>
            <a:ext cx="1324303" cy="1631216"/>
          </a:xfrm>
          <a:prstGeom prst="rect">
            <a:avLst/>
          </a:prstGeom>
          <a:noFill/>
        </p:spPr>
        <p:txBody>
          <a:bodyPr wrap="square" rtlCol="0">
            <a:spAutoFit/>
          </a:bodyPr>
          <a:lstStyle/>
          <a:p>
            <a:pPr algn="ctr"/>
            <a:r>
              <a:rPr lang="en-US" sz="10000" dirty="0"/>
              <a:t>+</a:t>
            </a:r>
          </a:p>
        </p:txBody>
      </p:sp>
      <p:sp>
        <p:nvSpPr>
          <p:cNvPr id="10" name="TextBox 9">
            <a:extLst>
              <a:ext uri="{FF2B5EF4-FFF2-40B4-BE49-F238E27FC236}">
                <a16:creationId xmlns:a16="http://schemas.microsoft.com/office/drawing/2014/main" id="{84055515-23A4-44AB-B5F5-8CE9DC8C9DD9}"/>
              </a:ext>
            </a:extLst>
          </p:cNvPr>
          <p:cNvSpPr txBox="1"/>
          <p:nvPr/>
        </p:nvSpPr>
        <p:spPr>
          <a:xfrm>
            <a:off x="6596058" y="2611332"/>
            <a:ext cx="1440523" cy="1631216"/>
          </a:xfrm>
          <a:prstGeom prst="rect">
            <a:avLst/>
          </a:prstGeom>
          <a:noFill/>
        </p:spPr>
        <p:txBody>
          <a:bodyPr wrap="square" rtlCol="0">
            <a:spAutoFit/>
          </a:bodyPr>
          <a:lstStyle/>
          <a:p>
            <a:pPr algn="ctr"/>
            <a:r>
              <a:rPr lang="en-US" sz="10000" dirty="0"/>
              <a:t>=</a:t>
            </a:r>
          </a:p>
        </p:txBody>
      </p:sp>
      <p:sp>
        <p:nvSpPr>
          <p:cNvPr id="11" name="TextBox 10">
            <a:extLst>
              <a:ext uri="{FF2B5EF4-FFF2-40B4-BE49-F238E27FC236}">
                <a16:creationId xmlns:a16="http://schemas.microsoft.com/office/drawing/2014/main" id="{F2F7A1CD-2D3E-4F5A-BAB0-BDD9045D4553}"/>
              </a:ext>
            </a:extLst>
          </p:cNvPr>
          <p:cNvSpPr txBox="1"/>
          <p:nvPr/>
        </p:nvSpPr>
        <p:spPr>
          <a:xfrm>
            <a:off x="0" y="4866940"/>
            <a:ext cx="3391999" cy="553998"/>
          </a:xfrm>
          <a:prstGeom prst="rect">
            <a:avLst/>
          </a:prstGeom>
          <a:noFill/>
        </p:spPr>
        <p:txBody>
          <a:bodyPr wrap="square" rtlCol="0">
            <a:spAutoFit/>
          </a:bodyPr>
          <a:lstStyle/>
          <a:p>
            <a:pPr algn="ctr"/>
            <a:r>
              <a:rPr lang="en-US" sz="3000" dirty="0"/>
              <a:t>CART algorithm</a:t>
            </a:r>
          </a:p>
        </p:txBody>
      </p:sp>
      <p:pic>
        <p:nvPicPr>
          <p:cNvPr id="13" name="Picture 12">
            <a:extLst>
              <a:ext uri="{FF2B5EF4-FFF2-40B4-BE49-F238E27FC236}">
                <a16:creationId xmlns:a16="http://schemas.microsoft.com/office/drawing/2014/main" id="{893566C4-8F28-4E26-A705-1AFB29CFD0FC}"/>
              </a:ext>
            </a:extLst>
          </p:cNvPr>
          <p:cNvPicPr>
            <a:picLocks noChangeAspect="1"/>
          </p:cNvPicPr>
          <p:nvPr/>
        </p:nvPicPr>
        <p:blipFill>
          <a:blip r:embed="rId5"/>
          <a:stretch>
            <a:fillRect/>
          </a:stretch>
        </p:blipFill>
        <p:spPr>
          <a:xfrm>
            <a:off x="-2" y="5419493"/>
            <a:ext cx="3391999" cy="663652"/>
          </a:xfrm>
          <a:prstGeom prst="rect">
            <a:avLst/>
          </a:prstGeom>
        </p:spPr>
      </p:pic>
      <p:pic>
        <p:nvPicPr>
          <p:cNvPr id="16" name="Picture 15">
            <a:extLst>
              <a:ext uri="{FF2B5EF4-FFF2-40B4-BE49-F238E27FC236}">
                <a16:creationId xmlns:a16="http://schemas.microsoft.com/office/drawing/2014/main" id="{E7581789-4357-44CD-A1A3-28D216D16A56}"/>
              </a:ext>
            </a:extLst>
          </p:cNvPr>
          <p:cNvPicPr>
            <a:picLocks noChangeAspect="1"/>
          </p:cNvPicPr>
          <p:nvPr/>
        </p:nvPicPr>
        <p:blipFill>
          <a:blip r:embed="rId6"/>
          <a:stretch>
            <a:fillRect/>
          </a:stretch>
        </p:blipFill>
        <p:spPr>
          <a:xfrm>
            <a:off x="1580764" y="6083145"/>
            <a:ext cx="1811234" cy="780224"/>
          </a:xfrm>
          <a:prstGeom prst="rect">
            <a:avLst/>
          </a:prstGeom>
        </p:spPr>
      </p:pic>
      <p:sp>
        <p:nvSpPr>
          <p:cNvPr id="17" name="TextBox 16">
            <a:extLst>
              <a:ext uri="{FF2B5EF4-FFF2-40B4-BE49-F238E27FC236}">
                <a16:creationId xmlns:a16="http://schemas.microsoft.com/office/drawing/2014/main" id="{BB4149AD-1FD4-4510-87FC-D64EEBEF242C}"/>
              </a:ext>
            </a:extLst>
          </p:cNvPr>
          <p:cNvSpPr txBox="1"/>
          <p:nvPr/>
        </p:nvSpPr>
        <p:spPr>
          <a:xfrm>
            <a:off x="-56018" y="5941251"/>
            <a:ext cx="1636777" cy="1015663"/>
          </a:xfrm>
          <a:prstGeom prst="rect">
            <a:avLst/>
          </a:prstGeom>
          <a:noFill/>
        </p:spPr>
        <p:txBody>
          <a:bodyPr wrap="square" rtlCol="0">
            <a:spAutoFit/>
          </a:bodyPr>
          <a:lstStyle/>
          <a:p>
            <a:pPr algn="l"/>
            <a:r>
              <a:rPr lang="en-US" sz="3000" dirty="0"/>
              <a:t>Gini impurity:</a:t>
            </a:r>
          </a:p>
        </p:txBody>
      </p:sp>
      <p:sp>
        <p:nvSpPr>
          <p:cNvPr id="18" name="TextBox 17">
            <a:extLst>
              <a:ext uri="{FF2B5EF4-FFF2-40B4-BE49-F238E27FC236}">
                <a16:creationId xmlns:a16="http://schemas.microsoft.com/office/drawing/2014/main" id="{EE191885-0F94-435E-8222-293CA8B7713A}"/>
              </a:ext>
            </a:extLst>
          </p:cNvPr>
          <p:cNvSpPr txBox="1"/>
          <p:nvPr/>
        </p:nvSpPr>
        <p:spPr>
          <a:xfrm>
            <a:off x="4182739" y="4866940"/>
            <a:ext cx="2789762" cy="553998"/>
          </a:xfrm>
          <a:prstGeom prst="rect">
            <a:avLst/>
          </a:prstGeom>
          <a:noFill/>
        </p:spPr>
        <p:txBody>
          <a:bodyPr wrap="square" rtlCol="0">
            <a:spAutoFit/>
          </a:bodyPr>
          <a:lstStyle/>
          <a:p>
            <a:pPr algn="ctr"/>
            <a:r>
              <a:rPr lang="en-US" sz="3000" dirty="0"/>
              <a:t>Decision tree</a:t>
            </a:r>
          </a:p>
        </p:txBody>
      </p:sp>
      <p:sp>
        <p:nvSpPr>
          <p:cNvPr id="19" name="TextBox 18">
            <a:extLst>
              <a:ext uri="{FF2B5EF4-FFF2-40B4-BE49-F238E27FC236}">
                <a16:creationId xmlns:a16="http://schemas.microsoft.com/office/drawing/2014/main" id="{708E9D91-79DA-4C97-B416-72B3679C189B}"/>
              </a:ext>
            </a:extLst>
          </p:cNvPr>
          <p:cNvSpPr txBox="1"/>
          <p:nvPr/>
        </p:nvSpPr>
        <p:spPr>
          <a:xfrm>
            <a:off x="3520035" y="5419493"/>
            <a:ext cx="3076023" cy="1015663"/>
          </a:xfrm>
          <a:prstGeom prst="rect">
            <a:avLst/>
          </a:prstGeom>
          <a:noFill/>
        </p:spPr>
        <p:txBody>
          <a:bodyPr wrap="square" rtlCol="0">
            <a:spAutoFit/>
          </a:bodyPr>
          <a:lstStyle/>
          <a:p>
            <a:pPr algn="l"/>
            <a:r>
              <a:rPr lang="en-US" sz="3000" dirty="0" err="1"/>
              <a:t>min_samples_split</a:t>
            </a:r>
            <a:endParaRPr lang="en-US" sz="3000" dirty="0"/>
          </a:p>
          <a:p>
            <a:pPr algn="l"/>
            <a:r>
              <a:rPr lang="en-US" sz="3000" dirty="0" err="1"/>
              <a:t>min_samples_leaf</a:t>
            </a:r>
            <a:endParaRPr lang="en-US" sz="3000" dirty="0"/>
          </a:p>
        </p:txBody>
      </p:sp>
      <p:sp>
        <p:nvSpPr>
          <p:cNvPr id="20" name="TextBox 19">
            <a:extLst>
              <a:ext uri="{FF2B5EF4-FFF2-40B4-BE49-F238E27FC236}">
                <a16:creationId xmlns:a16="http://schemas.microsoft.com/office/drawing/2014/main" id="{E11CD29D-D867-400F-B01A-0723DF970CD2}"/>
              </a:ext>
            </a:extLst>
          </p:cNvPr>
          <p:cNvSpPr txBox="1"/>
          <p:nvPr/>
        </p:nvSpPr>
        <p:spPr>
          <a:xfrm>
            <a:off x="6803397" y="5419492"/>
            <a:ext cx="2761390" cy="1015663"/>
          </a:xfrm>
          <a:prstGeom prst="rect">
            <a:avLst/>
          </a:prstGeom>
          <a:noFill/>
        </p:spPr>
        <p:txBody>
          <a:bodyPr wrap="square" rtlCol="0">
            <a:spAutoFit/>
          </a:bodyPr>
          <a:lstStyle/>
          <a:p>
            <a:pPr algn="r"/>
            <a:r>
              <a:rPr lang="en-US" sz="3000" dirty="0" err="1"/>
              <a:t>max_leaf_nodes</a:t>
            </a:r>
            <a:endParaRPr lang="en-US" sz="3000" dirty="0"/>
          </a:p>
          <a:p>
            <a:pPr algn="r"/>
            <a:r>
              <a:rPr lang="en-US" sz="3000" dirty="0" err="1"/>
              <a:t>max_features</a:t>
            </a:r>
            <a:endParaRPr lang="en-US" sz="3000" dirty="0"/>
          </a:p>
        </p:txBody>
      </p:sp>
      <p:cxnSp>
        <p:nvCxnSpPr>
          <p:cNvPr id="22" name="Straight Connector 21">
            <a:extLst>
              <a:ext uri="{FF2B5EF4-FFF2-40B4-BE49-F238E27FC236}">
                <a16:creationId xmlns:a16="http://schemas.microsoft.com/office/drawing/2014/main" id="{CD7769F1-A5B9-4514-AB0F-791AB16B89B6}"/>
              </a:ext>
            </a:extLst>
          </p:cNvPr>
          <p:cNvCxnSpPr/>
          <p:nvPr/>
        </p:nvCxnSpPr>
        <p:spPr>
          <a:xfrm>
            <a:off x="6714384" y="5560925"/>
            <a:ext cx="0" cy="76065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6D1710B7-B221-4704-A649-865BC8BCCD44}"/>
              </a:ext>
            </a:extLst>
          </p:cNvPr>
          <p:cNvCxnSpPr>
            <a:cxnSpLocks/>
          </p:cNvCxnSpPr>
          <p:nvPr/>
        </p:nvCxnSpPr>
        <p:spPr>
          <a:xfrm flipV="1">
            <a:off x="3520035" y="5502585"/>
            <a:ext cx="0" cy="9325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903B60C2-E135-4688-8189-F1F61AAE8930}"/>
              </a:ext>
            </a:extLst>
          </p:cNvPr>
          <p:cNvCxnSpPr>
            <a:cxnSpLocks/>
          </p:cNvCxnSpPr>
          <p:nvPr/>
        </p:nvCxnSpPr>
        <p:spPr>
          <a:xfrm>
            <a:off x="9564787" y="5474966"/>
            <a:ext cx="0" cy="9325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CF8C3CE7-E687-48ED-85D4-C643DC4A7FC7}"/>
              </a:ext>
            </a:extLst>
          </p:cNvPr>
          <p:cNvPicPr>
            <a:picLocks noChangeAspect="1"/>
          </p:cNvPicPr>
          <p:nvPr/>
        </p:nvPicPr>
        <p:blipFill>
          <a:blip r:embed="rId7"/>
          <a:stretch>
            <a:fillRect/>
          </a:stretch>
        </p:blipFill>
        <p:spPr>
          <a:xfrm>
            <a:off x="7629997" y="2193048"/>
            <a:ext cx="4567242" cy="2467784"/>
          </a:xfrm>
          <a:prstGeom prst="rect">
            <a:avLst/>
          </a:prstGeom>
        </p:spPr>
      </p:pic>
      <p:sp>
        <p:nvSpPr>
          <p:cNvPr id="12" name="TextBox 11">
            <a:extLst>
              <a:ext uri="{FF2B5EF4-FFF2-40B4-BE49-F238E27FC236}">
                <a16:creationId xmlns:a16="http://schemas.microsoft.com/office/drawing/2014/main" id="{57BF405C-2F79-4BF8-9707-BDB2265036F1}"/>
              </a:ext>
            </a:extLst>
          </p:cNvPr>
          <p:cNvSpPr txBox="1"/>
          <p:nvPr/>
        </p:nvSpPr>
        <p:spPr>
          <a:xfrm>
            <a:off x="7253551" y="4660832"/>
            <a:ext cx="4938449" cy="553998"/>
          </a:xfrm>
          <a:prstGeom prst="rect">
            <a:avLst/>
          </a:prstGeom>
          <a:noFill/>
        </p:spPr>
        <p:txBody>
          <a:bodyPr wrap="square" rtlCol="0">
            <a:spAutoFit/>
          </a:bodyPr>
          <a:lstStyle/>
          <a:p>
            <a:pPr algn="l"/>
            <a:r>
              <a:rPr lang="en-US" sz="3000" dirty="0"/>
              <a:t>Regression </a:t>
            </a:r>
            <a:r>
              <a:rPr lang="en-US" sz="3000" dirty="0">
                <a:cs typeface="Times New Roman" panose="02020603050405020304" pitchFamily="18" charset="0"/>
              </a:rPr>
              <a:t>≈ Nearest neighbor</a:t>
            </a:r>
            <a:endParaRPr lang="en-US" sz="3000" dirty="0"/>
          </a:p>
        </p:txBody>
      </p:sp>
      <p:sp>
        <p:nvSpPr>
          <p:cNvPr id="4" name="TextBox 3">
            <a:extLst>
              <a:ext uri="{FF2B5EF4-FFF2-40B4-BE49-F238E27FC236}">
                <a16:creationId xmlns:a16="http://schemas.microsoft.com/office/drawing/2014/main" id="{DBCECB3E-FEE6-40CF-AC77-6344D2001F89}"/>
              </a:ext>
            </a:extLst>
          </p:cNvPr>
          <p:cNvSpPr txBox="1"/>
          <p:nvPr/>
        </p:nvSpPr>
        <p:spPr>
          <a:xfrm>
            <a:off x="3375023" y="6488668"/>
            <a:ext cx="2253444" cy="369332"/>
          </a:xfrm>
          <a:prstGeom prst="rect">
            <a:avLst/>
          </a:prstGeom>
          <a:noFill/>
        </p:spPr>
        <p:txBody>
          <a:bodyPr wrap="square" rtlCol="0">
            <a:spAutoFit/>
          </a:bodyPr>
          <a:lstStyle/>
          <a:p>
            <a:pPr algn="l"/>
            <a:r>
              <a:rPr lang="en-US" dirty="0">
                <a:solidFill>
                  <a:srgbClr val="FF0000"/>
                </a:solidFill>
              </a:rPr>
              <a:t>Supervised</a:t>
            </a:r>
          </a:p>
        </p:txBody>
      </p:sp>
      <p:sp>
        <p:nvSpPr>
          <p:cNvPr id="14" name="Rectangle 13">
            <a:extLst>
              <a:ext uri="{FF2B5EF4-FFF2-40B4-BE49-F238E27FC236}">
                <a16:creationId xmlns:a16="http://schemas.microsoft.com/office/drawing/2014/main" id="{29F6ED2C-29B4-4A1B-9D0F-12FC13ADEFBD}"/>
              </a:ext>
            </a:extLst>
          </p:cNvPr>
          <p:cNvSpPr/>
          <p:nvPr/>
        </p:nvSpPr>
        <p:spPr>
          <a:xfrm>
            <a:off x="1580759" y="6083146"/>
            <a:ext cx="1811234" cy="7615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4FE5D30F-16B7-4A0F-9D3A-90E0C5A6393F}"/>
              </a:ext>
            </a:extLst>
          </p:cNvPr>
          <p:cNvSpPr txBox="1"/>
          <p:nvPr/>
        </p:nvSpPr>
        <p:spPr>
          <a:xfrm>
            <a:off x="7629997" y="2193048"/>
            <a:ext cx="1269454" cy="553998"/>
          </a:xfrm>
          <a:prstGeom prst="rect">
            <a:avLst/>
          </a:prstGeom>
          <a:noFill/>
        </p:spPr>
        <p:txBody>
          <a:bodyPr wrap="square" rtlCol="0">
            <a:spAutoFit/>
          </a:bodyPr>
          <a:lstStyle/>
          <a:p>
            <a:pPr algn="l"/>
            <a:r>
              <a:rPr lang="en-US" sz="3000" dirty="0">
                <a:solidFill>
                  <a:srgbClr val="FF0000"/>
                </a:solidFill>
              </a:rPr>
              <a:t>x1=0.7</a:t>
            </a:r>
          </a:p>
        </p:txBody>
      </p:sp>
      <p:cxnSp>
        <p:nvCxnSpPr>
          <p:cNvPr id="27" name="Straight Arrow Connector 26">
            <a:extLst>
              <a:ext uri="{FF2B5EF4-FFF2-40B4-BE49-F238E27FC236}">
                <a16:creationId xmlns:a16="http://schemas.microsoft.com/office/drawing/2014/main" id="{B097A891-5258-42CA-AA9F-0DC474848BC8}"/>
              </a:ext>
            </a:extLst>
          </p:cNvPr>
          <p:cNvCxnSpPr>
            <a:stCxn id="21" idx="3"/>
          </p:cNvCxnSpPr>
          <p:nvPr/>
        </p:nvCxnSpPr>
        <p:spPr>
          <a:xfrm>
            <a:off x="8899451" y="2470047"/>
            <a:ext cx="340242" cy="733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A9683604-FCFE-4F31-95AE-9E0CE6E58D12}"/>
              </a:ext>
            </a:extLst>
          </p:cNvPr>
          <p:cNvSpPr/>
          <p:nvPr/>
        </p:nvSpPr>
        <p:spPr>
          <a:xfrm>
            <a:off x="9909544" y="4106835"/>
            <a:ext cx="1063256" cy="55399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0732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fade">
                                      <p:cBhvr>
                                        <p:cTn id="18" dur="500"/>
                                        <p:tgtEl>
                                          <p:spTgt spid="2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fade">
                                      <p:cBhvr>
                                        <p:cTn id="23"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4" grpId="0" animBg="1"/>
      <p:bldP spid="21" grpId="0"/>
      <p:bldP spid="3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CACD1-983B-4600-9328-00EB371C1DB5}"/>
              </a:ext>
            </a:extLst>
          </p:cNvPr>
          <p:cNvSpPr>
            <a:spLocks noGrp="1"/>
          </p:cNvSpPr>
          <p:nvPr>
            <p:ph type="title"/>
          </p:nvPr>
        </p:nvSpPr>
        <p:spPr>
          <a:xfrm>
            <a:off x="-2" y="1042632"/>
            <a:ext cx="12192000" cy="906493"/>
          </a:xfrm>
        </p:spPr>
        <p:txBody>
          <a:bodyPr/>
          <a:lstStyle/>
          <a:p>
            <a:r>
              <a:rPr lang="en-US" dirty="0"/>
              <a:t>How long does it take? Computational Complexity</a:t>
            </a:r>
          </a:p>
        </p:txBody>
      </p:sp>
      <p:sp>
        <p:nvSpPr>
          <p:cNvPr id="3" name="Slide Number Placeholder 2">
            <a:extLst>
              <a:ext uri="{FF2B5EF4-FFF2-40B4-BE49-F238E27FC236}">
                <a16:creationId xmlns:a16="http://schemas.microsoft.com/office/drawing/2014/main" id="{94C498FD-247D-4421-A1BA-8713D6276D60}"/>
              </a:ext>
            </a:extLst>
          </p:cNvPr>
          <p:cNvSpPr>
            <a:spLocks noGrp="1"/>
          </p:cNvSpPr>
          <p:nvPr>
            <p:ph type="sldNum" sz="quarter" idx="12"/>
          </p:nvPr>
        </p:nvSpPr>
        <p:spPr/>
        <p:txBody>
          <a:bodyPr/>
          <a:lstStyle/>
          <a:p>
            <a:fld id="{A5686A01-FA10-4E06-92C7-92734750F4C6}" type="slidenum">
              <a:rPr lang="en-US" smtClean="0"/>
              <a:t>16</a:t>
            </a:fld>
            <a:endParaRPr lang="en-US"/>
          </a:p>
        </p:txBody>
      </p:sp>
      <p:pic>
        <p:nvPicPr>
          <p:cNvPr id="5" name="Picture 4" descr="A picture containing outdoor, grass, handcart, transport&#10;&#10;Description automatically generated">
            <a:extLst>
              <a:ext uri="{FF2B5EF4-FFF2-40B4-BE49-F238E27FC236}">
                <a16:creationId xmlns:a16="http://schemas.microsoft.com/office/drawing/2014/main" id="{FC94914E-C03C-4D2D-8105-4E1893A1E135}"/>
              </a:ext>
            </a:extLst>
          </p:cNvPr>
          <p:cNvPicPr>
            <a:picLocks noChangeAspect="1"/>
          </p:cNvPicPr>
          <p:nvPr/>
        </p:nvPicPr>
        <p:blipFill rotWithShape="1">
          <a:blip r:embed="rId7">
            <a:extLst>
              <a:ext uri="{28A0092B-C50C-407E-A947-70E740481C1C}">
                <a14:useLocalDpi xmlns:a14="http://schemas.microsoft.com/office/drawing/2010/main" val="0"/>
              </a:ext>
            </a:extLst>
          </a:blip>
          <a:srcRect l="33750"/>
          <a:stretch/>
        </p:blipFill>
        <p:spPr>
          <a:xfrm>
            <a:off x="-1" y="1986940"/>
            <a:ext cx="3392000" cy="2880000"/>
          </a:xfrm>
          <a:prstGeom prst="rect">
            <a:avLst/>
          </a:prstGeom>
        </p:spPr>
      </p:pic>
      <p:sp>
        <p:nvSpPr>
          <p:cNvPr id="6" name="Rectangle 5">
            <a:extLst>
              <a:ext uri="{FF2B5EF4-FFF2-40B4-BE49-F238E27FC236}">
                <a16:creationId xmlns:a16="http://schemas.microsoft.com/office/drawing/2014/main" id="{0C735B35-A321-45BB-9B2B-0205F3F423F2}"/>
              </a:ext>
            </a:extLst>
          </p:cNvPr>
          <p:cNvSpPr/>
          <p:nvPr/>
        </p:nvSpPr>
        <p:spPr>
          <a:xfrm>
            <a:off x="6596059" y="6488668"/>
            <a:ext cx="5595941" cy="369332"/>
          </a:xfrm>
          <a:prstGeom prst="rect">
            <a:avLst/>
          </a:prstGeom>
        </p:spPr>
        <p:txBody>
          <a:bodyPr wrap="square">
            <a:spAutoFit/>
          </a:bodyPr>
          <a:lstStyle/>
          <a:p>
            <a:pPr lvl="0" algn="r" defTabSz="914400">
              <a:defRPr/>
            </a:pPr>
            <a:r>
              <a:rPr kumimoji="0" lang="de-DE" sz="1800" b="0" i="1" u="sng" strike="noStrike" kern="0" cap="none" spc="0" normalizeH="0" baseline="0" noProof="0" dirty="0" err="1">
                <a:ln>
                  <a:noFill/>
                </a:ln>
                <a:effectLst/>
                <a:uLnTx/>
                <a:uFillTx/>
              </a:rPr>
              <a:t>Photos</a:t>
            </a:r>
            <a:r>
              <a:rPr kumimoji="0" lang="de-DE" sz="1800" b="0" i="1" u="sng" strike="noStrike" kern="0" cap="none" spc="0" normalizeH="0" baseline="0" noProof="0" dirty="0">
                <a:ln>
                  <a:noFill/>
                </a:ln>
                <a:effectLst/>
                <a:uLnTx/>
                <a:uFillTx/>
              </a:rPr>
              <a:t> </a:t>
            </a:r>
            <a:r>
              <a:rPr kumimoji="0" lang="de-DE" sz="1800" b="0" i="1" u="sng" strike="noStrike" kern="0" cap="none" spc="0" normalizeH="0" baseline="0" noProof="0" dirty="0" err="1">
                <a:ln>
                  <a:noFill/>
                </a:ln>
                <a:effectLst/>
                <a:uLnTx/>
                <a:uFillTx/>
              </a:rPr>
              <a:t>by</a:t>
            </a:r>
            <a:r>
              <a:rPr kumimoji="0" lang="de-DE" sz="1800" b="0" i="1" u="none" strike="noStrike" kern="0" cap="none" spc="0" normalizeH="0" baseline="0" noProof="0" dirty="0">
                <a:ln>
                  <a:noFill/>
                </a:ln>
                <a:effectLst/>
                <a:uLnTx/>
                <a:uFillTx/>
              </a:rPr>
              <a:t>:</a:t>
            </a:r>
            <a:r>
              <a:rPr kumimoji="0" lang="de-DE" sz="1800" b="0" i="1" u="none" strike="noStrike" kern="0" cap="none" spc="0" normalizeH="0" noProof="0" dirty="0">
                <a:ln>
                  <a:noFill/>
                </a:ln>
                <a:effectLst/>
                <a:uLnTx/>
                <a:uFillTx/>
              </a:rPr>
              <a:t> </a:t>
            </a:r>
            <a:r>
              <a:rPr lang="en-US" i="1" kern="0" dirty="0"/>
              <a:t>Bruno </a:t>
            </a:r>
            <a:r>
              <a:rPr lang="en-US" i="1" kern="0" dirty="0" err="1"/>
              <a:t>Kelzer</a:t>
            </a:r>
            <a:r>
              <a:rPr lang="en-US" i="1" kern="0" dirty="0"/>
              <a:t>, Johann Siemens</a:t>
            </a:r>
            <a:endParaRPr kumimoji="0" lang="en-US" sz="1800" b="0" i="1" u="none" strike="noStrike" kern="0" cap="none" spc="0" normalizeH="0" baseline="0" noProof="0" dirty="0">
              <a:ln>
                <a:noFill/>
              </a:ln>
              <a:effectLst/>
              <a:uLnTx/>
              <a:uFillTx/>
            </a:endParaRPr>
          </a:p>
        </p:txBody>
      </p:sp>
      <p:pic>
        <p:nvPicPr>
          <p:cNvPr id="21" name="Picture 20">
            <a:extLst>
              <a:ext uri="{FF2B5EF4-FFF2-40B4-BE49-F238E27FC236}">
                <a16:creationId xmlns:a16="http://schemas.microsoft.com/office/drawing/2014/main" id="{3A0E2832-FB25-4DAB-BE22-85CFFCBA0CB9}"/>
              </a:ext>
            </a:extLst>
          </p:cNvPr>
          <p:cNvPicPr>
            <a:picLocks noChangeAspect="1"/>
          </p:cNvPicPr>
          <p:nvPr/>
        </p:nvPicPr>
        <p:blipFill>
          <a:blip r:embed="rId8"/>
          <a:stretch>
            <a:fillRect/>
          </a:stretch>
        </p:blipFill>
        <p:spPr>
          <a:xfrm>
            <a:off x="7738134" y="2263939"/>
            <a:ext cx="4567242" cy="2467784"/>
          </a:xfrm>
          <a:prstGeom prst="rect">
            <a:avLst/>
          </a:prstGeom>
        </p:spPr>
      </p:pic>
      <p:pic>
        <p:nvPicPr>
          <p:cNvPr id="27" name="Picture 26" descr="\documentclass{article}&#10;\usepackage{amsmath,xcolor}&#10;\pagestyle{empty}&#10;\begin{document}&#10;&#10;$\textcolor{white}{&#10;N_{instances} \sim 2^{N_{nodes}} &#10;}&#10;$&#10;&#10;&#10;&#10;\end{document}" title="IguanaTex Bitmap Display">
            <a:extLst>
              <a:ext uri="{FF2B5EF4-FFF2-40B4-BE49-F238E27FC236}">
                <a16:creationId xmlns:a16="http://schemas.microsoft.com/office/drawing/2014/main" id="{AB8A9195-A750-468C-B46E-4AC11C6B9AB1}"/>
              </a:ext>
            </a:extLst>
          </p:cNvPr>
          <p:cNvPicPr>
            <a:picLocks noChangeAspect="1"/>
          </p:cNvPicPr>
          <p:nvPr>
            <p:custDataLst>
              <p:tags r:id="rId1"/>
            </p:custDataLst>
          </p:nvPr>
        </p:nvPicPr>
        <p:blipFill>
          <a:blip r:embed="rId9">
            <a:extLst>
              <a:ext uri="{28A0092B-C50C-407E-A947-70E740481C1C}">
                <a14:useLocalDpi xmlns:a14="http://schemas.microsoft.com/office/drawing/2010/main" val="0"/>
              </a:ext>
            </a:extLst>
          </a:blip>
          <a:stretch>
            <a:fillRect/>
          </a:stretch>
        </p:blipFill>
        <p:spPr>
          <a:xfrm>
            <a:off x="3936214" y="2021772"/>
            <a:ext cx="3257705" cy="382618"/>
          </a:xfrm>
          <a:prstGeom prst="rect">
            <a:avLst/>
          </a:prstGeom>
        </p:spPr>
      </p:pic>
      <p:pic>
        <p:nvPicPr>
          <p:cNvPr id="35" name="Picture 34" descr="\documentclass{article}&#10;\usepackage{amsmath,xcolor}&#10;\pagestyle{empty}&#10;\begin{document}&#10;&#10;$\textcolor{white}{&#10;N_{nodes} \sim \log_{2} \left(N_{instances}\right) &#10;}&#10;$&#10;&#10;&#10;&#10;\end{document}" title="IguanaTex Bitmap Display">
            <a:extLst>
              <a:ext uri="{FF2B5EF4-FFF2-40B4-BE49-F238E27FC236}">
                <a16:creationId xmlns:a16="http://schemas.microsoft.com/office/drawing/2014/main" id="{56CE6045-1687-4C68-99A0-AAB8B7FDD09B}"/>
              </a:ext>
            </a:extLst>
          </p:cNvPr>
          <p:cNvPicPr>
            <a:picLocks noChangeAspect="1"/>
          </p:cNvPicPr>
          <p:nvPr>
            <p:custDataLst>
              <p:tags r:id="rId2"/>
            </p:custDataLst>
          </p:nvPr>
        </p:nvPicPr>
        <p:blipFill>
          <a:blip r:embed="rId10">
            <a:extLst>
              <a:ext uri="{28A0092B-C50C-407E-A947-70E740481C1C}">
                <a14:useLocalDpi xmlns:a14="http://schemas.microsoft.com/office/drawing/2010/main" val="0"/>
              </a:ext>
            </a:extLst>
          </a:blip>
          <a:stretch>
            <a:fillRect/>
          </a:stretch>
        </p:blipFill>
        <p:spPr>
          <a:xfrm>
            <a:off x="3537476" y="2876407"/>
            <a:ext cx="4025626" cy="370024"/>
          </a:xfrm>
          <a:prstGeom prst="rect">
            <a:avLst/>
          </a:prstGeom>
        </p:spPr>
      </p:pic>
      <p:pic>
        <p:nvPicPr>
          <p:cNvPr id="33" name="Picture 32" descr="\documentclass{article}&#10;\usepackage{amsmath,xcolor}&#10;\pagestyle{empty}&#10;\begin{document}&#10;&#10;$\textcolor{white}{&#10;\tau_{prediction} \sim \log_{2} \left(N_{instances}\right) &#10;}&#10;$&#10;&#10;&#10;&#10;\end{document}" title="IguanaTex Bitmap Display">
            <a:extLst>
              <a:ext uri="{FF2B5EF4-FFF2-40B4-BE49-F238E27FC236}">
                <a16:creationId xmlns:a16="http://schemas.microsoft.com/office/drawing/2014/main" id="{45996F91-9803-4C0B-BD90-4D70D09CB973}"/>
              </a:ext>
            </a:extLst>
          </p:cNvPr>
          <p:cNvPicPr>
            <a:picLocks noChangeAspect="1"/>
          </p:cNvPicPr>
          <p:nvPr>
            <p:custDataLst>
              <p:tags r:id="rId3"/>
            </p:custDataLst>
          </p:nvPr>
        </p:nvPicPr>
        <p:blipFill>
          <a:blip r:embed="rId11">
            <a:extLst>
              <a:ext uri="{28A0092B-C50C-407E-A947-70E740481C1C}">
                <a14:useLocalDpi xmlns:a14="http://schemas.microsoft.com/office/drawing/2010/main" val="0"/>
              </a:ext>
            </a:extLst>
          </a:blip>
          <a:stretch>
            <a:fillRect/>
          </a:stretch>
        </p:blipFill>
        <p:spPr>
          <a:xfrm>
            <a:off x="3406776" y="3706070"/>
            <a:ext cx="4331358" cy="369332"/>
          </a:xfrm>
          <a:prstGeom prst="rect">
            <a:avLst/>
          </a:prstGeom>
        </p:spPr>
      </p:pic>
      <p:sp>
        <p:nvSpPr>
          <p:cNvPr id="36" name="TextBox 35">
            <a:extLst>
              <a:ext uri="{FF2B5EF4-FFF2-40B4-BE49-F238E27FC236}">
                <a16:creationId xmlns:a16="http://schemas.microsoft.com/office/drawing/2014/main" id="{4E7C843A-3FDA-47D3-8B0F-411F801903E2}"/>
              </a:ext>
            </a:extLst>
          </p:cNvPr>
          <p:cNvSpPr txBox="1"/>
          <p:nvPr/>
        </p:nvSpPr>
        <p:spPr>
          <a:xfrm>
            <a:off x="3377222" y="4276458"/>
            <a:ext cx="4346135" cy="553998"/>
          </a:xfrm>
          <a:prstGeom prst="rect">
            <a:avLst/>
          </a:prstGeom>
          <a:noFill/>
        </p:spPr>
        <p:txBody>
          <a:bodyPr wrap="square" rtlCol="0">
            <a:spAutoFit/>
          </a:bodyPr>
          <a:lstStyle/>
          <a:p>
            <a:pPr algn="ctr"/>
            <a:r>
              <a:rPr lang="en-US" sz="3000" dirty="0"/>
              <a:t>Fast prediction </a:t>
            </a:r>
            <a:r>
              <a:rPr lang="en-US" sz="3000" dirty="0">
                <a:sym typeface="Wingdings" panose="05000000000000000000" pitchFamily="2" charset="2"/>
              </a:rPr>
              <a:t></a:t>
            </a:r>
            <a:endParaRPr lang="en-US" sz="3000" dirty="0"/>
          </a:p>
        </p:txBody>
      </p:sp>
      <p:pic>
        <p:nvPicPr>
          <p:cNvPr id="43" name="Picture 42" descr="\documentclass{article}&#10;\usepackage{amsmath,xcolor}&#10;\pagestyle{empty}&#10;\begin{document}&#10;&#10;$\textcolor{white}{&#10;\tau_{training} \sim N_{features} \times N_{instances} \times \log_{2} \left(N_{instances}\right) &#10;}&#10;$&#10;&#10;&#10;&#10;\end{document}" title="IguanaTex Bitmap Display">
            <a:extLst>
              <a:ext uri="{FF2B5EF4-FFF2-40B4-BE49-F238E27FC236}">
                <a16:creationId xmlns:a16="http://schemas.microsoft.com/office/drawing/2014/main" id="{CDC6BDA3-9F59-4727-AF82-501BE6797131}"/>
              </a:ext>
            </a:extLst>
          </p:cNvPr>
          <p:cNvPicPr>
            <a:picLocks noChangeAspect="1"/>
          </p:cNvPicPr>
          <p:nvPr>
            <p:custDataLst>
              <p:tags r:id="rId4"/>
            </p:custDataLst>
          </p:nvPr>
        </p:nvPicPr>
        <p:blipFill>
          <a:blip r:embed="rId12">
            <a:extLst>
              <a:ext uri="{28A0092B-C50C-407E-A947-70E740481C1C}">
                <a14:useLocalDpi xmlns:a14="http://schemas.microsoft.com/office/drawing/2010/main" val="0"/>
              </a:ext>
            </a:extLst>
          </a:blip>
          <a:stretch>
            <a:fillRect/>
          </a:stretch>
        </p:blipFill>
        <p:spPr>
          <a:xfrm>
            <a:off x="3377222" y="5284390"/>
            <a:ext cx="8642963" cy="410456"/>
          </a:xfrm>
          <a:prstGeom prst="rect">
            <a:avLst/>
          </a:prstGeom>
        </p:spPr>
      </p:pic>
      <p:sp>
        <p:nvSpPr>
          <p:cNvPr id="40" name="TextBox 39">
            <a:extLst>
              <a:ext uri="{FF2B5EF4-FFF2-40B4-BE49-F238E27FC236}">
                <a16:creationId xmlns:a16="http://schemas.microsoft.com/office/drawing/2014/main" id="{2A2D8BAE-1AF5-408F-8157-3EA4E749F96A}"/>
              </a:ext>
            </a:extLst>
          </p:cNvPr>
          <p:cNvSpPr txBox="1"/>
          <p:nvPr/>
        </p:nvSpPr>
        <p:spPr>
          <a:xfrm>
            <a:off x="3352568" y="5814758"/>
            <a:ext cx="4346135" cy="553998"/>
          </a:xfrm>
          <a:prstGeom prst="rect">
            <a:avLst/>
          </a:prstGeom>
          <a:noFill/>
        </p:spPr>
        <p:txBody>
          <a:bodyPr wrap="square" rtlCol="0">
            <a:spAutoFit/>
          </a:bodyPr>
          <a:lstStyle/>
          <a:p>
            <a:pPr algn="ctr"/>
            <a:r>
              <a:rPr lang="en-US" sz="3000" dirty="0"/>
              <a:t>Much slower training </a:t>
            </a:r>
            <a:r>
              <a:rPr lang="en-US" sz="3000" dirty="0">
                <a:sym typeface="Wingdings" panose="05000000000000000000" pitchFamily="2" charset="2"/>
              </a:rPr>
              <a:t></a:t>
            </a:r>
            <a:endParaRPr lang="en-US" sz="3000" dirty="0"/>
          </a:p>
        </p:txBody>
      </p:sp>
      <p:sp>
        <p:nvSpPr>
          <p:cNvPr id="41" name="TextBox 40">
            <a:extLst>
              <a:ext uri="{FF2B5EF4-FFF2-40B4-BE49-F238E27FC236}">
                <a16:creationId xmlns:a16="http://schemas.microsoft.com/office/drawing/2014/main" id="{A5E472D6-5A23-4532-8DD7-D29F67059B12}"/>
              </a:ext>
            </a:extLst>
          </p:cNvPr>
          <p:cNvSpPr txBox="1"/>
          <p:nvPr/>
        </p:nvSpPr>
        <p:spPr>
          <a:xfrm>
            <a:off x="0" y="4866940"/>
            <a:ext cx="3377222" cy="1938992"/>
          </a:xfrm>
          <a:prstGeom prst="rect">
            <a:avLst/>
          </a:prstGeom>
          <a:noFill/>
        </p:spPr>
        <p:txBody>
          <a:bodyPr wrap="square" rtlCol="0">
            <a:spAutoFit/>
          </a:bodyPr>
          <a:lstStyle/>
          <a:p>
            <a:pPr algn="l"/>
            <a:r>
              <a:rPr lang="en-US" sz="3000" dirty="0"/>
              <a:t>At each node, compare:</a:t>
            </a:r>
          </a:p>
          <a:p>
            <a:pPr algn="l"/>
            <a:r>
              <a:rPr lang="en-US" sz="3000" dirty="0"/>
              <a:t>All features</a:t>
            </a:r>
          </a:p>
          <a:p>
            <a:pPr algn="l"/>
            <a:r>
              <a:rPr lang="en-US" sz="3000" dirty="0"/>
              <a:t>on All samples</a:t>
            </a:r>
          </a:p>
        </p:txBody>
      </p:sp>
    </p:spTree>
    <p:extLst>
      <p:ext uri="{BB962C8B-B14F-4D97-AF65-F5344CB8AC3E}">
        <p14:creationId xmlns:p14="http://schemas.microsoft.com/office/powerpoint/2010/main" val="289423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500"/>
                                        <p:tgtEl>
                                          <p:spTgt spid="3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5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1"/>
                                        </p:tgtEl>
                                        <p:attrNameLst>
                                          <p:attrName>style.visibility</p:attrName>
                                        </p:attrNameLst>
                                      </p:cBhvr>
                                      <p:to>
                                        <p:strVal val="visible"/>
                                      </p:to>
                                    </p:set>
                                    <p:animEffect transition="in" filter="fade">
                                      <p:cBhvr>
                                        <p:cTn id="30" dur="500"/>
                                        <p:tgtEl>
                                          <p:spTgt spid="4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3"/>
                                        </p:tgtEl>
                                        <p:attrNameLst>
                                          <p:attrName>style.visibility</p:attrName>
                                        </p:attrNameLst>
                                      </p:cBhvr>
                                      <p:to>
                                        <p:strVal val="visible"/>
                                      </p:to>
                                    </p:set>
                                    <p:animEffect transition="in" filter="fade">
                                      <p:cBhvr>
                                        <p:cTn id="35" dur="500"/>
                                        <p:tgtEl>
                                          <p:spTgt spid="4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40"/>
                                        </p:tgtEl>
                                        <p:attrNameLst>
                                          <p:attrName>style.visibility</p:attrName>
                                        </p:attrNameLst>
                                      </p:cBhvr>
                                      <p:to>
                                        <p:strVal val="visible"/>
                                      </p:to>
                                    </p:set>
                                    <p:animEffect transition="in" filter="fade">
                                      <p:cBhvr>
                                        <p:cTn id="40"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0" grpId="0"/>
      <p:bldP spid="4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CACD1-983B-4600-9328-00EB371C1DB5}"/>
              </a:ext>
            </a:extLst>
          </p:cNvPr>
          <p:cNvSpPr>
            <a:spLocks noGrp="1"/>
          </p:cNvSpPr>
          <p:nvPr>
            <p:ph type="title"/>
          </p:nvPr>
        </p:nvSpPr>
        <p:spPr>
          <a:xfrm>
            <a:off x="-2" y="1042632"/>
            <a:ext cx="12192000" cy="906493"/>
          </a:xfrm>
        </p:spPr>
        <p:txBody>
          <a:bodyPr/>
          <a:lstStyle/>
          <a:p>
            <a:r>
              <a:rPr lang="en-US" dirty="0"/>
              <a:t>How long does it take: Computational Complexity</a:t>
            </a:r>
          </a:p>
        </p:txBody>
      </p:sp>
      <p:sp>
        <p:nvSpPr>
          <p:cNvPr id="3" name="Slide Number Placeholder 2">
            <a:extLst>
              <a:ext uri="{FF2B5EF4-FFF2-40B4-BE49-F238E27FC236}">
                <a16:creationId xmlns:a16="http://schemas.microsoft.com/office/drawing/2014/main" id="{94C498FD-247D-4421-A1BA-8713D6276D60}"/>
              </a:ext>
            </a:extLst>
          </p:cNvPr>
          <p:cNvSpPr>
            <a:spLocks noGrp="1"/>
          </p:cNvSpPr>
          <p:nvPr>
            <p:ph type="sldNum" sz="quarter" idx="12"/>
          </p:nvPr>
        </p:nvSpPr>
        <p:spPr/>
        <p:txBody>
          <a:bodyPr/>
          <a:lstStyle/>
          <a:p>
            <a:fld id="{A5686A01-FA10-4E06-92C7-92734750F4C6}" type="slidenum">
              <a:rPr lang="en-US" smtClean="0"/>
              <a:t>17</a:t>
            </a:fld>
            <a:endParaRPr lang="en-US"/>
          </a:p>
        </p:txBody>
      </p:sp>
      <p:pic>
        <p:nvPicPr>
          <p:cNvPr id="7" name="Picture 6">
            <a:extLst>
              <a:ext uri="{FF2B5EF4-FFF2-40B4-BE49-F238E27FC236}">
                <a16:creationId xmlns:a16="http://schemas.microsoft.com/office/drawing/2014/main" id="{D2048251-5C09-47C4-80A9-290D5AF7AEE6}"/>
              </a:ext>
            </a:extLst>
          </p:cNvPr>
          <p:cNvPicPr>
            <a:picLocks noChangeAspect="1"/>
          </p:cNvPicPr>
          <p:nvPr/>
        </p:nvPicPr>
        <p:blipFill>
          <a:blip r:embed="rId5"/>
          <a:stretch>
            <a:fillRect/>
          </a:stretch>
        </p:blipFill>
        <p:spPr>
          <a:xfrm>
            <a:off x="-2" y="3397852"/>
            <a:ext cx="12192000" cy="1448727"/>
          </a:xfrm>
          <a:prstGeom prst="rect">
            <a:avLst/>
          </a:prstGeom>
        </p:spPr>
      </p:pic>
      <p:pic>
        <p:nvPicPr>
          <p:cNvPr id="16" name="Picture 15" descr="\documentclass{article}&#10;\usepackage{amsmath,xcolor}&#10;\pagestyle{empty}&#10;\begin{document}&#10;&#10;$\textcolor{white}{&#10;\tau_{training} \sim N_{features} \times N_{instances} \times \log_{2} \left(N_{instances}\right) &#10;}&#10;$&#10;&#10;&#10;&#10;\end{document}" title="IguanaTex Bitmap Display">
            <a:extLst>
              <a:ext uri="{FF2B5EF4-FFF2-40B4-BE49-F238E27FC236}">
                <a16:creationId xmlns:a16="http://schemas.microsoft.com/office/drawing/2014/main" id="{428776D6-6268-4FA8-84BC-08DE84C8AC6D}"/>
              </a:ext>
            </a:extLst>
          </p:cNvPr>
          <p:cNvPicPr>
            <a:picLocks noChangeAspect="1"/>
          </p:cNvPicPr>
          <p:nvPr>
            <p:custDataLst>
              <p:tags r:id="rId1"/>
            </p:custDataLst>
          </p:nvPr>
        </p:nvPicPr>
        <p:blipFill>
          <a:blip r:embed="rId6">
            <a:extLst>
              <a:ext uri="{28A0092B-C50C-407E-A947-70E740481C1C}">
                <a14:useLocalDpi xmlns:a14="http://schemas.microsoft.com/office/drawing/2010/main" val="0"/>
              </a:ext>
            </a:extLst>
          </a:blip>
          <a:stretch>
            <a:fillRect/>
          </a:stretch>
        </p:blipFill>
        <p:spPr>
          <a:xfrm>
            <a:off x="96990" y="2217521"/>
            <a:ext cx="11998013" cy="569788"/>
          </a:xfrm>
          <a:prstGeom prst="rect">
            <a:avLst/>
          </a:prstGeom>
        </p:spPr>
      </p:pic>
      <p:pic>
        <p:nvPicPr>
          <p:cNvPr id="9" name="Picture 8" descr="\documentclass{article}&#10;\usepackage{amsmath,xcolor}&#10;\pagestyle{empty}&#10;\begin{document}&#10;$&#10;\textcolor{white}{&#10;\frac{\tau_{\mathrm{training}}\left(10M\right)}{\tau_{\mathrm{training}}\left(1M\right)}=\frac{N_{\mathrm{features}}\times10M\times\log_{2}\left(10M\right)}{N_{\mathrm{features}}\times1M\times\log_{2}\left(1M\right)}=\frac{10^{7}\times\log_{10}\left(10^{7}\right)}{10^{6}\times\log_{10}\left(10^{6}\right)}=10\times\frac{7}{6}\approx12&#10;}&#10;$&#10;\end{document}" title="IguanaTex Bitmap Display">
            <a:extLst>
              <a:ext uri="{FF2B5EF4-FFF2-40B4-BE49-F238E27FC236}">
                <a16:creationId xmlns:a16="http://schemas.microsoft.com/office/drawing/2014/main" id="{82325413-EBBC-451A-9817-FE5E12513919}"/>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96991" y="5742016"/>
            <a:ext cx="11998013" cy="745353"/>
          </a:xfrm>
          <a:prstGeom prst="rect">
            <a:avLst/>
          </a:prstGeom>
        </p:spPr>
      </p:pic>
    </p:spTree>
    <p:extLst>
      <p:ext uri="{BB962C8B-B14F-4D97-AF65-F5344CB8AC3E}">
        <p14:creationId xmlns:p14="http://schemas.microsoft.com/office/powerpoint/2010/main" val="247124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1E10A-3459-4F37-B2D1-3F864BD5CB33}"/>
              </a:ext>
            </a:extLst>
          </p:cNvPr>
          <p:cNvSpPr>
            <a:spLocks noGrp="1"/>
          </p:cNvSpPr>
          <p:nvPr>
            <p:ph type="ctrTitle"/>
          </p:nvPr>
        </p:nvSpPr>
        <p:spPr>
          <a:xfrm>
            <a:off x="0" y="1031359"/>
            <a:ext cx="12192000" cy="1977656"/>
          </a:xfrm>
        </p:spPr>
        <p:txBody>
          <a:bodyPr>
            <a:normAutofit/>
          </a:bodyPr>
          <a:lstStyle/>
          <a:p>
            <a:r>
              <a:rPr lang="en-US" dirty="0"/>
              <a:t>Min 95-105: Random Forests &amp; Ensembles: The power of teamwork </a:t>
            </a:r>
          </a:p>
        </p:txBody>
      </p:sp>
      <p:sp>
        <p:nvSpPr>
          <p:cNvPr id="4" name="Slide Number Placeholder 3">
            <a:extLst>
              <a:ext uri="{FF2B5EF4-FFF2-40B4-BE49-F238E27FC236}">
                <a16:creationId xmlns:a16="http://schemas.microsoft.com/office/drawing/2014/main" id="{65951D8F-8562-4A80-A9B3-5D34DC991367}"/>
              </a:ext>
            </a:extLst>
          </p:cNvPr>
          <p:cNvSpPr>
            <a:spLocks noGrp="1"/>
          </p:cNvSpPr>
          <p:nvPr>
            <p:ph type="sldNum" sz="quarter" idx="12"/>
          </p:nvPr>
        </p:nvSpPr>
        <p:spPr/>
        <p:txBody>
          <a:bodyPr/>
          <a:lstStyle/>
          <a:p>
            <a:fld id="{A5686A01-FA10-4E06-92C7-92734750F4C6}" type="slidenum">
              <a:rPr lang="en-US" smtClean="0"/>
              <a:t>18</a:t>
            </a:fld>
            <a:endParaRPr lang="en-US"/>
          </a:p>
        </p:txBody>
      </p:sp>
      <p:sp>
        <p:nvSpPr>
          <p:cNvPr id="5" name="Subtitle 2">
            <a:extLst>
              <a:ext uri="{FF2B5EF4-FFF2-40B4-BE49-F238E27FC236}">
                <a16:creationId xmlns:a16="http://schemas.microsoft.com/office/drawing/2014/main" id="{F938649D-351C-4F26-B22E-257FBE0817E2}"/>
              </a:ext>
            </a:extLst>
          </p:cNvPr>
          <p:cNvSpPr txBox="1">
            <a:spLocks/>
          </p:cNvSpPr>
          <p:nvPr/>
        </p:nvSpPr>
        <p:spPr>
          <a:xfrm>
            <a:off x="0" y="3675249"/>
            <a:ext cx="12192001" cy="238760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CMU Sans Serif" panose="02000603000000000000" pitchFamily="2" charset="0"/>
                <a:ea typeface="CMU Sans Serif" panose="02000603000000000000" pitchFamily="2" charset="0"/>
                <a:cs typeface="CMU Sans Serif" panose="02000603000000000000" pitchFamily="2"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u="sng" dirty="0"/>
              <a:t>Learning Objectives</a:t>
            </a:r>
            <a:r>
              <a:rPr lang="en-US" dirty="0"/>
              <a:t> (</a:t>
            </a:r>
            <a:r>
              <a:rPr lang="en-US" dirty="0" err="1"/>
              <a:t>Géron</a:t>
            </a:r>
            <a:r>
              <a:rPr lang="en-US" dirty="0"/>
              <a:t> Ch7):</a:t>
            </a:r>
          </a:p>
          <a:p>
            <a:pPr marL="457200" indent="-457200">
              <a:buFont typeface="+mj-lt"/>
              <a:buAutoNum type="arabicPeriod"/>
            </a:pPr>
            <a:r>
              <a:rPr lang="en-US" dirty="0"/>
              <a:t>Define a random forest</a:t>
            </a:r>
          </a:p>
          <a:p>
            <a:pPr marL="457200" indent="-457200">
              <a:buFont typeface="+mj-lt"/>
              <a:buAutoNum type="arabicPeriod"/>
            </a:pPr>
            <a:r>
              <a:rPr lang="en-US" dirty="0"/>
              <a:t>Know some advantages/drawbacks of ensemble modeling</a:t>
            </a:r>
          </a:p>
          <a:p>
            <a:pPr marL="457200" indent="-457200">
              <a:buFont typeface="+mj-lt"/>
              <a:buAutoNum type="arabicPeriod"/>
            </a:pPr>
            <a:r>
              <a:rPr lang="en-US" dirty="0"/>
              <a:t>Understand feature importance</a:t>
            </a:r>
          </a:p>
        </p:txBody>
      </p:sp>
    </p:spTree>
    <p:extLst>
      <p:ext uri="{BB962C8B-B14F-4D97-AF65-F5344CB8AC3E}">
        <p14:creationId xmlns:p14="http://schemas.microsoft.com/office/powerpoint/2010/main" val="1933677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DA892-71AA-4DCB-A956-76375A9106BA}"/>
              </a:ext>
            </a:extLst>
          </p:cNvPr>
          <p:cNvSpPr>
            <a:spLocks noGrp="1"/>
          </p:cNvSpPr>
          <p:nvPr>
            <p:ph type="title"/>
          </p:nvPr>
        </p:nvSpPr>
        <p:spPr>
          <a:xfrm>
            <a:off x="-2" y="1042632"/>
            <a:ext cx="12192000" cy="1217489"/>
          </a:xfrm>
        </p:spPr>
        <p:txBody>
          <a:bodyPr/>
          <a:lstStyle/>
          <a:p>
            <a:r>
              <a:rPr lang="en-US" dirty="0"/>
              <a:t>A random forest is an </a:t>
            </a:r>
            <a:r>
              <a:rPr lang="en-US" b="1" dirty="0"/>
              <a:t>ensemble</a:t>
            </a:r>
            <a:r>
              <a:rPr lang="en-US" dirty="0"/>
              <a:t> of decision trees</a:t>
            </a:r>
          </a:p>
        </p:txBody>
      </p:sp>
      <p:sp>
        <p:nvSpPr>
          <p:cNvPr id="3" name="Slide Number Placeholder 2">
            <a:extLst>
              <a:ext uri="{FF2B5EF4-FFF2-40B4-BE49-F238E27FC236}">
                <a16:creationId xmlns:a16="http://schemas.microsoft.com/office/drawing/2014/main" id="{4B463A75-7CAF-444B-AB95-D3E4F64C6F97}"/>
              </a:ext>
            </a:extLst>
          </p:cNvPr>
          <p:cNvSpPr>
            <a:spLocks noGrp="1"/>
          </p:cNvSpPr>
          <p:nvPr>
            <p:ph type="sldNum" sz="quarter" idx="12"/>
          </p:nvPr>
        </p:nvSpPr>
        <p:spPr/>
        <p:txBody>
          <a:bodyPr/>
          <a:lstStyle/>
          <a:p>
            <a:fld id="{A5686A01-FA10-4E06-92C7-92734750F4C6}" type="slidenum">
              <a:rPr lang="en-US" smtClean="0"/>
              <a:t>19</a:t>
            </a:fld>
            <a:endParaRPr lang="en-US"/>
          </a:p>
        </p:txBody>
      </p:sp>
      <p:pic>
        <p:nvPicPr>
          <p:cNvPr id="5" name="Picture 4">
            <a:extLst>
              <a:ext uri="{FF2B5EF4-FFF2-40B4-BE49-F238E27FC236}">
                <a16:creationId xmlns:a16="http://schemas.microsoft.com/office/drawing/2014/main" id="{91BCA8B2-D8C8-4309-9A12-D00856D04EB3}"/>
              </a:ext>
            </a:extLst>
          </p:cNvPr>
          <p:cNvPicPr>
            <a:picLocks noChangeAspect="1"/>
          </p:cNvPicPr>
          <p:nvPr/>
        </p:nvPicPr>
        <p:blipFill>
          <a:blip r:embed="rId2"/>
          <a:stretch>
            <a:fillRect/>
          </a:stretch>
        </p:blipFill>
        <p:spPr>
          <a:xfrm>
            <a:off x="-2" y="2350523"/>
            <a:ext cx="5486402" cy="2391011"/>
          </a:xfrm>
          <a:prstGeom prst="rect">
            <a:avLst/>
          </a:prstGeom>
        </p:spPr>
      </p:pic>
      <p:pic>
        <p:nvPicPr>
          <p:cNvPr id="7" name="Picture 6">
            <a:extLst>
              <a:ext uri="{FF2B5EF4-FFF2-40B4-BE49-F238E27FC236}">
                <a16:creationId xmlns:a16="http://schemas.microsoft.com/office/drawing/2014/main" id="{DE914993-4A30-4FC3-A285-E11DE7E75750}"/>
              </a:ext>
            </a:extLst>
          </p:cNvPr>
          <p:cNvPicPr>
            <a:picLocks noChangeAspect="1"/>
          </p:cNvPicPr>
          <p:nvPr/>
        </p:nvPicPr>
        <p:blipFill>
          <a:blip r:embed="rId3"/>
          <a:stretch>
            <a:fillRect/>
          </a:stretch>
        </p:blipFill>
        <p:spPr>
          <a:xfrm>
            <a:off x="5486398" y="2350523"/>
            <a:ext cx="6705600" cy="3592991"/>
          </a:xfrm>
          <a:prstGeom prst="rect">
            <a:avLst/>
          </a:prstGeom>
        </p:spPr>
      </p:pic>
      <p:sp>
        <p:nvSpPr>
          <p:cNvPr id="8" name="TextBox 7">
            <a:extLst>
              <a:ext uri="{FF2B5EF4-FFF2-40B4-BE49-F238E27FC236}">
                <a16:creationId xmlns:a16="http://schemas.microsoft.com/office/drawing/2014/main" id="{EA705A7C-B3F5-41C4-AB7D-D8F0ADEE1571}"/>
              </a:ext>
            </a:extLst>
          </p:cNvPr>
          <p:cNvSpPr txBox="1"/>
          <p:nvPr/>
        </p:nvSpPr>
        <p:spPr>
          <a:xfrm>
            <a:off x="0" y="4741534"/>
            <a:ext cx="5423647" cy="1938992"/>
          </a:xfrm>
          <a:prstGeom prst="rect">
            <a:avLst/>
          </a:prstGeom>
          <a:noFill/>
        </p:spPr>
        <p:txBody>
          <a:bodyPr wrap="square" rtlCol="0">
            <a:spAutoFit/>
          </a:bodyPr>
          <a:lstStyle/>
          <a:p>
            <a:pPr algn="ctr"/>
            <a:r>
              <a:rPr lang="en-US" sz="3000" dirty="0"/>
              <a:t>Step 1: Train an ensemble of different models</a:t>
            </a:r>
          </a:p>
          <a:p>
            <a:pPr algn="ctr"/>
            <a:endParaRPr lang="en-US" sz="3000" dirty="0"/>
          </a:p>
          <a:p>
            <a:pPr algn="ctr"/>
            <a:r>
              <a:rPr lang="en-US" sz="3000" i="1" dirty="0"/>
              <a:t>Many ways of creating ensembles</a:t>
            </a:r>
          </a:p>
        </p:txBody>
      </p:sp>
      <p:sp>
        <p:nvSpPr>
          <p:cNvPr id="9" name="TextBox 8">
            <a:extLst>
              <a:ext uri="{FF2B5EF4-FFF2-40B4-BE49-F238E27FC236}">
                <a16:creationId xmlns:a16="http://schemas.microsoft.com/office/drawing/2014/main" id="{47A523DC-9934-4EA2-A789-AD7CBB2389A6}"/>
              </a:ext>
            </a:extLst>
          </p:cNvPr>
          <p:cNvSpPr txBox="1"/>
          <p:nvPr/>
        </p:nvSpPr>
        <p:spPr>
          <a:xfrm>
            <a:off x="5486398" y="5943514"/>
            <a:ext cx="6705599" cy="1015663"/>
          </a:xfrm>
          <a:prstGeom prst="rect">
            <a:avLst/>
          </a:prstGeom>
          <a:noFill/>
        </p:spPr>
        <p:txBody>
          <a:bodyPr wrap="square" rtlCol="0">
            <a:spAutoFit/>
          </a:bodyPr>
          <a:lstStyle/>
          <a:p>
            <a:pPr algn="ctr"/>
            <a:r>
              <a:rPr lang="en-US" sz="3000" dirty="0">
                <a:latin typeface="+mj-lt"/>
              </a:rPr>
              <a:t>Step 2: Make the ensemble vote</a:t>
            </a:r>
          </a:p>
          <a:p>
            <a:pPr algn="ctr"/>
            <a:r>
              <a:rPr lang="en-US" sz="3000" dirty="0">
                <a:latin typeface="+mj-lt"/>
              </a:rPr>
              <a:t>Hard voting </a:t>
            </a:r>
            <a:r>
              <a:rPr lang="en-US" sz="3000" dirty="0">
                <a:latin typeface="+mj-lt"/>
                <a:cs typeface="Times New Roman" panose="02020603050405020304" pitchFamily="18" charset="0"/>
              </a:rPr>
              <a:t>≠ Soft voting</a:t>
            </a:r>
            <a:endParaRPr lang="en-US" sz="3000" dirty="0">
              <a:latin typeface="+mj-lt"/>
            </a:endParaRPr>
          </a:p>
        </p:txBody>
      </p:sp>
    </p:spTree>
    <p:extLst>
      <p:ext uri="{BB962C8B-B14F-4D97-AF65-F5344CB8AC3E}">
        <p14:creationId xmlns:p14="http://schemas.microsoft.com/office/powerpoint/2010/main" val="1865373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F2E5A-0360-45BF-A8A7-957757CE517D}"/>
              </a:ext>
            </a:extLst>
          </p:cNvPr>
          <p:cNvSpPr>
            <a:spLocks noGrp="1"/>
          </p:cNvSpPr>
          <p:nvPr>
            <p:ph type="title"/>
          </p:nvPr>
        </p:nvSpPr>
        <p:spPr/>
        <p:txBody>
          <a:bodyPr>
            <a:normAutofit/>
          </a:bodyPr>
          <a:lstStyle/>
          <a:p>
            <a:r>
              <a:rPr lang="en-US" dirty="0"/>
              <a:t>Advantages of ensemble modeling</a:t>
            </a:r>
            <a:br>
              <a:rPr lang="en-US" dirty="0"/>
            </a:br>
            <a:r>
              <a:rPr lang="en-US" dirty="0"/>
              <a:t>Q) Why choose random forests over decision trees?</a:t>
            </a:r>
          </a:p>
        </p:txBody>
      </p:sp>
      <p:sp>
        <p:nvSpPr>
          <p:cNvPr id="3" name="Slide Number Placeholder 2">
            <a:extLst>
              <a:ext uri="{FF2B5EF4-FFF2-40B4-BE49-F238E27FC236}">
                <a16:creationId xmlns:a16="http://schemas.microsoft.com/office/drawing/2014/main" id="{3E574B3D-623C-418D-9BCA-3D7CFB5468C4}"/>
              </a:ext>
            </a:extLst>
          </p:cNvPr>
          <p:cNvSpPr>
            <a:spLocks noGrp="1"/>
          </p:cNvSpPr>
          <p:nvPr>
            <p:ph type="sldNum" sz="quarter" idx="12"/>
          </p:nvPr>
        </p:nvSpPr>
        <p:spPr/>
        <p:txBody>
          <a:bodyPr/>
          <a:lstStyle/>
          <a:p>
            <a:fld id="{A5686A01-FA10-4E06-92C7-92734750F4C6}" type="slidenum">
              <a:rPr lang="en-US" smtClean="0"/>
              <a:t>20</a:t>
            </a:fld>
            <a:endParaRPr lang="en-US"/>
          </a:p>
        </p:txBody>
      </p:sp>
      <p:sp>
        <p:nvSpPr>
          <p:cNvPr id="4" name="TextBox 3">
            <a:extLst>
              <a:ext uri="{FF2B5EF4-FFF2-40B4-BE49-F238E27FC236}">
                <a16:creationId xmlns:a16="http://schemas.microsoft.com/office/drawing/2014/main" id="{44CCEDEA-79E0-4161-AF87-0F927E68A4A3}"/>
              </a:ext>
            </a:extLst>
          </p:cNvPr>
          <p:cNvSpPr txBox="1"/>
          <p:nvPr/>
        </p:nvSpPr>
        <p:spPr>
          <a:xfrm>
            <a:off x="-2" y="2368195"/>
            <a:ext cx="12192000" cy="4247317"/>
          </a:xfrm>
          <a:prstGeom prst="rect">
            <a:avLst/>
          </a:prstGeom>
          <a:noFill/>
        </p:spPr>
        <p:txBody>
          <a:bodyPr wrap="square" rtlCol="0">
            <a:spAutoFit/>
          </a:bodyPr>
          <a:lstStyle/>
          <a:p>
            <a:pPr algn="l"/>
            <a:r>
              <a:rPr lang="en-US" sz="3000" u="sng" dirty="0"/>
              <a:t>Pros</a:t>
            </a:r>
            <a:r>
              <a:rPr lang="en-US" sz="3000" dirty="0"/>
              <a:t>:</a:t>
            </a:r>
          </a:p>
          <a:p>
            <a:pPr marL="457200" indent="-457200" algn="l">
              <a:buFont typeface="Arial" panose="020B0604020202020204" pitchFamily="34" charset="0"/>
              <a:buChar char="•"/>
            </a:pPr>
            <a:r>
              <a:rPr lang="en-US" sz="3000" dirty="0"/>
              <a:t>If models make different types of errors, ensemble </a:t>
            </a:r>
            <a:r>
              <a:rPr lang="en-US" sz="3000" i="1" dirty="0"/>
              <a:t>usually</a:t>
            </a:r>
            <a:r>
              <a:rPr lang="en-US" sz="3000" dirty="0"/>
              <a:t> more accurate</a:t>
            </a:r>
          </a:p>
          <a:p>
            <a:pPr marL="457200" indent="-457200" algn="l">
              <a:buFont typeface="Arial" panose="020B0604020202020204" pitchFamily="34" charset="0"/>
              <a:buChar char="•"/>
            </a:pPr>
            <a:r>
              <a:rPr lang="en-US" sz="3000" dirty="0"/>
              <a:t>More representation power than individual models</a:t>
            </a:r>
          </a:p>
          <a:p>
            <a:pPr marL="457200" indent="-457200" algn="l">
              <a:buFont typeface="Arial" panose="020B0604020202020204" pitchFamily="34" charset="0"/>
              <a:buChar char="•"/>
            </a:pPr>
            <a:r>
              <a:rPr lang="en-US" sz="3000" dirty="0"/>
              <a:t>Smoother predictions (less spread) </a:t>
            </a:r>
            <a:r>
              <a:rPr lang="en-US" sz="3000" dirty="0">
                <a:cs typeface="Times New Roman" panose="02020603050405020304" pitchFamily="18" charset="0"/>
              </a:rPr>
              <a:t>→ Increase in robustness</a:t>
            </a:r>
            <a:endParaRPr lang="en-US" sz="3000" dirty="0"/>
          </a:p>
          <a:p>
            <a:pPr marL="457200" indent="-457200" algn="l">
              <a:buFont typeface="Arial" panose="020B0604020202020204" pitchFamily="34" charset="0"/>
              <a:buChar char="•"/>
            </a:pPr>
            <a:r>
              <a:rPr lang="en-US" sz="3000" dirty="0"/>
              <a:t>Uncertainty quantification</a:t>
            </a:r>
          </a:p>
          <a:p>
            <a:pPr marL="457200" indent="-457200" algn="l">
              <a:buFont typeface="Arial" panose="020B0604020202020204" pitchFamily="34" charset="0"/>
              <a:buChar char="•"/>
            </a:pPr>
            <a:r>
              <a:rPr lang="en-US" sz="3000" dirty="0"/>
              <a:t>Probabilistic predictions</a:t>
            </a:r>
          </a:p>
          <a:p>
            <a:pPr marL="457200" indent="-457200" algn="l">
              <a:buFont typeface="Arial" panose="020B0604020202020204" pitchFamily="34" charset="0"/>
              <a:buChar char="•"/>
            </a:pPr>
            <a:endParaRPr lang="en-US" sz="3000" dirty="0"/>
          </a:p>
          <a:p>
            <a:pPr algn="l"/>
            <a:r>
              <a:rPr lang="en-US" sz="3000" u="sng" dirty="0"/>
              <a:t>Cons (Q = Why not always train ensemble models?)</a:t>
            </a:r>
            <a:r>
              <a:rPr lang="en-US" sz="3000" dirty="0"/>
              <a:t>:</a:t>
            </a:r>
          </a:p>
          <a:p>
            <a:pPr algn="l"/>
            <a:r>
              <a:rPr lang="en-US" sz="3000" dirty="0"/>
              <a:t>(1) Computationally expensive; (2) Less interpretable; (3) Can increase bias</a:t>
            </a:r>
          </a:p>
        </p:txBody>
      </p:sp>
    </p:spTree>
    <p:extLst>
      <p:ext uri="{BB962C8B-B14F-4D97-AF65-F5344CB8AC3E}">
        <p14:creationId xmlns:p14="http://schemas.microsoft.com/office/powerpoint/2010/main" val="887473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500"/>
                                        <p:tgtEl>
                                          <p:spTgt spid="4">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fade">
                                      <p:cBhvr>
                                        <p:cTn id="13" dur="500"/>
                                        <p:tgtEl>
                                          <p:spTgt spid="4">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4" end="4"/>
                                            </p:txEl>
                                          </p:spTgt>
                                        </p:tgtEl>
                                        <p:attrNameLst>
                                          <p:attrName>style.visibility</p:attrName>
                                        </p:attrNameLst>
                                      </p:cBhvr>
                                      <p:to>
                                        <p:strVal val="visible"/>
                                      </p:to>
                                    </p:set>
                                    <p:animEffect transition="in" filter="fade">
                                      <p:cBhvr>
                                        <p:cTn id="16" dur="500"/>
                                        <p:tgtEl>
                                          <p:spTgt spid="4">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Effect transition="in" filter="fade">
                                      <p:cBhvr>
                                        <p:cTn id="19" dur="500"/>
                                        <p:tgtEl>
                                          <p:spTgt spid="4">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4">
                                            <p:txEl>
                                              <p:pRg st="7" end="7"/>
                                            </p:txEl>
                                          </p:spTgt>
                                        </p:tgtEl>
                                        <p:attrNameLst>
                                          <p:attrName>style.visibility</p:attrName>
                                        </p:attrNameLst>
                                      </p:cBhvr>
                                      <p:to>
                                        <p:strVal val="visible"/>
                                      </p:to>
                                    </p:set>
                                    <p:animEffect transition="in" filter="fade">
                                      <p:cBhvr>
                                        <p:cTn id="24" dur="500"/>
                                        <p:tgtEl>
                                          <p:spTgt spid="4">
                                            <p:txEl>
                                              <p:pRg st="7" end="7"/>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animEffect transition="in" filter="fade">
                                      <p:cBhvr>
                                        <p:cTn id="27"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5A206-FB7F-4713-998A-C5C490676056}"/>
              </a:ext>
            </a:extLst>
          </p:cNvPr>
          <p:cNvSpPr>
            <a:spLocks noGrp="1"/>
          </p:cNvSpPr>
          <p:nvPr>
            <p:ph type="title"/>
          </p:nvPr>
        </p:nvSpPr>
        <p:spPr/>
        <p:txBody>
          <a:bodyPr/>
          <a:lstStyle/>
          <a:p>
            <a:r>
              <a:rPr lang="en-US" dirty="0"/>
              <a:t>Bagging = Sampling </a:t>
            </a:r>
            <a:r>
              <a:rPr lang="en-US" i="1" dirty="0"/>
              <a:t>with</a:t>
            </a:r>
            <a:r>
              <a:rPr lang="en-US" dirty="0"/>
              <a:t> replacement</a:t>
            </a:r>
            <a:br>
              <a:rPr lang="en-US" dirty="0"/>
            </a:br>
            <a:r>
              <a:rPr lang="en-US" dirty="0"/>
              <a:t>Pasting = Sampling </a:t>
            </a:r>
            <a:r>
              <a:rPr lang="en-US" i="1" dirty="0"/>
              <a:t>without</a:t>
            </a:r>
            <a:r>
              <a:rPr lang="en-US" dirty="0"/>
              <a:t> replacement</a:t>
            </a:r>
          </a:p>
        </p:txBody>
      </p:sp>
      <p:sp>
        <p:nvSpPr>
          <p:cNvPr id="3" name="Slide Number Placeholder 2">
            <a:extLst>
              <a:ext uri="{FF2B5EF4-FFF2-40B4-BE49-F238E27FC236}">
                <a16:creationId xmlns:a16="http://schemas.microsoft.com/office/drawing/2014/main" id="{E26CFA16-12C3-404C-82E1-DEB2D37DBF20}"/>
              </a:ext>
            </a:extLst>
          </p:cNvPr>
          <p:cNvSpPr>
            <a:spLocks noGrp="1"/>
          </p:cNvSpPr>
          <p:nvPr>
            <p:ph type="sldNum" sz="quarter" idx="12"/>
          </p:nvPr>
        </p:nvSpPr>
        <p:spPr/>
        <p:txBody>
          <a:bodyPr/>
          <a:lstStyle/>
          <a:p>
            <a:fld id="{A5686A01-FA10-4E06-92C7-92734750F4C6}" type="slidenum">
              <a:rPr lang="en-US" smtClean="0"/>
              <a:t>21</a:t>
            </a:fld>
            <a:endParaRPr lang="en-US"/>
          </a:p>
        </p:txBody>
      </p:sp>
      <p:sp>
        <p:nvSpPr>
          <p:cNvPr id="4" name="Oval 3">
            <a:extLst>
              <a:ext uri="{FF2B5EF4-FFF2-40B4-BE49-F238E27FC236}">
                <a16:creationId xmlns:a16="http://schemas.microsoft.com/office/drawing/2014/main" id="{B10BD4FC-2AF1-41A0-8A40-80B35A3605E2}"/>
              </a:ext>
            </a:extLst>
          </p:cNvPr>
          <p:cNvSpPr/>
          <p:nvPr/>
        </p:nvSpPr>
        <p:spPr>
          <a:xfrm>
            <a:off x="-2" y="2361461"/>
            <a:ext cx="4666595" cy="4496539"/>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254EF3CE-05CF-49BA-BC14-F849A38DD3F9}"/>
              </a:ext>
            </a:extLst>
          </p:cNvPr>
          <p:cNvSpPr/>
          <p:nvPr/>
        </p:nvSpPr>
        <p:spPr>
          <a:xfrm>
            <a:off x="6085495" y="2419227"/>
            <a:ext cx="1873470" cy="181135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8C326C6-850B-4CC1-BFFB-C978E913427D}"/>
              </a:ext>
            </a:extLst>
          </p:cNvPr>
          <p:cNvSpPr/>
          <p:nvPr/>
        </p:nvSpPr>
        <p:spPr>
          <a:xfrm>
            <a:off x="8626366" y="3045702"/>
            <a:ext cx="3166241" cy="2984608"/>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0410674D-D9E3-4166-B4AB-DFC37FF00D45}"/>
              </a:ext>
            </a:extLst>
          </p:cNvPr>
          <p:cNvSpPr/>
          <p:nvPr/>
        </p:nvSpPr>
        <p:spPr>
          <a:xfrm>
            <a:off x="6085495" y="4489806"/>
            <a:ext cx="2493580" cy="2285566"/>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C12712D-7DFE-4DB4-9E7C-1163947C7C33}"/>
              </a:ext>
            </a:extLst>
          </p:cNvPr>
          <p:cNvSpPr txBox="1"/>
          <p:nvPr/>
        </p:nvSpPr>
        <p:spPr>
          <a:xfrm>
            <a:off x="717329" y="2537870"/>
            <a:ext cx="3231931" cy="1015663"/>
          </a:xfrm>
          <a:prstGeom prst="rect">
            <a:avLst/>
          </a:prstGeom>
          <a:noFill/>
        </p:spPr>
        <p:txBody>
          <a:bodyPr wrap="square" rtlCol="0">
            <a:spAutoFit/>
          </a:bodyPr>
          <a:lstStyle/>
          <a:p>
            <a:pPr algn="ctr"/>
            <a:r>
              <a:rPr lang="en-US" sz="3000" dirty="0"/>
              <a:t>Original Training Set</a:t>
            </a:r>
          </a:p>
        </p:txBody>
      </p:sp>
      <p:pic>
        <p:nvPicPr>
          <p:cNvPr id="1030" name="Picture 6" descr="Different of fruits realistic Royalty Free Vector Image">
            <a:extLst>
              <a:ext uri="{FF2B5EF4-FFF2-40B4-BE49-F238E27FC236}">
                <a16:creationId xmlns:a16="http://schemas.microsoft.com/office/drawing/2014/main" id="{B71061D0-9A3F-4D5D-B32D-53215F1E2A1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9583" t="31807" b="40760"/>
          <a:stretch/>
        </p:blipFill>
        <p:spPr bwMode="auto">
          <a:xfrm>
            <a:off x="3343945" y="3695139"/>
            <a:ext cx="1049298" cy="102207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Different of fruits realistic Royalty Free Vector Image">
            <a:extLst>
              <a:ext uri="{FF2B5EF4-FFF2-40B4-BE49-F238E27FC236}">
                <a16:creationId xmlns:a16="http://schemas.microsoft.com/office/drawing/2014/main" id="{5C9185E2-1F47-4E1D-846B-C21402D024B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0731" b="66673"/>
          <a:stretch/>
        </p:blipFill>
        <p:spPr bwMode="auto">
          <a:xfrm>
            <a:off x="492263" y="4760991"/>
            <a:ext cx="1325853" cy="121525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descr="Different of fruits realistic Royalty Free Vector Image">
            <a:extLst>
              <a:ext uri="{FF2B5EF4-FFF2-40B4-BE49-F238E27FC236}">
                <a16:creationId xmlns:a16="http://schemas.microsoft.com/office/drawing/2014/main" id="{2C8FC8AB-D3FF-457C-A010-DFB1703AB88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9946" t="5016" r="32212" b="71705"/>
          <a:stretch/>
        </p:blipFill>
        <p:spPr bwMode="auto">
          <a:xfrm>
            <a:off x="1818116" y="3732418"/>
            <a:ext cx="1049298" cy="94751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Different of fruits realistic Royalty Free Vector Image">
            <a:extLst>
              <a:ext uri="{FF2B5EF4-FFF2-40B4-BE49-F238E27FC236}">
                <a16:creationId xmlns:a16="http://schemas.microsoft.com/office/drawing/2014/main" id="{910D82D1-12E8-4205-BD72-FE91E9593ED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2752" r="58791" b="39814"/>
          <a:stretch/>
        </p:blipFill>
        <p:spPr bwMode="auto">
          <a:xfrm>
            <a:off x="2084270" y="5190247"/>
            <a:ext cx="1556671" cy="1119209"/>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Different of fruits realistic Royalty Free Vector Image">
            <a:extLst>
              <a:ext uri="{FF2B5EF4-FFF2-40B4-BE49-F238E27FC236}">
                <a16:creationId xmlns:a16="http://schemas.microsoft.com/office/drawing/2014/main" id="{823824CC-9880-4EDD-BC27-4C98308C443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9847" t="31807" r="32635" b="40760"/>
          <a:stretch/>
        </p:blipFill>
        <p:spPr bwMode="auto">
          <a:xfrm>
            <a:off x="306138" y="3575653"/>
            <a:ext cx="849052" cy="91415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D748AEA2-641D-4D8E-B035-38F117F6D161}"/>
              </a:ext>
            </a:extLst>
          </p:cNvPr>
          <p:cNvSpPr txBox="1"/>
          <p:nvPr/>
        </p:nvSpPr>
        <p:spPr>
          <a:xfrm>
            <a:off x="4737546" y="4058919"/>
            <a:ext cx="1361095" cy="861774"/>
          </a:xfrm>
          <a:prstGeom prst="rect">
            <a:avLst/>
          </a:prstGeom>
          <a:noFill/>
        </p:spPr>
        <p:txBody>
          <a:bodyPr wrap="square" rtlCol="0">
            <a:spAutoFit/>
          </a:bodyPr>
          <a:lstStyle/>
          <a:p>
            <a:pPr algn="ctr"/>
            <a:r>
              <a:rPr lang="en-US" sz="5000" dirty="0">
                <a:cs typeface="Times New Roman" panose="02020603050405020304" pitchFamily="18" charset="0"/>
              </a:rPr>
              <a:t>?→?</a:t>
            </a:r>
            <a:endParaRPr lang="en-US" sz="5000" dirty="0"/>
          </a:p>
        </p:txBody>
      </p:sp>
      <p:pic>
        <p:nvPicPr>
          <p:cNvPr id="16" name="Picture 15" descr="Icon&#10;&#10;Description automatically generated">
            <a:extLst>
              <a:ext uri="{FF2B5EF4-FFF2-40B4-BE49-F238E27FC236}">
                <a16:creationId xmlns:a16="http://schemas.microsoft.com/office/drawing/2014/main" id="{F436110E-8D73-49B1-AF29-F79FEA24E5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 y="1106750"/>
            <a:ext cx="915958" cy="915958"/>
          </a:xfrm>
          <a:prstGeom prst="rect">
            <a:avLst/>
          </a:prstGeom>
        </p:spPr>
      </p:pic>
      <p:pic>
        <p:nvPicPr>
          <p:cNvPr id="17" name="Picture 16" descr="Icon&#10;&#10;Description automatically generated">
            <a:extLst>
              <a:ext uri="{FF2B5EF4-FFF2-40B4-BE49-F238E27FC236}">
                <a16:creationId xmlns:a16="http://schemas.microsoft.com/office/drawing/2014/main" id="{C286413D-6B41-44C8-8DDB-9D98D8B18A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34628" y="1106750"/>
            <a:ext cx="915958" cy="915958"/>
          </a:xfrm>
          <a:prstGeom prst="rect">
            <a:avLst/>
          </a:prstGeom>
        </p:spPr>
      </p:pic>
    </p:spTree>
    <p:extLst>
      <p:ext uri="{BB962C8B-B14F-4D97-AF65-F5344CB8AC3E}">
        <p14:creationId xmlns:p14="http://schemas.microsoft.com/office/powerpoint/2010/main" val="1765219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1030"/>
                                        </p:tgtEl>
                                        <p:attrNameLst>
                                          <p:attrName>style.visibility</p:attrName>
                                        </p:attrNameLst>
                                      </p:cBhvr>
                                      <p:to>
                                        <p:strVal val="visible"/>
                                      </p:to>
                                    </p:set>
                                    <p:animEffect transition="in" filter="fade">
                                      <p:cBhvr>
                                        <p:cTn id="22" dur="500"/>
                                        <p:tgtEl>
                                          <p:spTgt spid="1030"/>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10" presetClass="entr" presetSubtype="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p:bldP spid="1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5A206-FB7F-4713-998A-C5C490676056}"/>
              </a:ext>
            </a:extLst>
          </p:cNvPr>
          <p:cNvSpPr>
            <a:spLocks noGrp="1"/>
          </p:cNvSpPr>
          <p:nvPr>
            <p:ph type="title"/>
          </p:nvPr>
        </p:nvSpPr>
        <p:spPr/>
        <p:txBody>
          <a:bodyPr/>
          <a:lstStyle/>
          <a:p>
            <a:r>
              <a:rPr lang="en-US" dirty="0"/>
              <a:t>Bagging = Sampling </a:t>
            </a:r>
            <a:r>
              <a:rPr lang="en-US" i="1" dirty="0"/>
              <a:t>with</a:t>
            </a:r>
            <a:r>
              <a:rPr lang="en-US" dirty="0"/>
              <a:t> replacement</a:t>
            </a:r>
            <a:br>
              <a:rPr lang="en-US" dirty="0"/>
            </a:br>
            <a:r>
              <a:rPr lang="en-US" dirty="0"/>
              <a:t>Pasting = Sampling </a:t>
            </a:r>
            <a:r>
              <a:rPr lang="en-US" i="1" dirty="0"/>
              <a:t>without</a:t>
            </a:r>
            <a:r>
              <a:rPr lang="en-US" dirty="0"/>
              <a:t> replacement</a:t>
            </a:r>
          </a:p>
        </p:txBody>
      </p:sp>
      <p:sp>
        <p:nvSpPr>
          <p:cNvPr id="3" name="Slide Number Placeholder 2">
            <a:extLst>
              <a:ext uri="{FF2B5EF4-FFF2-40B4-BE49-F238E27FC236}">
                <a16:creationId xmlns:a16="http://schemas.microsoft.com/office/drawing/2014/main" id="{E26CFA16-12C3-404C-82E1-DEB2D37DBF20}"/>
              </a:ext>
            </a:extLst>
          </p:cNvPr>
          <p:cNvSpPr>
            <a:spLocks noGrp="1"/>
          </p:cNvSpPr>
          <p:nvPr>
            <p:ph type="sldNum" sz="quarter" idx="12"/>
          </p:nvPr>
        </p:nvSpPr>
        <p:spPr/>
        <p:txBody>
          <a:bodyPr/>
          <a:lstStyle/>
          <a:p>
            <a:fld id="{A5686A01-FA10-4E06-92C7-92734750F4C6}" type="slidenum">
              <a:rPr lang="en-US" smtClean="0"/>
              <a:t>22</a:t>
            </a:fld>
            <a:endParaRPr lang="en-US"/>
          </a:p>
        </p:txBody>
      </p:sp>
      <p:sp>
        <p:nvSpPr>
          <p:cNvPr id="4" name="Oval 3">
            <a:extLst>
              <a:ext uri="{FF2B5EF4-FFF2-40B4-BE49-F238E27FC236}">
                <a16:creationId xmlns:a16="http://schemas.microsoft.com/office/drawing/2014/main" id="{B10BD4FC-2AF1-41A0-8A40-80B35A3605E2}"/>
              </a:ext>
            </a:extLst>
          </p:cNvPr>
          <p:cNvSpPr/>
          <p:nvPr/>
        </p:nvSpPr>
        <p:spPr>
          <a:xfrm>
            <a:off x="-2" y="2361461"/>
            <a:ext cx="4666595" cy="4496539"/>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254EF3CE-05CF-49BA-BC14-F849A38DD3F9}"/>
              </a:ext>
            </a:extLst>
          </p:cNvPr>
          <p:cNvSpPr/>
          <p:nvPr/>
        </p:nvSpPr>
        <p:spPr>
          <a:xfrm>
            <a:off x="6085495" y="2419227"/>
            <a:ext cx="1873470" cy="181135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8C326C6-850B-4CC1-BFFB-C978E913427D}"/>
              </a:ext>
            </a:extLst>
          </p:cNvPr>
          <p:cNvSpPr/>
          <p:nvPr/>
        </p:nvSpPr>
        <p:spPr>
          <a:xfrm>
            <a:off x="8626366" y="3045702"/>
            <a:ext cx="3166241" cy="2984608"/>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0410674D-D9E3-4166-B4AB-DFC37FF00D45}"/>
              </a:ext>
            </a:extLst>
          </p:cNvPr>
          <p:cNvSpPr/>
          <p:nvPr/>
        </p:nvSpPr>
        <p:spPr>
          <a:xfrm>
            <a:off x="6085495" y="4489806"/>
            <a:ext cx="2493580" cy="2285566"/>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C12712D-7DFE-4DB4-9E7C-1163947C7C33}"/>
              </a:ext>
            </a:extLst>
          </p:cNvPr>
          <p:cNvSpPr txBox="1"/>
          <p:nvPr/>
        </p:nvSpPr>
        <p:spPr>
          <a:xfrm>
            <a:off x="717329" y="2537870"/>
            <a:ext cx="3231931" cy="1015663"/>
          </a:xfrm>
          <a:prstGeom prst="rect">
            <a:avLst/>
          </a:prstGeom>
          <a:noFill/>
        </p:spPr>
        <p:txBody>
          <a:bodyPr wrap="square" rtlCol="0">
            <a:spAutoFit/>
          </a:bodyPr>
          <a:lstStyle/>
          <a:p>
            <a:pPr algn="ctr"/>
            <a:r>
              <a:rPr lang="en-US" sz="3000" dirty="0"/>
              <a:t>Original Training Set</a:t>
            </a:r>
          </a:p>
        </p:txBody>
      </p:sp>
      <p:pic>
        <p:nvPicPr>
          <p:cNvPr id="1030" name="Picture 6" descr="Different of fruits realistic Royalty Free Vector Image">
            <a:extLst>
              <a:ext uri="{FF2B5EF4-FFF2-40B4-BE49-F238E27FC236}">
                <a16:creationId xmlns:a16="http://schemas.microsoft.com/office/drawing/2014/main" id="{B71061D0-9A3F-4D5D-B32D-53215F1E2A1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9583" t="31807" b="40760"/>
          <a:stretch/>
        </p:blipFill>
        <p:spPr bwMode="auto">
          <a:xfrm>
            <a:off x="3343945" y="3695139"/>
            <a:ext cx="1049298" cy="102207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Different of fruits realistic Royalty Free Vector Image">
            <a:extLst>
              <a:ext uri="{FF2B5EF4-FFF2-40B4-BE49-F238E27FC236}">
                <a16:creationId xmlns:a16="http://schemas.microsoft.com/office/drawing/2014/main" id="{5C9185E2-1F47-4E1D-846B-C21402D024B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0731" b="66673"/>
          <a:stretch/>
        </p:blipFill>
        <p:spPr bwMode="auto">
          <a:xfrm>
            <a:off x="492263" y="4760991"/>
            <a:ext cx="1325853" cy="121525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descr="Different of fruits realistic Royalty Free Vector Image">
            <a:extLst>
              <a:ext uri="{FF2B5EF4-FFF2-40B4-BE49-F238E27FC236}">
                <a16:creationId xmlns:a16="http://schemas.microsoft.com/office/drawing/2014/main" id="{2C8FC8AB-D3FF-457C-A010-DFB1703AB88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946" t="5016" r="32212" b="71705"/>
          <a:stretch/>
        </p:blipFill>
        <p:spPr bwMode="auto">
          <a:xfrm>
            <a:off x="1818116" y="3732418"/>
            <a:ext cx="1049298" cy="94751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Different of fruits realistic Royalty Free Vector Image">
            <a:extLst>
              <a:ext uri="{FF2B5EF4-FFF2-40B4-BE49-F238E27FC236}">
                <a16:creationId xmlns:a16="http://schemas.microsoft.com/office/drawing/2014/main" id="{910D82D1-12E8-4205-BD72-FE91E9593ED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2752" r="58791" b="39814"/>
          <a:stretch/>
        </p:blipFill>
        <p:spPr bwMode="auto">
          <a:xfrm>
            <a:off x="2084270" y="5190247"/>
            <a:ext cx="1556671" cy="1119209"/>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Different of fruits realistic Royalty Free Vector Image">
            <a:extLst>
              <a:ext uri="{FF2B5EF4-FFF2-40B4-BE49-F238E27FC236}">
                <a16:creationId xmlns:a16="http://schemas.microsoft.com/office/drawing/2014/main" id="{823824CC-9880-4EDD-BC27-4C98308C443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847" t="31807" r="32635" b="40760"/>
          <a:stretch/>
        </p:blipFill>
        <p:spPr bwMode="auto">
          <a:xfrm>
            <a:off x="306138" y="3575653"/>
            <a:ext cx="849052" cy="91415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D748AEA2-641D-4D8E-B035-38F117F6D161}"/>
              </a:ext>
            </a:extLst>
          </p:cNvPr>
          <p:cNvSpPr txBox="1"/>
          <p:nvPr/>
        </p:nvSpPr>
        <p:spPr>
          <a:xfrm>
            <a:off x="4737546" y="4058919"/>
            <a:ext cx="1361095" cy="861774"/>
          </a:xfrm>
          <a:prstGeom prst="rect">
            <a:avLst/>
          </a:prstGeom>
          <a:noFill/>
        </p:spPr>
        <p:txBody>
          <a:bodyPr wrap="square" rtlCol="0">
            <a:spAutoFit/>
          </a:bodyPr>
          <a:lstStyle/>
          <a:p>
            <a:pPr algn="ctr"/>
            <a:r>
              <a:rPr lang="en-US" sz="5000" dirty="0">
                <a:cs typeface="Times New Roman" panose="02020603050405020304" pitchFamily="18" charset="0"/>
              </a:rPr>
              <a:t>→</a:t>
            </a:r>
            <a:endParaRPr lang="en-US" sz="5000" dirty="0"/>
          </a:p>
        </p:txBody>
      </p:sp>
      <p:pic>
        <p:nvPicPr>
          <p:cNvPr id="16" name="Picture 6" descr="Different of fruits realistic Royalty Free Vector Image">
            <a:extLst>
              <a:ext uri="{FF2B5EF4-FFF2-40B4-BE49-F238E27FC236}">
                <a16:creationId xmlns:a16="http://schemas.microsoft.com/office/drawing/2014/main" id="{0606B487-5607-4A75-AFC1-9CFE013CCAF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946" t="5016" r="32212" b="71705"/>
          <a:stretch/>
        </p:blipFill>
        <p:spPr bwMode="auto">
          <a:xfrm>
            <a:off x="6418302" y="2739798"/>
            <a:ext cx="636657" cy="57490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6" descr="Different of fruits realistic Royalty Free Vector Image">
            <a:extLst>
              <a:ext uri="{FF2B5EF4-FFF2-40B4-BE49-F238E27FC236}">
                <a16:creationId xmlns:a16="http://schemas.microsoft.com/office/drawing/2014/main" id="{AE90B1EB-5950-4CF0-8C07-3FE40E31477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9583" t="31807" b="40760"/>
          <a:stretch/>
        </p:blipFill>
        <p:spPr bwMode="auto">
          <a:xfrm>
            <a:off x="7151302" y="3290309"/>
            <a:ext cx="585888" cy="57068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6" descr="Different of fruits realistic Royalty Free Vector Image">
            <a:extLst>
              <a:ext uri="{FF2B5EF4-FFF2-40B4-BE49-F238E27FC236}">
                <a16:creationId xmlns:a16="http://schemas.microsoft.com/office/drawing/2014/main" id="{70C883C7-33DA-4459-BB19-51181E3E3E0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0731" b="66673"/>
          <a:stretch/>
        </p:blipFill>
        <p:spPr bwMode="auto">
          <a:xfrm>
            <a:off x="6669358" y="5024963"/>
            <a:ext cx="1325853" cy="121525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6" descr="Different of fruits realistic Royalty Free Vector Image">
            <a:extLst>
              <a:ext uri="{FF2B5EF4-FFF2-40B4-BE49-F238E27FC236}">
                <a16:creationId xmlns:a16="http://schemas.microsoft.com/office/drawing/2014/main" id="{442E21A5-DFAA-45C5-99DE-30B2C6A2733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2752" r="58791" b="39814"/>
          <a:stretch/>
        </p:blipFill>
        <p:spPr bwMode="auto">
          <a:xfrm>
            <a:off x="9431150" y="3510463"/>
            <a:ext cx="1556671" cy="111920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6" descr="Different of fruits realistic Royalty Free Vector Image">
            <a:extLst>
              <a:ext uri="{FF2B5EF4-FFF2-40B4-BE49-F238E27FC236}">
                <a16:creationId xmlns:a16="http://schemas.microsoft.com/office/drawing/2014/main" id="{D1703689-18F6-4EC7-A796-6621C1B6920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847" t="31807" r="32635" b="40760"/>
          <a:stretch/>
        </p:blipFill>
        <p:spPr bwMode="auto">
          <a:xfrm>
            <a:off x="9784959" y="4872914"/>
            <a:ext cx="849052" cy="9141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6880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5A206-FB7F-4713-998A-C5C490676056}"/>
              </a:ext>
            </a:extLst>
          </p:cNvPr>
          <p:cNvSpPr>
            <a:spLocks noGrp="1"/>
          </p:cNvSpPr>
          <p:nvPr>
            <p:ph type="title"/>
          </p:nvPr>
        </p:nvSpPr>
        <p:spPr/>
        <p:txBody>
          <a:bodyPr/>
          <a:lstStyle/>
          <a:p>
            <a:r>
              <a:rPr lang="en-US" dirty="0"/>
              <a:t>Bagging = Sampling </a:t>
            </a:r>
            <a:r>
              <a:rPr lang="en-US" i="1" dirty="0"/>
              <a:t>with</a:t>
            </a:r>
            <a:r>
              <a:rPr lang="en-US" dirty="0"/>
              <a:t> replacement</a:t>
            </a:r>
            <a:br>
              <a:rPr lang="en-US" dirty="0"/>
            </a:br>
            <a:r>
              <a:rPr lang="en-US" dirty="0"/>
              <a:t>Pasting = Sampling </a:t>
            </a:r>
            <a:r>
              <a:rPr lang="en-US" i="1" dirty="0"/>
              <a:t>without</a:t>
            </a:r>
            <a:r>
              <a:rPr lang="en-US" dirty="0"/>
              <a:t> replacement</a:t>
            </a:r>
          </a:p>
        </p:txBody>
      </p:sp>
      <p:sp>
        <p:nvSpPr>
          <p:cNvPr id="3" name="Slide Number Placeholder 2">
            <a:extLst>
              <a:ext uri="{FF2B5EF4-FFF2-40B4-BE49-F238E27FC236}">
                <a16:creationId xmlns:a16="http://schemas.microsoft.com/office/drawing/2014/main" id="{E26CFA16-12C3-404C-82E1-DEB2D37DBF20}"/>
              </a:ext>
            </a:extLst>
          </p:cNvPr>
          <p:cNvSpPr>
            <a:spLocks noGrp="1"/>
          </p:cNvSpPr>
          <p:nvPr>
            <p:ph type="sldNum" sz="quarter" idx="12"/>
          </p:nvPr>
        </p:nvSpPr>
        <p:spPr/>
        <p:txBody>
          <a:bodyPr/>
          <a:lstStyle/>
          <a:p>
            <a:fld id="{A5686A01-FA10-4E06-92C7-92734750F4C6}" type="slidenum">
              <a:rPr lang="en-US" smtClean="0"/>
              <a:t>23</a:t>
            </a:fld>
            <a:endParaRPr lang="en-US"/>
          </a:p>
        </p:txBody>
      </p:sp>
      <p:sp>
        <p:nvSpPr>
          <p:cNvPr id="4" name="Oval 3">
            <a:extLst>
              <a:ext uri="{FF2B5EF4-FFF2-40B4-BE49-F238E27FC236}">
                <a16:creationId xmlns:a16="http://schemas.microsoft.com/office/drawing/2014/main" id="{B10BD4FC-2AF1-41A0-8A40-80B35A3605E2}"/>
              </a:ext>
            </a:extLst>
          </p:cNvPr>
          <p:cNvSpPr/>
          <p:nvPr/>
        </p:nvSpPr>
        <p:spPr>
          <a:xfrm>
            <a:off x="-2" y="2361461"/>
            <a:ext cx="4666595" cy="4496539"/>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254EF3CE-05CF-49BA-BC14-F849A38DD3F9}"/>
              </a:ext>
            </a:extLst>
          </p:cNvPr>
          <p:cNvSpPr/>
          <p:nvPr/>
        </p:nvSpPr>
        <p:spPr>
          <a:xfrm>
            <a:off x="6085495" y="2419227"/>
            <a:ext cx="1873470" cy="181135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8C326C6-850B-4CC1-BFFB-C978E913427D}"/>
              </a:ext>
            </a:extLst>
          </p:cNvPr>
          <p:cNvSpPr/>
          <p:nvPr/>
        </p:nvSpPr>
        <p:spPr>
          <a:xfrm>
            <a:off x="8626366" y="3045702"/>
            <a:ext cx="3166241" cy="2984608"/>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0410674D-D9E3-4166-B4AB-DFC37FF00D45}"/>
              </a:ext>
            </a:extLst>
          </p:cNvPr>
          <p:cNvSpPr/>
          <p:nvPr/>
        </p:nvSpPr>
        <p:spPr>
          <a:xfrm>
            <a:off x="6085495" y="4489806"/>
            <a:ext cx="2493580" cy="2285566"/>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C12712D-7DFE-4DB4-9E7C-1163947C7C33}"/>
              </a:ext>
            </a:extLst>
          </p:cNvPr>
          <p:cNvSpPr txBox="1"/>
          <p:nvPr/>
        </p:nvSpPr>
        <p:spPr>
          <a:xfrm>
            <a:off x="717329" y="2537870"/>
            <a:ext cx="3231931" cy="1015663"/>
          </a:xfrm>
          <a:prstGeom prst="rect">
            <a:avLst/>
          </a:prstGeom>
          <a:noFill/>
        </p:spPr>
        <p:txBody>
          <a:bodyPr wrap="square" rtlCol="0">
            <a:spAutoFit/>
          </a:bodyPr>
          <a:lstStyle/>
          <a:p>
            <a:pPr algn="ctr"/>
            <a:r>
              <a:rPr lang="en-US" sz="3000" dirty="0"/>
              <a:t>Original Training Set</a:t>
            </a:r>
          </a:p>
        </p:txBody>
      </p:sp>
      <p:pic>
        <p:nvPicPr>
          <p:cNvPr id="1030" name="Picture 6" descr="Different of fruits realistic Royalty Free Vector Image">
            <a:extLst>
              <a:ext uri="{FF2B5EF4-FFF2-40B4-BE49-F238E27FC236}">
                <a16:creationId xmlns:a16="http://schemas.microsoft.com/office/drawing/2014/main" id="{B71061D0-9A3F-4D5D-B32D-53215F1E2A1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9583" t="31807" b="40760"/>
          <a:stretch/>
        </p:blipFill>
        <p:spPr bwMode="auto">
          <a:xfrm>
            <a:off x="3343945" y="3695139"/>
            <a:ext cx="1049298" cy="102207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Different of fruits realistic Royalty Free Vector Image">
            <a:extLst>
              <a:ext uri="{FF2B5EF4-FFF2-40B4-BE49-F238E27FC236}">
                <a16:creationId xmlns:a16="http://schemas.microsoft.com/office/drawing/2014/main" id="{5C9185E2-1F47-4E1D-846B-C21402D024B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0731" b="66673"/>
          <a:stretch/>
        </p:blipFill>
        <p:spPr bwMode="auto">
          <a:xfrm>
            <a:off x="492263" y="4760991"/>
            <a:ext cx="1325853" cy="121525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descr="Different of fruits realistic Royalty Free Vector Image">
            <a:extLst>
              <a:ext uri="{FF2B5EF4-FFF2-40B4-BE49-F238E27FC236}">
                <a16:creationId xmlns:a16="http://schemas.microsoft.com/office/drawing/2014/main" id="{2C8FC8AB-D3FF-457C-A010-DFB1703AB88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946" t="5016" r="32212" b="71705"/>
          <a:stretch/>
        </p:blipFill>
        <p:spPr bwMode="auto">
          <a:xfrm>
            <a:off x="1818116" y="3732418"/>
            <a:ext cx="1049298" cy="94751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Different of fruits realistic Royalty Free Vector Image">
            <a:extLst>
              <a:ext uri="{FF2B5EF4-FFF2-40B4-BE49-F238E27FC236}">
                <a16:creationId xmlns:a16="http://schemas.microsoft.com/office/drawing/2014/main" id="{910D82D1-12E8-4205-BD72-FE91E9593ED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2752" r="58791" b="39814"/>
          <a:stretch/>
        </p:blipFill>
        <p:spPr bwMode="auto">
          <a:xfrm>
            <a:off x="2084270" y="5190247"/>
            <a:ext cx="1556671" cy="1119209"/>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Different of fruits realistic Royalty Free Vector Image">
            <a:extLst>
              <a:ext uri="{FF2B5EF4-FFF2-40B4-BE49-F238E27FC236}">
                <a16:creationId xmlns:a16="http://schemas.microsoft.com/office/drawing/2014/main" id="{823824CC-9880-4EDD-BC27-4C98308C443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847" t="31807" r="32635" b="40760"/>
          <a:stretch/>
        </p:blipFill>
        <p:spPr bwMode="auto">
          <a:xfrm>
            <a:off x="306138" y="3575653"/>
            <a:ext cx="849052" cy="91415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D748AEA2-641D-4D8E-B035-38F117F6D161}"/>
              </a:ext>
            </a:extLst>
          </p:cNvPr>
          <p:cNvSpPr txBox="1"/>
          <p:nvPr/>
        </p:nvSpPr>
        <p:spPr>
          <a:xfrm>
            <a:off x="4737546" y="4058919"/>
            <a:ext cx="1361095" cy="861774"/>
          </a:xfrm>
          <a:prstGeom prst="rect">
            <a:avLst/>
          </a:prstGeom>
          <a:noFill/>
        </p:spPr>
        <p:txBody>
          <a:bodyPr wrap="square" rtlCol="0">
            <a:spAutoFit/>
          </a:bodyPr>
          <a:lstStyle/>
          <a:p>
            <a:pPr algn="ctr"/>
            <a:r>
              <a:rPr lang="en-US" sz="5000" dirty="0">
                <a:cs typeface="Times New Roman" panose="02020603050405020304" pitchFamily="18" charset="0"/>
              </a:rPr>
              <a:t>→</a:t>
            </a:r>
            <a:endParaRPr lang="en-US" sz="5000" dirty="0"/>
          </a:p>
        </p:txBody>
      </p:sp>
      <p:pic>
        <p:nvPicPr>
          <p:cNvPr id="16" name="Picture 6" descr="Different of fruits realistic Royalty Free Vector Image">
            <a:extLst>
              <a:ext uri="{FF2B5EF4-FFF2-40B4-BE49-F238E27FC236}">
                <a16:creationId xmlns:a16="http://schemas.microsoft.com/office/drawing/2014/main" id="{0606B487-5607-4A75-AFC1-9CFE013CCAF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946" t="5016" r="32212" b="71705"/>
          <a:stretch/>
        </p:blipFill>
        <p:spPr bwMode="auto">
          <a:xfrm>
            <a:off x="6418302" y="2739798"/>
            <a:ext cx="636657" cy="57490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6" descr="Different of fruits realistic Royalty Free Vector Image">
            <a:extLst>
              <a:ext uri="{FF2B5EF4-FFF2-40B4-BE49-F238E27FC236}">
                <a16:creationId xmlns:a16="http://schemas.microsoft.com/office/drawing/2014/main" id="{AE90B1EB-5950-4CF0-8C07-3FE40E31477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9583" t="31807" b="40760"/>
          <a:stretch/>
        </p:blipFill>
        <p:spPr bwMode="auto">
          <a:xfrm>
            <a:off x="7151302" y="3290309"/>
            <a:ext cx="585888" cy="57068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6" descr="Different of fruits realistic Royalty Free Vector Image">
            <a:extLst>
              <a:ext uri="{FF2B5EF4-FFF2-40B4-BE49-F238E27FC236}">
                <a16:creationId xmlns:a16="http://schemas.microsoft.com/office/drawing/2014/main" id="{70C883C7-33DA-4459-BB19-51181E3E3E0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0731" b="66673"/>
          <a:stretch/>
        </p:blipFill>
        <p:spPr bwMode="auto">
          <a:xfrm>
            <a:off x="6414517" y="5208376"/>
            <a:ext cx="631991" cy="57927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6" descr="Different of fruits realistic Royalty Free Vector Image">
            <a:extLst>
              <a:ext uri="{FF2B5EF4-FFF2-40B4-BE49-F238E27FC236}">
                <a16:creationId xmlns:a16="http://schemas.microsoft.com/office/drawing/2014/main" id="{442E21A5-DFAA-45C5-99DE-30B2C6A2733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2752" r="58791" b="39814"/>
          <a:stretch/>
        </p:blipFill>
        <p:spPr bwMode="auto">
          <a:xfrm>
            <a:off x="9431150" y="3510463"/>
            <a:ext cx="1556671" cy="111920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6" descr="Different of fruits realistic Royalty Free Vector Image">
            <a:extLst>
              <a:ext uri="{FF2B5EF4-FFF2-40B4-BE49-F238E27FC236}">
                <a16:creationId xmlns:a16="http://schemas.microsoft.com/office/drawing/2014/main" id="{D1703689-18F6-4EC7-A796-6621C1B6920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847" t="31807" r="32635" b="40760"/>
          <a:stretch/>
        </p:blipFill>
        <p:spPr bwMode="auto">
          <a:xfrm>
            <a:off x="9784959" y="4872914"/>
            <a:ext cx="849052" cy="914153"/>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6" descr="Different of fruits realistic Royalty Free Vector Image">
            <a:extLst>
              <a:ext uri="{FF2B5EF4-FFF2-40B4-BE49-F238E27FC236}">
                <a16:creationId xmlns:a16="http://schemas.microsoft.com/office/drawing/2014/main" id="{2A8E48CB-D13E-4137-A084-A7C1BD06705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946" t="5016" r="32212" b="71705"/>
          <a:stretch/>
        </p:blipFill>
        <p:spPr bwMode="auto">
          <a:xfrm>
            <a:off x="7057272" y="5937105"/>
            <a:ext cx="631990" cy="570688"/>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6" descr="Different of fruits realistic Royalty Free Vector Image">
            <a:extLst>
              <a:ext uri="{FF2B5EF4-FFF2-40B4-BE49-F238E27FC236}">
                <a16:creationId xmlns:a16="http://schemas.microsoft.com/office/drawing/2014/main" id="{5F705FCC-1AC9-4C25-9FEA-51EEF310505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2752" r="58791" b="39814"/>
          <a:stretch/>
        </p:blipFill>
        <p:spPr bwMode="auto">
          <a:xfrm>
            <a:off x="7547671" y="5308296"/>
            <a:ext cx="822587" cy="59142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6" descr="Different of fruits realistic Royalty Free Vector Image">
            <a:extLst>
              <a:ext uri="{FF2B5EF4-FFF2-40B4-BE49-F238E27FC236}">
                <a16:creationId xmlns:a16="http://schemas.microsoft.com/office/drawing/2014/main" id="{468C0368-3322-42FD-8B1D-7E2E1023967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2752" r="58791" b="39814"/>
          <a:stretch/>
        </p:blipFill>
        <p:spPr bwMode="auto">
          <a:xfrm>
            <a:off x="6931501" y="4651162"/>
            <a:ext cx="698521" cy="50222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6" descr="Different of fruits realistic Royalty Free Vector Image">
            <a:extLst>
              <a:ext uri="{FF2B5EF4-FFF2-40B4-BE49-F238E27FC236}">
                <a16:creationId xmlns:a16="http://schemas.microsoft.com/office/drawing/2014/main" id="{3B448021-2646-4BAA-AFEE-8DE27FBE80F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9583" t="31807" b="40760"/>
          <a:stretch/>
        </p:blipFill>
        <p:spPr bwMode="auto">
          <a:xfrm>
            <a:off x="8762742" y="4257319"/>
            <a:ext cx="631991" cy="615595"/>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6" descr="Different of fruits realistic Royalty Free Vector Image">
            <a:extLst>
              <a:ext uri="{FF2B5EF4-FFF2-40B4-BE49-F238E27FC236}">
                <a16:creationId xmlns:a16="http://schemas.microsoft.com/office/drawing/2014/main" id="{67DFBAEE-D2AF-4F7D-B770-53520870D66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0731" b="66673"/>
          <a:stretch/>
        </p:blipFill>
        <p:spPr bwMode="auto">
          <a:xfrm>
            <a:off x="10750800" y="4679936"/>
            <a:ext cx="671622" cy="615595"/>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Different of fruits realistic Royalty Free Vector Image">
            <a:extLst>
              <a:ext uri="{FF2B5EF4-FFF2-40B4-BE49-F238E27FC236}">
                <a16:creationId xmlns:a16="http://schemas.microsoft.com/office/drawing/2014/main" id="{CB09FC1A-AB08-4D26-AB7B-656C2A79AD2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946" t="5016" r="32212" b="71705"/>
          <a:stretch/>
        </p:blipFill>
        <p:spPr bwMode="auto">
          <a:xfrm>
            <a:off x="6432418" y="3405503"/>
            <a:ext cx="641496" cy="579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5444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5A206-FB7F-4713-998A-C5C490676056}"/>
              </a:ext>
            </a:extLst>
          </p:cNvPr>
          <p:cNvSpPr>
            <a:spLocks noGrp="1"/>
          </p:cNvSpPr>
          <p:nvPr>
            <p:ph type="title"/>
          </p:nvPr>
        </p:nvSpPr>
        <p:spPr/>
        <p:txBody>
          <a:bodyPr>
            <a:normAutofit/>
          </a:bodyPr>
          <a:lstStyle/>
          <a:p>
            <a:r>
              <a:rPr lang="en-US" dirty="0"/>
              <a:t>Bagging = Sampling </a:t>
            </a:r>
            <a:r>
              <a:rPr lang="en-US" i="1" dirty="0"/>
              <a:t>with</a:t>
            </a:r>
            <a:r>
              <a:rPr lang="en-US" dirty="0"/>
              <a:t> replacement (</a:t>
            </a:r>
            <a:r>
              <a:rPr lang="en-US" b="1" dirty="0"/>
              <a:t>small data</a:t>
            </a:r>
            <a:r>
              <a:rPr lang="en-US" dirty="0"/>
              <a:t>)</a:t>
            </a:r>
            <a:br>
              <a:rPr lang="en-US" dirty="0"/>
            </a:br>
            <a:r>
              <a:rPr lang="en-US" dirty="0"/>
              <a:t>Pasting = Sampling </a:t>
            </a:r>
            <a:r>
              <a:rPr lang="en-US" i="1" dirty="0"/>
              <a:t>without</a:t>
            </a:r>
            <a:r>
              <a:rPr lang="en-US" dirty="0"/>
              <a:t> replacement</a:t>
            </a:r>
          </a:p>
        </p:txBody>
      </p:sp>
      <p:sp>
        <p:nvSpPr>
          <p:cNvPr id="3" name="Slide Number Placeholder 2">
            <a:extLst>
              <a:ext uri="{FF2B5EF4-FFF2-40B4-BE49-F238E27FC236}">
                <a16:creationId xmlns:a16="http://schemas.microsoft.com/office/drawing/2014/main" id="{E26CFA16-12C3-404C-82E1-DEB2D37DBF20}"/>
              </a:ext>
            </a:extLst>
          </p:cNvPr>
          <p:cNvSpPr>
            <a:spLocks noGrp="1"/>
          </p:cNvSpPr>
          <p:nvPr>
            <p:ph type="sldNum" sz="quarter" idx="12"/>
          </p:nvPr>
        </p:nvSpPr>
        <p:spPr/>
        <p:txBody>
          <a:bodyPr/>
          <a:lstStyle/>
          <a:p>
            <a:fld id="{A5686A01-FA10-4E06-92C7-92734750F4C6}" type="slidenum">
              <a:rPr lang="en-US" smtClean="0"/>
              <a:t>24</a:t>
            </a:fld>
            <a:endParaRPr lang="en-US"/>
          </a:p>
        </p:txBody>
      </p:sp>
      <p:sp>
        <p:nvSpPr>
          <p:cNvPr id="4" name="Oval 3">
            <a:extLst>
              <a:ext uri="{FF2B5EF4-FFF2-40B4-BE49-F238E27FC236}">
                <a16:creationId xmlns:a16="http://schemas.microsoft.com/office/drawing/2014/main" id="{B10BD4FC-2AF1-41A0-8A40-80B35A3605E2}"/>
              </a:ext>
            </a:extLst>
          </p:cNvPr>
          <p:cNvSpPr/>
          <p:nvPr/>
        </p:nvSpPr>
        <p:spPr>
          <a:xfrm>
            <a:off x="-2" y="2361461"/>
            <a:ext cx="4666595" cy="4496539"/>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254EF3CE-05CF-49BA-BC14-F849A38DD3F9}"/>
              </a:ext>
            </a:extLst>
          </p:cNvPr>
          <p:cNvSpPr/>
          <p:nvPr/>
        </p:nvSpPr>
        <p:spPr>
          <a:xfrm>
            <a:off x="6085495" y="2419227"/>
            <a:ext cx="1873470" cy="181135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8C326C6-850B-4CC1-BFFB-C978E913427D}"/>
              </a:ext>
            </a:extLst>
          </p:cNvPr>
          <p:cNvSpPr/>
          <p:nvPr/>
        </p:nvSpPr>
        <p:spPr>
          <a:xfrm>
            <a:off x="8626366" y="3045702"/>
            <a:ext cx="3166241" cy="2984608"/>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0410674D-D9E3-4166-B4AB-DFC37FF00D45}"/>
              </a:ext>
            </a:extLst>
          </p:cNvPr>
          <p:cNvSpPr/>
          <p:nvPr/>
        </p:nvSpPr>
        <p:spPr>
          <a:xfrm>
            <a:off x="6085495" y="4489806"/>
            <a:ext cx="2493580" cy="2285566"/>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C12712D-7DFE-4DB4-9E7C-1163947C7C33}"/>
              </a:ext>
            </a:extLst>
          </p:cNvPr>
          <p:cNvSpPr txBox="1"/>
          <p:nvPr/>
        </p:nvSpPr>
        <p:spPr>
          <a:xfrm>
            <a:off x="717329" y="2537870"/>
            <a:ext cx="3231931" cy="1015663"/>
          </a:xfrm>
          <a:prstGeom prst="rect">
            <a:avLst/>
          </a:prstGeom>
          <a:noFill/>
        </p:spPr>
        <p:txBody>
          <a:bodyPr wrap="square" rtlCol="0">
            <a:spAutoFit/>
          </a:bodyPr>
          <a:lstStyle/>
          <a:p>
            <a:pPr algn="ctr"/>
            <a:r>
              <a:rPr lang="en-US" sz="3000" dirty="0"/>
              <a:t>Original Training Set</a:t>
            </a:r>
          </a:p>
        </p:txBody>
      </p:sp>
      <p:pic>
        <p:nvPicPr>
          <p:cNvPr id="1030" name="Picture 6" descr="Different of fruits realistic Royalty Free Vector Image">
            <a:extLst>
              <a:ext uri="{FF2B5EF4-FFF2-40B4-BE49-F238E27FC236}">
                <a16:creationId xmlns:a16="http://schemas.microsoft.com/office/drawing/2014/main" id="{B71061D0-9A3F-4D5D-B32D-53215F1E2A1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9583" t="31807" b="40760"/>
          <a:stretch/>
        </p:blipFill>
        <p:spPr bwMode="auto">
          <a:xfrm>
            <a:off x="3343945" y="3695139"/>
            <a:ext cx="1049298" cy="102207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Different of fruits realistic Royalty Free Vector Image">
            <a:extLst>
              <a:ext uri="{FF2B5EF4-FFF2-40B4-BE49-F238E27FC236}">
                <a16:creationId xmlns:a16="http://schemas.microsoft.com/office/drawing/2014/main" id="{5C9185E2-1F47-4E1D-846B-C21402D024B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0731" b="66673"/>
          <a:stretch/>
        </p:blipFill>
        <p:spPr bwMode="auto">
          <a:xfrm>
            <a:off x="492263" y="4760991"/>
            <a:ext cx="1325853" cy="121525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descr="Different of fruits realistic Royalty Free Vector Image">
            <a:extLst>
              <a:ext uri="{FF2B5EF4-FFF2-40B4-BE49-F238E27FC236}">
                <a16:creationId xmlns:a16="http://schemas.microsoft.com/office/drawing/2014/main" id="{2C8FC8AB-D3FF-457C-A010-DFB1703AB88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946" t="5016" r="32212" b="71705"/>
          <a:stretch/>
        </p:blipFill>
        <p:spPr bwMode="auto">
          <a:xfrm>
            <a:off x="1818116" y="3732418"/>
            <a:ext cx="1049298" cy="94751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Different of fruits realistic Royalty Free Vector Image">
            <a:extLst>
              <a:ext uri="{FF2B5EF4-FFF2-40B4-BE49-F238E27FC236}">
                <a16:creationId xmlns:a16="http://schemas.microsoft.com/office/drawing/2014/main" id="{910D82D1-12E8-4205-BD72-FE91E9593ED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2752" r="58791" b="39814"/>
          <a:stretch/>
        </p:blipFill>
        <p:spPr bwMode="auto">
          <a:xfrm>
            <a:off x="2084270" y="5190247"/>
            <a:ext cx="1556671" cy="1119209"/>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Different of fruits realistic Royalty Free Vector Image">
            <a:extLst>
              <a:ext uri="{FF2B5EF4-FFF2-40B4-BE49-F238E27FC236}">
                <a16:creationId xmlns:a16="http://schemas.microsoft.com/office/drawing/2014/main" id="{823824CC-9880-4EDD-BC27-4C98308C443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847" t="31807" r="32635" b="40760"/>
          <a:stretch/>
        </p:blipFill>
        <p:spPr bwMode="auto">
          <a:xfrm>
            <a:off x="306138" y="3575653"/>
            <a:ext cx="849052" cy="91415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D748AEA2-641D-4D8E-B035-38F117F6D161}"/>
              </a:ext>
            </a:extLst>
          </p:cNvPr>
          <p:cNvSpPr txBox="1"/>
          <p:nvPr/>
        </p:nvSpPr>
        <p:spPr>
          <a:xfrm>
            <a:off x="4737546" y="4058919"/>
            <a:ext cx="1361095" cy="861774"/>
          </a:xfrm>
          <a:prstGeom prst="rect">
            <a:avLst/>
          </a:prstGeom>
          <a:noFill/>
        </p:spPr>
        <p:txBody>
          <a:bodyPr wrap="square" rtlCol="0">
            <a:spAutoFit/>
          </a:bodyPr>
          <a:lstStyle/>
          <a:p>
            <a:pPr algn="ctr"/>
            <a:r>
              <a:rPr lang="en-US" sz="5000" dirty="0">
                <a:cs typeface="Times New Roman" panose="02020603050405020304" pitchFamily="18" charset="0"/>
              </a:rPr>
              <a:t>→</a:t>
            </a:r>
            <a:endParaRPr lang="en-US" sz="5000" dirty="0"/>
          </a:p>
        </p:txBody>
      </p:sp>
      <p:pic>
        <p:nvPicPr>
          <p:cNvPr id="16" name="Picture 6" descr="Different of fruits realistic Royalty Free Vector Image">
            <a:extLst>
              <a:ext uri="{FF2B5EF4-FFF2-40B4-BE49-F238E27FC236}">
                <a16:creationId xmlns:a16="http://schemas.microsoft.com/office/drawing/2014/main" id="{0606B487-5607-4A75-AFC1-9CFE013CCAF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946" t="5016" r="32212" b="71705"/>
          <a:stretch/>
        </p:blipFill>
        <p:spPr bwMode="auto">
          <a:xfrm>
            <a:off x="6418302" y="2739798"/>
            <a:ext cx="636657" cy="57490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6" descr="Different of fruits realistic Royalty Free Vector Image">
            <a:extLst>
              <a:ext uri="{FF2B5EF4-FFF2-40B4-BE49-F238E27FC236}">
                <a16:creationId xmlns:a16="http://schemas.microsoft.com/office/drawing/2014/main" id="{AE90B1EB-5950-4CF0-8C07-3FE40E31477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9583" t="31807" b="40760"/>
          <a:stretch/>
        </p:blipFill>
        <p:spPr bwMode="auto">
          <a:xfrm>
            <a:off x="7151302" y="3290309"/>
            <a:ext cx="585888" cy="57068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6" descr="Different of fruits realistic Royalty Free Vector Image">
            <a:extLst>
              <a:ext uri="{FF2B5EF4-FFF2-40B4-BE49-F238E27FC236}">
                <a16:creationId xmlns:a16="http://schemas.microsoft.com/office/drawing/2014/main" id="{70C883C7-33DA-4459-BB19-51181E3E3E0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0731" b="66673"/>
          <a:stretch/>
        </p:blipFill>
        <p:spPr bwMode="auto">
          <a:xfrm>
            <a:off x="6414517" y="5208376"/>
            <a:ext cx="631991" cy="57927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6" descr="Different of fruits realistic Royalty Free Vector Image">
            <a:extLst>
              <a:ext uri="{FF2B5EF4-FFF2-40B4-BE49-F238E27FC236}">
                <a16:creationId xmlns:a16="http://schemas.microsoft.com/office/drawing/2014/main" id="{442E21A5-DFAA-45C5-99DE-30B2C6A2733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2752" r="58791" b="39814"/>
          <a:stretch/>
        </p:blipFill>
        <p:spPr bwMode="auto">
          <a:xfrm>
            <a:off x="9431150" y="3510463"/>
            <a:ext cx="1556671" cy="111920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6" descr="Different of fruits realistic Royalty Free Vector Image">
            <a:extLst>
              <a:ext uri="{FF2B5EF4-FFF2-40B4-BE49-F238E27FC236}">
                <a16:creationId xmlns:a16="http://schemas.microsoft.com/office/drawing/2014/main" id="{D1703689-18F6-4EC7-A796-6621C1B6920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847" t="31807" r="32635" b="40760"/>
          <a:stretch/>
        </p:blipFill>
        <p:spPr bwMode="auto">
          <a:xfrm>
            <a:off x="9784959" y="4872914"/>
            <a:ext cx="849052" cy="914153"/>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6" descr="Different of fruits realistic Royalty Free Vector Image">
            <a:extLst>
              <a:ext uri="{FF2B5EF4-FFF2-40B4-BE49-F238E27FC236}">
                <a16:creationId xmlns:a16="http://schemas.microsoft.com/office/drawing/2014/main" id="{2A8E48CB-D13E-4137-A084-A7C1BD06705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946" t="5016" r="32212" b="71705"/>
          <a:stretch/>
        </p:blipFill>
        <p:spPr bwMode="auto">
          <a:xfrm>
            <a:off x="7057272" y="5937105"/>
            <a:ext cx="631990" cy="570688"/>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6" descr="Different of fruits realistic Royalty Free Vector Image">
            <a:extLst>
              <a:ext uri="{FF2B5EF4-FFF2-40B4-BE49-F238E27FC236}">
                <a16:creationId xmlns:a16="http://schemas.microsoft.com/office/drawing/2014/main" id="{5F705FCC-1AC9-4C25-9FEA-51EEF310505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2752" r="58791" b="39814"/>
          <a:stretch/>
        </p:blipFill>
        <p:spPr bwMode="auto">
          <a:xfrm>
            <a:off x="7547671" y="5308296"/>
            <a:ext cx="822587" cy="59142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6" descr="Different of fruits realistic Royalty Free Vector Image">
            <a:extLst>
              <a:ext uri="{FF2B5EF4-FFF2-40B4-BE49-F238E27FC236}">
                <a16:creationId xmlns:a16="http://schemas.microsoft.com/office/drawing/2014/main" id="{468C0368-3322-42FD-8B1D-7E2E1023967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2752" r="58791" b="39814"/>
          <a:stretch/>
        </p:blipFill>
        <p:spPr bwMode="auto">
          <a:xfrm>
            <a:off x="6931501" y="4651162"/>
            <a:ext cx="698521" cy="50222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6" descr="Different of fruits realistic Royalty Free Vector Image">
            <a:extLst>
              <a:ext uri="{FF2B5EF4-FFF2-40B4-BE49-F238E27FC236}">
                <a16:creationId xmlns:a16="http://schemas.microsoft.com/office/drawing/2014/main" id="{3B448021-2646-4BAA-AFEE-8DE27FBE80F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9583" t="31807" b="40760"/>
          <a:stretch/>
        </p:blipFill>
        <p:spPr bwMode="auto">
          <a:xfrm>
            <a:off x="8762742" y="4257319"/>
            <a:ext cx="631991" cy="615595"/>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6" descr="Different of fruits realistic Royalty Free Vector Image">
            <a:extLst>
              <a:ext uri="{FF2B5EF4-FFF2-40B4-BE49-F238E27FC236}">
                <a16:creationId xmlns:a16="http://schemas.microsoft.com/office/drawing/2014/main" id="{67DFBAEE-D2AF-4F7D-B770-53520870D66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0731" b="66673"/>
          <a:stretch/>
        </p:blipFill>
        <p:spPr bwMode="auto">
          <a:xfrm>
            <a:off x="10750800" y="4679936"/>
            <a:ext cx="671622" cy="615595"/>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Different of fruits realistic Royalty Free Vector Image">
            <a:extLst>
              <a:ext uri="{FF2B5EF4-FFF2-40B4-BE49-F238E27FC236}">
                <a16:creationId xmlns:a16="http://schemas.microsoft.com/office/drawing/2014/main" id="{CB09FC1A-AB08-4D26-AB7B-656C2A79AD2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946" t="5016" r="32212" b="71705"/>
          <a:stretch/>
        </p:blipFill>
        <p:spPr bwMode="auto">
          <a:xfrm>
            <a:off x="6432418" y="3405503"/>
            <a:ext cx="641496" cy="579272"/>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descr="Icon&#10;&#10;Description automatically generated">
            <a:extLst>
              <a:ext uri="{FF2B5EF4-FFF2-40B4-BE49-F238E27FC236}">
                <a16:creationId xmlns:a16="http://schemas.microsoft.com/office/drawing/2014/main" id="{787EF857-A01F-4F41-8A8D-E8FD82A504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74671" y="1657730"/>
            <a:ext cx="915958" cy="915958"/>
          </a:xfrm>
          <a:prstGeom prst="rect">
            <a:avLst/>
          </a:prstGeom>
        </p:spPr>
      </p:pic>
    </p:spTree>
    <p:extLst>
      <p:ext uri="{BB962C8B-B14F-4D97-AF65-F5344CB8AC3E}">
        <p14:creationId xmlns:p14="http://schemas.microsoft.com/office/powerpoint/2010/main" val="4253409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A6CA2-1340-4B71-BE08-C3C9FF93CB16}"/>
              </a:ext>
            </a:extLst>
          </p:cNvPr>
          <p:cNvSpPr>
            <a:spLocks noGrp="1"/>
          </p:cNvSpPr>
          <p:nvPr>
            <p:ph type="title"/>
          </p:nvPr>
        </p:nvSpPr>
        <p:spPr>
          <a:xfrm>
            <a:off x="-2" y="1042633"/>
            <a:ext cx="12192000" cy="963967"/>
          </a:xfrm>
        </p:spPr>
        <p:txBody>
          <a:bodyPr/>
          <a:lstStyle/>
          <a:p>
            <a:r>
              <a:rPr lang="en-US" dirty="0"/>
              <a:t>Feature Importance: Towards Interpretable Models</a:t>
            </a:r>
          </a:p>
        </p:txBody>
      </p:sp>
      <p:sp>
        <p:nvSpPr>
          <p:cNvPr id="3" name="Slide Number Placeholder 2">
            <a:extLst>
              <a:ext uri="{FF2B5EF4-FFF2-40B4-BE49-F238E27FC236}">
                <a16:creationId xmlns:a16="http://schemas.microsoft.com/office/drawing/2014/main" id="{17D1E2DD-FEE3-4198-9332-25B2D97A7616}"/>
              </a:ext>
            </a:extLst>
          </p:cNvPr>
          <p:cNvSpPr>
            <a:spLocks noGrp="1"/>
          </p:cNvSpPr>
          <p:nvPr>
            <p:ph type="sldNum" sz="quarter" idx="12"/>
          </p:nvPr>
        </p:nvSpPr>
        <p:spPr/>
        <p:txBody>
          <a:bodyPr/>
          <a:lstStyle/>
          <a:p>
            <a:fld id="{A5686A01-FA10-4E06-92C7-92734750F4C6}" type="slidenum">
              <a:rPr lang="en-US" smtClean="0"/>
              <a:t>25</a:t>
            </a:fld>
            <a:endParaRPr lang="en-US"/>
          </a:p>
        </p:txBody>
      </p:sp>
      <p:pic>
        <p:nvPicPr>
          <p:cNvPr id="5" name="Picture 4">
            <a:extLst>
              <a:ext uri="{FF2B5EF4-FFF2-40B4-BE49-F238E27FC236}">
                <a16:creationId xmlns:a16="http://schemas.microsoft.com/office/drawing/2014/main" id="{522EF294-8645-42FE-98A1-B1198A54839A}"/>
              </a:ext>
            </a:extLst>
          </p:cNvPr>
          <p:cNvPicPr>
            <a:picLocks noChangeAspect="1"/>
          </p:cNvPicPr>
          <p:nvPr/>
        </p:nvPicPr>
        <p:blipFill>
          <a:blip r:embed="rId2"/>
          <a:stretch>
            <a:fillRect/>
          </a:stretch>
        </p:blipFill>
        <p:spPr>
          <a:xfrm>
            <a:off x="-2" y="2006600"/>
            <a:ext cx="5993940" cy="4851400"/>
          </a:xfrm>
          <a:prstGeom prst="rect">
            <a:avLst/>
          </a:prstGeom>
        </p:spPr>
      </p:pic>
      <p:pic>
        <p:nvPicPr>
          <p:cNvPr id="7" name="Picture 6">
            <a:extLst>
              <a:ext uri="{FF2B5EF4-FFF2-40B4-BE49-F238E27FC236}">
                <a16:creationId xmlns:a16="http://schemas.microsoft.com/office/drawing/2014/main" id="{8355C2CC-C779-4F49-ABCD-A61B56E6FDE1}"/>
              </a:ext>
            </a:extLst>
          </p:cNvPr>
          <p:cNvPicPr>
            <a:picLocks noChangeAspect="1"/>
          </p:cNvPicPr>
          <p:nvPr/>
        </p:nvPicPr>
        <p:blipFill>
          <a:blip r:embed="rId3"/>
          <a:stretch>
            <a:fillRect/>
          </a:stretch>
        </p:blipFill>
        <p:spPr>
          <a:xfrm>
            <a:off x="5803790" y="2345354"/>
            <a:ext cx="6388210" cy="4173892"/>
          </a:xfrm>
          <a:prstGeom prst="rect">
            <a:avLst/>
          </a:prstGeom>
        </p:spPr>
      </p:pic>
      <p:sp>
        <p:nvSpPr>
          <p:cNvPr id="8" name="Rectangle 7">
            <a:extLst>
              <a:ext uri="{FF2B5EF4-FFF2-40B4-BE49-F238E27FC236}">
                <a16:creationId xmlns:a16="http://schemas.microsoft.com/office/drawing/2014/main" id="{8A2A701C-9336-4BE1-84B6-220CA70DBB9B}"/>
              </a:ext>
            </a:extLst>
          </p:cNvPr>
          <p:cNvSpPr/>
          <p:nvPr/>
        </p:nvSpPr>
        <p:spPr>
          <a:xfrm>
            <a:off x="6596059" y="6488668"/>
            <a:ext cx="5595941" cy="369332"/>
          </a:xfrm>
          <a:prstGeom prst="rect">
            <a:avLst/>
          </a:prstGeom>
        </p:spPr>
        <p:txBody>
          <a:bodyPr wrap="square">
            <a:spAutoFit/>
          </a:bodyPr>
          <a:lstStyle/>
          <a:p>
            <a:pPr lvl="0" algn="r" defTabSz="914400">
              <a:defRPr/>
            </a:pPr>
            <a:r>
              <a:rPr kumimoji="0" lang="de-DE" sz="1800" b="0" i="1" u="sng" strike="noStrike" kern="0" cap="none" spc="0" normalizeH="0" baseline="0" noProof="0" dirty="0">
                <a:ln>
                  <a:noFill/>
                </a:ln>
                <a:effectLst/>
                <a:uLnTx/>
                <a:uFillTx/>
              </a:rPr>
              <a:t>Source</a:t>
            </a:r>
            <a:r>
              <a:rPr kumimoji="0" lang="de-DE" sz="1800" b="0" i="1" u="none" strike="noStrike" kern="0" cap="none" spc="0" normalizeH="0" baseline="0" noProof="0" dirty="0">
                <a:ln>
                  <a:noFill/>
                </a:ln>
                <a:effectLst/>
                <a:uLnTx/>
                <a:uFillTx/>
              </a:rPr>
              <a:t>:</a:t>
            </a:r>
            <a:r>
              <a:rPr kumimoji="0" lang="de-DE" sz="1800" b="0" i="1" u="none" strike="noStrike" kern="0" cap="none" spc="0" normalizeH="0" noProof="0" dirty="0">
                <a:ln>
                  <a:noFill/>
                </a:ln>
                <a:effectLst/>
                <a:uLnTx/>
                <a:uFillTx/>
              </a:rPr>
              <a:t> </a:t>
            </a:r>
            <a:r>
              <a:rPr lang="en-US" i="1" kern="0" dirty="0"/>
              <a:t>HOML2 (</a:t>
            </a:r>
            <a:r>
              <a:rPr lang="en-US" i="1" kern="0" dirty="0" err="1"/>
              <a:t>Géron</a:t>
            </a:r>
            <a:r>
              <a:rPr lang="en-US" i="1" kern="0" dirty="0"/>
              <a:t>), Interpretable ML (Molnar)</a:t>
            </a:r>
            <a:endParaRPr kumimoji="0" lang="en-US" sz="1800" b="0" i="1" u="none" strike="noStrike" kern="0" cap="none" spc="0" normalizeH="0" baseline="0" noProof="0" dirty="0">
              <a:ln>
                <a:noFill/>
              </a:ln>
              <a:effectLst/>
              <a:uLnTx/>
              <a:uFillTx/>
            </a:endParaRPr>
          </a:p>
        </p:txBody>
      </p:sp>
      <p:sp>
        <p:nvSpPr>
          <p:cNvPr id="9" name="TextBox 8">
            <a:extLst>
              <a:ext uri="{FF2B5EF4-FFF2-40B4-BE49-F238E27FC236}">
                <a16:creationId xmlns:a16="http://schemas.microsoft.com/office/drawing/2014/main" id="{5A4D8B3C-4B32-4B4D-BCF6-65D82EB25E05}"/>
              </a:ext>
            </a:extLst>
          </p:cNvPr>
          <p:cNvSpPr txBox="1"/>
          <p:nvPr/>
        </p:nvSpPr>
        <p:spPr>
          <a:xfrm>
            <a:off x="5993939" y="1975922"/>
            <a:ext cx="6198062" cy="400110"/>
          </a:xfrm>
          <a:prstGeom prst="rect">
            <a:avLst/>
          </a:prstGeom>
          <a:noFill/>
        </p:spPr>
        <p:txBody>
          <a:bodyPr wrap="square" rtlCol="0">
            <a:spAutoFit/>
          </a:bodyPr>
          <a:lstStyle/>
          <a:p>
            <a:pPr algn="l"/>
            <a:r>
              <a:rPr lang="en-US" sz="2000" u="sng" dirty="0"/>
              <a:t>Random Forest</a:t>
            </a:r>
            <a:r>
              <a:rPr lang="en-US" sz="2000" dirty="0"/>
              <a:t>: Sample-averaged decreased Gini impurity</a:t>
            </a:r>
          </a:p>
        </p:txBody>
      </p:sp>
    </p:spTree>
    <p:extLst>
      <p:ext uri="{BB962C8B-B14F-4D97-AF65-F5344CB8AC3E}">
        <p14:creationId xmlns:p14="http://schemas.microsoft.com/office/powerpoint/2010/main" val="3096343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A6CA2-1340-4B71-BE08-C3C9FF93CB16}"/>
              </a:ext>
            </a:extLst>
          </p:cNvPr>
          <p:cNvSpPr>
            <a:spLocks noGrp="1"/>
          </p:cNvSpPr>
          <p:nvPr>
            <p:ph type="title"/>
          </p:nvPr>
        </p:nvSpPr>
        <p:spPr>
          <a:xfrm>
            <a:off x="-2" y="1042633"/>
            <a:ext cx="12192000" cy="963967"/>
          </a:xfrm>
        </p:spPr>
        <p:txBody>
          <a:bodyPr>
            <a:normAutofit fontScale="90000"/>
          </a:bodyPr>
          <a:lstStyle/>
          <a:p>
            <a:r>
              <a:rPr lang="en-US" dirty="0"/>
              <a:t>How to use feature importance in environmental Science?</a:t>
            </a:r>
          </a:p>
        </p:txBody>
      </p:sp>
      <p:sp>
        <p:nvSpPr>
          <p:cNvPr id="3" name="Slide Number Placeholder 2">
            <a:extLst>
              <a:ext uri="{FF2B5EF4-FFF2-40B4-BE49-F238E27FC236}">
                <a16:creationId xmlns:a16="http://schemas.microsoft.com/office/drawing/2014/main" id="{17D1E2DD-FEE3-4198-9332-25B2D97A7616}"/>
              </a:ext>
            </a:extLst>
          </p:cNvPr>
          <p:cNvSpPr>
            <a:spLocks noGrp="1"/>
          </p:cNvSpPr>
          <p:nvPr>
            <p:ph type="sldNum" sz="quarter" idx="12"/>
          </p:nvPr>
        </p:nvSpPr>
        <p:spPr/>
        <p:txBody>
          <a:bodyPr/>
          <a:lstStyle/>
          <a:p>
            <a:fld id="{A5686A01-FA10-4E06-92C7-92734750F4C6}" type="slidenum">
              <a:rPr lang="en-US" smtClean="0"/>
              <a:t>26</a:t>
            </a:fld>
            <a:endParaRPr lang="en-US"/>
          </a:p>
        </p:txBody>
      </p:sp>
      <p:sp>
        <p:nvSpPr>
          <p:cNvPr id="11" name="TextBox 10">
            <a:extLst>
              <a:ext uri="{FF2B5EF4-FFF2-40B4-BE49-F238E27FC236}">
                <a16:creationId xmlns:a16="http://schemas.microsoft.com/office/drawing/2014/main" id="{13D6FA7C-3183-411A-9915-68E6D4CEEE32}"/>
              </a:ext>
            </a:extLst>
          </p:cNvPr>
          <p:cNvSpPr txBox="1"/>
          <p:nvPr/>
        </p:nvSpPr>
        <p:spPr>
          <a:xfrm>
            <a:off x="-2" y="1889035"/>
            <a:ext cx="6273800" cy="646331"/>
          </a:xfrm>
          <a:prstGeom prst="rect">
            <a:avLst/>
          </a:prstGeom>
          <a:noFill/>
        </p:spPr>
        <p:txBody>
          <a:bodyPr wrap="square">
            <a:spAutoFit/>
          </a:bodyPr>
          <a:lstStyle/>
          <a:p>
            <a:pPr algn="ctr"/>
            <a:r>
              <a:rPr lang="en-US" dirty="0"/>
              <a:t>When the computational or measurement cost is high, or when deciding what features to put in a model.</a:t>
            </a:r>
          </a:p>
        </p:txBody>
      </p:sp>
      <p:sp>
        <p:nvSpPr>
          <p:cNvPr id="15" name="TextBox 14">
            <a:extLst>
              <a:ext uri="{FF2B5EF4-FFF2-40B4-BE49-F238E27FC236}">
                <a16:creationId xmlns:a16="http://schemas.microsoft.com/office/drawing/2014/main" id="{0DC95B84-5C19-4CC5-A094-F51DDC898A9D}"/>
              </a:ext>
            </a:extLst>
          </p:cNvPr>
          <p:cNvSpPr txBox="1"/>
          <p:nvPr/>
        </p:nvSpPr>
        <p:spPr>
          <a:xfrm>
            <a:off x="5651498" y="4348353"/>
            <a:ext cx="6273800" cy="923330"/>
          </a:xfrm>
          <a:prstGeom prst="rect">
            <a:avLst/>
          </a:prstGeom>
          <a:noFill/>
        </p:spPr>
        <p:txBody>
          <a:bodyPr wrap="square">
            <a:spAutoFit/>
          </a:bodyPr>
          <a:lstStyle/>
          <a:p>
            <a:pPr algn="ctr"/>
            <a:r>
              <a:rPr lang="en-US" dirty="0"/>
              <a:t>The feature importance can give a better understanding of an environmental problem which can lead to improve the modeling process by focusing on those important features</a:t>
            </a:r>
          </a:p>
        </p:txBody>
      </p:sp>
      <p:sp>
        <p:nvSpPr>
          <p:cNvPr id="19" name="TextBox 18">
            <a:extLst>
              <a:ext uri="{FF2B5EF4-FFF2-40B4-BE49-F238E27FC236}">
                <a16:creationId xmlns:a16="http://schemas.microsoft.com/office/drawing/2014/main" id="{401BF93D-71F0-46CB-8928-BFA4B172DE2D}"/>
              </a:ext>
            </a:extLst>
          </p:cNvPr>
          <p:cNvSpPr txBox="1"/>
          <p:nvPr/>
        </p:nvSpPr>
        <p:spPr>
          <a:xfrm>
            <a:off x="0" y="3680118"/>
            <a:ext cx="6273800" cy="646331"/>
          </a:xfrm>
          <a:prstGeom prst="rect">
            <a:avLst/>
          </a:prstGeom>
          <a:noFill/>
        </p:spPr>
        <p:txBody>
          <a:bodyPr wrap="square">
            <a:spAutoFit/>
          </a:bodyPr>
          <a:lstStyle/>
          <a:p>
            <a:pPr algn="ctr"/>
            <a:r>
              <a:rPr lang="en-US" dirty="0"/>
              <a:t>It would be useful if we try to quantify the impact of more than two pollutant. So we can see which one will be more dangerous.</a:t>
            </a:r>
          </a:p>
        </p:txBody>
      </p:sp>
      <p:sp>
        <p:nvSpPr>
          <p:cNvPr id="23" name="TextBox 22">
            <a:extLst>
              <a:ext uri="{FF2B5EF4-FFF2-40B4-BE49-F238E27FC236}">
                <a16:creationId xmlns:a16="http://schemas.microsoft.com/office/drawing/2014/main" id="{6515E899-5102-4311-A516-57AA1783D0BC}"/>
              </a:ext>
            </a:extLst>
          </p:cNvPr>
          <p:cNvSpPr txBox="1"/>
          <p:nvPr/>
        </p:nvSpPr>
        <p:spPr>
          <a:xfrm>
            <a:off x="-177802" y="2723423"/>
            <a:ext cx="6273800" cy="646331"/>
          </a:xfrm>
          <a:prstGeom prst="rect">
            <a:avLst/>
          </a:prstGeom>
          <a:noFill/>
        </p:spPr>
        <p:txBody>
          <a:bodyPr wrap="square">
            <a:spAutoFit/>
          </a:bodyPr>
          <a:lstStyle/>
          <a:p>
            <a:pPr algn="ctr"/>
            <a:r>
              <a:rPr lang="en-US" dirty="0"/>
              <a:t>How and which environmental factors influence vegetation dynamics in a particular context?</a:t>
            </a:r>
          </a:p>
        </p:txBody>
      </p:sp>
      <p:sp>
        <p:nvSpPr>
          <p:cNvPr id="27" name="TextBox 26">
            <a:extLst>
              <a:ext uri="{FF2B5EF4-FFF2-40B4-BE49-F238E27FC236}">
                <a16:creationId xmlns:a16="http://schemas.microsoft.com/office/drawing/2014/main" id="{13F1E5AB-82FF-47FA-8A43-361484A156BC}"/>
              </a:ext>
            </a:extLst>
          </p:cNvPr>
          <p:cNvSpPr txBox="1"/>
          <p:nvPr/>
        </p:nvSpPr>
        <p:spPr>
          <a:xfrm>
            <a:off x="126998" y="5679384"/>
            <a:ext cx="6273800" cy="1200329"/>
          </a:xfrm>
          <a:prstGeom prst="rect">
            <a:avLst/>
          </a:prstGeom>
          <a:noFill/>
        </p:spPr>
        <p:txBody>
          <a:bodyPr wrap="square">
            <a:spAutoFit/>
          </a:bodyPr>
          <a:lstStyle/>
          <a:p>
            <a:pPr algn="ctr"/>
            <a:r>
              <a:rPr lang="en-US" dirty="0"/>
              <a:t>When developing a rainfall generator for cities for which many features are available and you want to know which ones will modify most the precipitation e.g. heat island, pollution sources, building geometry…</a:t>
            </a:r>
          </a:p>
        </p:txBody>
      </p:sp>
      <p:sp>
        <p:nvSpPr>
          <p:cNvPr id="31" name="TextBox 30">
            <a:extLst>
              <a:ext uri="{FF2B5EF4-FFF2-40B4-BE49-F238E27FC236}">
                <a16:creationId xmlns:a16="http://schemas.microsoft.com/office/drawing/2014/main" id="{93744501-B50E-409B-91F8-7DD39365F0B7}"/>
              </a:ext>
            </a:extLst>
          </p:cNvPr>
          <p:cNvSpPr txBox="1"/>
          <p:nvPr/>
        </p:nvSpPr>
        <p:spPr>
          <a:xfrm>
            <a:off x="6273798" y="3285554"/>
            <a:ext cx="6273800" cy="923330"/>
          </a:xfrm>
          <a:prstGeom prst="rect">
            <a:avLst/>
          </a:prstGeom>
          <a:noFill/>
        </p:spPr>
        <p:txBody>
          <a:bodyPr wrap="square">
            <a:spAutoFit/>
          </a:bodyPr>
          <a:lstStyle/>
          <a:p>
            <a:pPr algn="ctr"/>
            <a:r>
              <a:rPr lang="en-US" dirty="0"/>
              <a:t>Finding which features are important/relevant to explain the widening of a river (large wood accumulation, precipitations, erosion, riparian vegetation ,</a:t>
            </a:r>
            <a:r>
              <a:rPr lang="en-US" dirty="0" err="1"/>
              <a:t>etc</a:t>
            </a:r>
            <a:r>
              <a:rPr lang="en-US" dirty="0"/>
              <a:t>, )</a:t>
            </a:r>
          </a:p>
        </p:txBody>
      </p:sp>
      <p:sp>
        <p:nvSpPr>
          <p:cNvPr id="35" name="TextBox 34">
            <a:extLst>
              <a:ext uri="{FF2B5EF4-FFF2-40B4-BE49-F238E27FC236}">
                <a16:creationId xmlns:a16="http://schemas.microsoft.com/office/drawing/2014/main" id="{B1E84759-B077-405D-8858-08147D951196}"/>
              </a:ext>
            </a:extLst>
          </p:cNvPr>
          <p:cNvSpPr txBox="1"/>
          <p:nvPr/>
        </p:nvSpPr>
        <p:spPr>
          <a:xfrm>
            <a:off x="6604002" y="6114141"/>
            <a:ext cx="5587998" cy="369332"/>
          </a:xfrm>
          <a:prstGeom prst="rect">
            <a:avLst/>
          </a:prstGeom>
          <a:noFill/>
        </p:spPr>
        <p:txBody>
          <a:bodyPr wrap="square">
            <a:spAutoFit/>
          </a:bodyPr>
          <a:lstStyle/>
          <a:p>
            <a:pPr algn="ctr"/>
            <a:r>
              <a:rPr lang="en-US" dirty="0"/>
              <a:t>When we want to reduce the number of features.</a:t>
            </a:r>
          </a:p>
        </p:txBody>
      </p:sp>
      <p:sp>
        <p:nvSpPr>
          <p:cNvPr id="14" name="TextBox 13">
            <a:extLst>
              <a:ext uri="{FF2B5EF4-FFF2-40B4-BE49-F238E27FC236}">
                <a16:creationId xmlns:a16="http://schemas.microsoft.com/office/drawing/2014/main" id="{3D6B1765-1B2C-442C-8DC4-F78A98D0069C}"/>
              </a:ext>
            </a:extLst>
          </p:cNvPr>
          <p:cNvSpPr txBox="1"/>
          <p:nvPr/>
        </p:nvSpPr>
        <p:spPr>
          <a:xfrm>
            <a:off x="6095998" y="2243006"/>
            <a:ext cx="6362700" cy="923330"/>
          </a:xfrm>
          <a:prstGeom prst="rect">
            <a:avLst/>
          </a:prstGeom>
          <a:noFill/>
        </p:spPr>
        <p:txBody>
          <a:bodyPr wrap="square">
            <a:spAutoFit/>
          </a:bodyPr>
          <a:lstStyle/>
          <a:p>
            <a:pPr algn="ctr"/>
            <a:r>
              <a:rPr lang="en-US"/>
              <a:t>When predicting air pollution levels, knowing how the feature importance of different features (wind speed, wind direction, temperature) have on the prediction outcome. </a:t>
            </a:r>
            <a:endParaRPr lang="en-US" dirty="0"/>
          </a:p>
        </p:txBody>
      </p:sp>
      <p:sp>
        <p:nvSpPr>
          <p:cNvPr id="18" name="TextBox 17">
            <a:extLst>
              <a:ext uri="{FF2B5EF4-FFF2-40B4-BE49-F238E27FC236}">
                <a16:creationId xmlns:a16="http://schemas.microsoft.com/office/drawing/2014/main" id="{66392724-9897-4AF1-91D9-B1F2A4BDCC5A}"/>
              </a:ext>
            </a:extLst>
          </p:cNvPr>
          <p:cNvSpPr txBox="1"/>
          <p:nvPr/>
        </p:nvSpPr>
        <p:spPr>
          <a:xfrm>
            <a:off x="0" y="4541251"/>
            <a:ext cx="5134612" cy="923330"/>
          </a:xfrm>
          <a:prstGeom prst="rect">
            <a:avLst/>
          </a:prstGeom>
          <a:noFill/>
        </p:spPr>
        <p:txBody>
          <a:bodyPr wrap="square">
            <a:spAutoFit/>
          </a:bodyPr>
          <a:lstStyle/>
          <a:p>
            <a:pPr algn="ctr"/>
            <a:r>
              <a:rPr lang="en-US" dirty="0"/>
              <a:t>Determining which morphological aspects influence species classification, or which considerations influence the danger class of a natural hazard.</a:t>
            </a:r>
          </a:p>
        </p:txBody>
      </p:sp>
    </p:spTree>
    <p:extLst>
      <p:ext uri="{BB962C8B-B14F-4D97-AF65-F5344CB8AC3E}">
        <p14:creationId xmlns:p14="http://schemas.microsoft.com/office/powerpoint/2010/main" val="1742215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500"/>
                                        <p:tgtEl>
                                          <p:spTgt spid="2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500"/>
                                        <p:tgtEl>
                                          <p:spTgt spid="3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fade">
                                      <p:cBhvr>
                                        <p:cTn id="25" dur="500"/>
                                        <p:tgtEl>
                                          <p:spTgt spid="3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P spid="19" grpId="0"/>
      <p:bldP spid="23" grpId="0"/>
      <p:bldP spid="27" grpId="0"/>
      <p:bldP spid="31" grpId="0"/>
      <p:bldP spid="35" grpId="0"/>
      <p:bldP spid="14" grpId="0"/>
      <p:bldP spid="1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A6CA2-1340-4B71-BE08-C3C9FF93CB16}"/>
              </a:ext>
            </a:extLst>
          </p:cNvPr>
          <p:cNvSpPr>
            <a:spLocks noGrp="1"/>
          </p:cNvSpPr>
          <p:nvPr>
            <p:ph type="title"/>
          </p:nvPr>
        </p:nvSpPr>
        <p:spPr>
          <a:xfrm>
            <a:off x="-2" y="1042633"/>
            <a:ext cx="12192000" cy="659167"/>
          </a:xfrm>
        </p:spPr>
        <p:txBody>
          <a:bodyPr>
            <a:normAutofit fontScale="90000"/>
          </a:bodyPr>
          <a:lstStyle/>
          <a:p>
            <a:r>
              <a:rPr lang="en-US" dirty="0"/>
              <a:t>How to use feature importance in environmental Science?</a:t>
            </a:r>
          </a:p>
        </p:txBody>
      </p:sp>
      <p:sp>
        <p:nvSpPr>
          <p:cNvPr id="3" name="Slide Number Placeholder 2">
            <a:extLst>
              <a:ext uri="{FF2B5EF4-FFF2-40B4-BE49-F238E27FC236}">
                <a16:creationId xmlns:a16="http://schemas.microsoft.com/office/drawing/2014/main" id="{17D1E2DD-FEE3-4198-9332-25B2D97A7616}"/>
              </a:ext>
            </a:extLst>
          </p:cNvPr>
          <p:cNvSpPr>
            <a:spLocks noGrp="1"/>
          </p:cNvSpPr>
          <p:nvPr>
            <p:ph type="sldNum" sz="quarter" idx="12"/>
          </p:nvPr>
        </p:nvSpPr>
        <p:spPr/>
        <p:txBody>
          <a:bodyPr/>
          <a:lstStyle/>
          <a:p>
            <a:fld id="{A5686A01-FA10-4E06-92C7-92734750F4C6}" type="slidenum">
              <a:rPr lang="en-US" smtClean="0"/>
              <a:t>27</a:t>
            </a:fld>
            <a:endParaRPr lang="en-US"/>
          </a:p>
        </p:txBody>
      </p:sp>
      <p:pic>
        <p:nvPicPr>
          <p:cNvPr id="37" name="Picture 36">
            <a:extLst>
              <a:ext uri="{FF2B5EF4-FFF2-40B4-BE49-F238E27FC236}">
                <a16:creationId xmlns:a16="http://schemas.microsoft.com/office/drawing/2014/main" id="{BC8E73A1-43BA-467B-A382-C813E57CE2DF}"/>
              </a:ext>
            </a:extLst>
          </p:cNvPr>
          <p:cNvPicPr>
            <a:picLocks noChangeAspect="1"/>
          </p:cNvPicPr>
          <p:nvPr/>
        </p:nvPicPr>
        <p:blipFill>
          <a:blip r:embed="rId3"/>
          <a:stretch>
            <a:fillRect/>
          </a:stretch>
        </p:blipFill>
        <p:spPr>
          <a:xfrm>
            <a:off x="-2" y="1638300"/>
            <a:ext cx="12192000" cy="4840676"/>
          </a:xfrm>
          <a:prstGeom prst="rect">
            <a:avLst/>
          </a:prstGeom>
        </p:spPr>
      </p:pic>
      <p:sp>
        <p:nvSpPr>
          <p:cNvPr id="12" name="Rectangle 11">
            <a:extLst>
              <a:ext uri="{FF2B5EF4-FFF2-40B4-BE49-F238E27FC236}">
                <a16:creationId xmlns:a16="http://schemas.microsoft.com/office/drawing/2014/main" id="{BA50BAE1-5D4C-4966-AC38-B3739AC5174D}"/>
              </a:ext>
            </a:extLst>
          </p:cNvPr>
          <p:cNvSpPr/>
          <p:nvPr/>
        </p:nvSpPr>
        <p:spPr>
          <a:xfrm>
            <a:off x="6596059" y="6488668"/>
            <a:ext cx="5595941" cy="369332"/>
          </a:xfrm>
          <a:prstGeom prst="rect">
            <a:avLst/>
          </a:prstGeom>
        </p:spPr>
        <p:txBody>
          <a:bodyPr wrap="square">
            <a:spAutoFit/>
          </a:bodyPr>
          <a:lstStyle/>
          <a:p>
            <a:pPr lvl="0" algn="r" defTabSz="914400">
              <a:defRPr/>
            </a:pPr>
            <a:r>
              <a:rPr kumimoji="0" lang="de-DE" sz="1800" b="0" i="1" u="sng" strike="noStrike" kern="0" cap="none" spc="0" normalizeH="0" baseline="0" noProof="0" dirty="0">
                <a:ln>
                  <a:noFill/>
                </a:ln>
                <a:effectLst/>
                <a:uLnTx/>
                <a:uFillTx/>
              </a:rPr>
              <a:t>Source</a:t>
            </a:r>
            <a:r>
              <a:rPr kumimoji="0" lang="de-DE" sz="1800" b="0" i="1" u="none" strike="noStrike" kern="0" cap="none" spc="0" normalizeH="0" baseline="0" noProof="0" dirty="0">
                <a:ln>
                  <a:noFill/>
                </a:ln>
                <a:effectLst/>
                <a:uLnTx/>
                <a:uFillTx/>
              </a:rPr>
              <a:t>:</a:t>
            </a:r>
            <a:r>
              <a:rPr kumimoji="0" lang="de-DE" sz="1800" b="0" i="1" u="none" strike="noStrike" kern="0" cap="none" spc="0" normalizeH="0" noProof="0" dirty="0">
                <a:ln>
                  <a:noFill/>
                </a:ln>
                <a:effectLst/>
                <a:uLnTx/>
                <a:uFillTx/>
              </a:rPr>
              <a:t> </a:t>
            </a:r>
            <a:r>
              <a:rPr lang="en-US" i="1" kern="0" dirty="0"/>
              <a:t>Ebert-Uphoff and Hilburn (2020)</a:t>
            </a:r>
            <a:endParaRPr kumimoji="0" lang="en-US" sz="1800" b="0" i="1" u="none" strike="noStrike" kern="0" cap="none" spc="0" normalizeH="0" baseline="0" noProof="0" dirty="0">
              <a:ln>
                <a:noFill/>
              </a:ln>
              <a:effectLst/>
              <a:uLnTx/>
              <a:uFillTx/>
            </a:endParaRPr>
          </a:p>
        </p:txBody>
      </p:sp>
    </p:spTree>
    <p:extLst>
      <p:ext uri="{BB962C8B-B14F-4D97-AF65-F5344CB8AC3E}">
        <p14:creationId xmlns:p14="http://schemas.microsoft.com/office/powerpoint/2010/main" val="1722077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6C72B-40AB-4095-A39E-C540AAD7597E}"/>
              </a:ext>
            </a:extLst>
          </p:cNvPr>
          <p:cNvSpPr>
            <a:spLocks noGrp="1"/>
          </p:cNvSpPr>
          <p:nvPr>
            <p:ph type="title"/>
          </p:nvPr>
        </p:nvSpPr>
        <p:spPr>
          <a:xfrm>
            <a:off x="-2" y="1042633"/>
            <a:ext cx="12192000" cy="951268"/>
          </a:xfrm>
        </p:spPr>
        <p:txBody>
          <a:bodyPr/>
          <a:lstStyle/>
          <a:p>
            <a:r>
              <a:rPr lang="en-US" dirty="0"/>
              <a:t>Stacking (Stacked Generalization) and Blending</a:t>
            </a:r>
          </a:p>
        </p:txBody>
      </p:sp>
      <p:sp>
        <p:nvSpPr>
          <p:cNvPr id="3" name="Slide Number Placeholder 2">
            <a:extLst>
              <a:ext uri="{FF2B5EF4-FFF2-40B4-BE49-F238E27FC236}">
                <a16:creationId xmlns:a16="http://schemas.microsoft.com/office/drawing/2014/main" id="{F28606CD-7A7B-49E8-BE99-2730321C3FA4}"/>
              </a:ext>
            </a:extLst>
          </p:cNvPr>
          <p:cNvSpPr>
            <a:spLocks noGrp="1"/>
          </p:cNvSpPr>
          <p:nvPr>
            <p:ph type="sldNum" sz="quarter" idx="12"/>
          </p:nvPr>
        </p:nvSpPr>
        <p:spPr/>
        <p:txBody>
          <a:bodyPr/>
          <a:lstStyle/>
          <a:p>
            <a:fld id="{A5686A01-FA10-4E06-92C7-92734750F4C6}" type="slidenum">
              <a:rPr lang="en-US" smtClean="0"/>
              <a:t>28</a:t>
            </a:fld>
            <a:endParaRPr lang="en-US"/>
          </a:p>
        </p:txBody>
      </p:sp>
      <p:pic>
        <p:nvPicPr>
          <p:cNvPr id="5" name="Picture 4">
            <a:extLst>
              <a:ext uri="{FF2B5EF4-FFF2-40B4-BE49-F238E27FC236}">
                <a16:creationId xmlns:a16="http://schemas.microsoft.com/office/drawing/2014/main" id="{AA7D1687-84D5-445A-8A2A-8B71A5939D1E}"/>
              </a:ext>
            </a:extLst>
          </p:cNvPr>
          <p:cNvPicPr>
            <a:picLocks noChangeAspect="1"/>
          </p:cNvPicPr>
          <p:nvPr/>
        </p:nvPicPr>
        <p:blipFill rotWithShape="1">
          <a:blip r:embed="rId2"/>
          <a:srcRect l="12989" r="8752"/>
          <a:stretch/>
        </p:blipFill>
        <p:spPr>
          <a:xfrm>
            <a:off x="0" y="2273300"/>
            <a:ext cx="5331836" cy="4584700"/>
          </a:xfrm>
          <a:prstGeom prst="rect">
            <a:avLst/>
          </a:prstGeom>
        </p:spPr>
      </p:pic>
      <p:sp>
        <p:nvSpPr>
          <p:cNvPr id="6" name="Rectangle 5">
            <a:extLst>
              <a:ext uri="{FF2B5EF4-FFF2-40B4-BE49-F238E27FC236}">
                <a16:creationId xmlns:a16="http://schemas.microsoft.com/office/drawing/2014/main" id="{337A53B2-9206-4A89-A9B8-963F7BC44DB2}"/>
              </a:ext>
            </a:extLst>
          </p:cNvPr>
          <p:cNvSpPr/>
          <p:nvPr/>
        </p:nvSpPr>
        <p:spPr>
          <a:xfrm>
            <a:off x="-2" y="2273300"/>
            <a:ext cx="5331836" cy="2133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0A99F180-14E4-4EF8-93B2-D3CB1DD71119}"/>
              </a:ext>
            </a:extLst>
          </p:cNvPr>
          <p:cNvCxnSpPr/>
          <p:nvPr/>
        </p:nvCxnSpPr>
        <p:spPr>
          <a:xfrm flipH="1">
            <a:off x="5562600" y="4762500"/>
            <a:ext cx="17399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17765DD-E7D2-4CB0-86AE-9C5468094357}"/>
              </a:ext>
            </a:extLst>
          </p:cNvPr>
          <p:cNvSpPr txBox="1"/>
          <p:nvPr/>
        </p:nvSpPr>
        <p:spPr>
          <a:xfrm>
            <a:off x="7366000" y="4565650"/>
            <a:ext cx="4825998" cy="1938992"/>
          </a:xfrm>
          <a:prstGeom prst="rect">
            <a:avLst/>
          </a:prstGeom>
          <a:noFill/>
        </p:spPr>
        <p:txBody>
          <a:bodyPr wrap="square" rtlCol="0">
            <a:spAutoFit/>
          </a:bodyPr>
          <a:lstStyle/>
          <a:p>
            <a:pPr algn="l"/>
            <a:r>
              <a:rPr lang="en-US" sz="3000" dirty="0"/>
              <a:t>What if model 2 is always bad in situation X?</a:t>
            </a:r>
            <a:br>
              <a:rPr lang="en-US" sz="3000" dirty="0"/>
            </a:br>
            <a:r>
              <a:rPr lang="en-US" sz="3000" dirty="0"/>
              <a:t>And model 3 is always bad in situation Y?</a:t>
            </a:r>
          </a:p>
        </p:txBody>
      </p:sp>
    </p:spTree>
    <p:extLst>
      <p:ext uri="{BB962C8B-B14F-4D97-AF65-F5344CB8AC3E}">
        <p14:creationId xmlns:p14="http://schemas.microsoft.com/office/powerpoint/2010/main" val="853790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0" nodeType="clickEffect">
                                  <p:stCondLst>
                                    <p:cond delay="0"/>
                                  </p:stCondLst>
                                  <p:childTnLst>
                                    <p:animEffect transition="out" filter="fade">
                                      <p:cBhvr>
                                        <p:cTn id="14" dur="500"/>
                                        <p:tgtEl>
                                          <p:spTgt spid="6"/>
                                        </p:tgtEl>
                                      </p:cBhvr>
                                    </p:animEffect>
                                    <p:set>
                                      <p:cBhvr>
                                        <p:cTn id="15"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6C72B-40AB-4095-A39E-C540AAD7597E}"/>
              </a:ext>
            </a:extLst>
          </p:cNvPr>
          <p:cNvSpPr>
            <a:spLocks noGrp="1"/>
          </p:cNvSpPr>
          <p:nvPr>
            <p:ph type="title"/>
          </p:nvPr>
        </p:nvSpPr>
        <p:spPr>
          <a:xfrm>
            <a:off x="-2" y="1042633"/>
            <a:ext cx="12192000" cy="951268"/>
          </a:xfrm>
        </p:spPr>
        <p:txBody>
          <a:bodyPr/>
          <a:lstStyle/>
          <a:p>
            <a:r>
              <a:rPr lang="en-US" dirty="0"/>
              <a:t>Stacking and Blending</a:t>
            </a:r>
          </a:p>
        </p:txBody>
      </p:sp>
      <p:sp>
        <p:nvSpPr>
          <p:cNvPr id="3" name="Slide Number Placeholder 2">
            <a:extLst>
              <a:ext uri="{FF2B5EF4-FFF2-40B4-BE49-F238E27FC236}">
                <a16:creationId xmlns:a16="http://schemas.microsoft.com/office/drawing/2014/main" id="{F28606CD-7A7B-49E8-BE99-2730321C3FA4}"/>
              </a:ext>
            </a:extLst>
          </p:cNvPr>
          <p:cNvSpPr>
            <a:spLocks noGrp="1"/>
          </p:cNvSpPr>
          <p:nvPr>
            <p:ph type="sldNum" sz="quarter" idx="12"/>
          </p:nvPr>
        </p:nvSpPr>
        <p:spPr/>
        <p:txBody>
          <a:bodyPr/>
          <a:lstStyle/>
          <a:p>
            <a:fld id="{A5686A01-FA10-4E06-92C7-92734750F4C6}" type="slidenum">
              <a:rPr lang="en-US" smtClean="0"/>
              <a:t>29</a:t>
            </a:fld>
            <a:endParaRPr lang="en-US"/>
          </a:p>
        </p:txBody>
      </p:sp>
      <p:pic>
        <p:nvPicPr>
          <p:cNvPr id="5" name="Picture 4">
            <a:extLst>
              <a:ext uri="{FF2B5EF4-FFF2-40B4-BE49-F238E27FC236}">
                <a16:creationId xmlns:a16="http://schemas.microsoft.com/office/drawing/2014/main" id="{AA7D1687-84D5-445A-8A2A-8B71A5939D1E}"/>
              </a:ext>
            </a:extLst>
          </p:cNvPr>
          <p:cNvPicPr>
            <a:picLocks noChangeAspect="1"/>
          </p:cNvPicPr>
          <p:nvPr/>
        </p:nvPicPr>
        <p:blipFill rotWithShape="1">
          <a:blip r:embed="rId2"/>
          <a:srcRect l="12989" r="8752"/>
          <a:stretch/>
        </p:blipFill>
        <p:spPr>
          <a:xfrm>
            <a:off x="0" y="2273300"/>
            <a:ext cx="5331836" cy="4584700"/>
          </a:xfrm>
          <a:prstGeom prst="rect">
            <a:avLst/>
          </a:prstGeom>
        </p:spPr>
      </p:pic>
      <p:pic>
        <p:nvPicPr>
          <p:cNvPr id="7" name="Picture 6">
            <a:extLst>
              <a:ext uri="{FF2B5EF4-FFF2-40B4-BE49-F238E27FC236}">
                <a16:creationId xmlns:a16="http://schemas.microsoft.com/office/drawing/2014/main" id="{B667CD1D-3550-48E8-B197-15E5FF0568AC}"/>
              </a:ext>
            </a:extLst>
          </p:cNvPr>
          <p:cNvPicPr>
            <a:picLocks noChangeAspect="1"/>
          </p:cNvPicPr>
          <p:nvPr/>
        </p:nvPicPr>
        <p:blipFill>
          <a:blip r:embed="rId3"/>
          <a:stretch>
            <a:fillRect/>
          </a:stretch>
        </p:blipFill>
        <p:spPr>
          <a:xfrm>
            <a:off x="7008161" y="2273300"/>
            <a:ext cx="5183837" cy="4584700"/>
          </a:xfrm>
          <a:prstGeom prst="rect">
            <a:avLst/>
          </a:prstGeom>
        </p:spPr>
      </p:pic>
    </p:spTree>
    <p:extLst>
      <p:ext uri="{BB962C8B-B14F-4D97-AF65-F5344CB8AC3E}">
        <p14:creationId xmlns:p14="http://schemas.microsoft.com/office/powerpoint/2010/main" val="2555642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25619-B33D-463D-A99A-48F6A03B20BB}"/>
              </a:ext>
            </a:extLst>
          </p:cNvPr>
          <p:cNvSpPr>
            <a:spLocks noGrp="1"/>
          </p:cNvSpPr>
          <p:nvPr>
            <p:ph type="title"/>
          </p:nvPr>
        </p:nvSpPr>
        <p:spPr/>
        <p:txBody>
          <a:bodyPr/>
          <a:lstStyle/>
          <a:p>
            <a:r>
              <a:rPr lang="en-US" dirty="0"/>
              <a:t>Boosting = Combining weak learners into strong one</a:t>
            </a:r>
            <a:br>
              <a:rPr lang="en-US" dirty="0"/>
            </a:br>
            <a:r>
              <a:rPr lang="en-US" dirty="0"/>
              <a:t>by </a:t>
            </a:r>
            <a:r>
              <a:rPr lang="en-US" i="1" dirty="0"/>
              <a:t>sequentially correcting</a:t>
            </a:r>
            <a:r>
              <a:rPr lang="en-US" dirty="0"/>
              <a:t> </a:t>
            </a:r>
            <a:r>
              <a:rPr lang="en-US" i="1" dirty="0"/>
              <a:t>preceding predictions</a:t>
            </a:r>
          </a:p>
        </p:txBody>
      </p:sp>
      <p:sp>
        <p:nvSpPr>
          <p:cNvPr id="3" name="Slide Number Placeholder 2">
            <a:extLst>
              <a:ext uri="{FF2B5EF4-FFF2-40B4-BE49-F238E27FC236}">
                <a16:creationId xmlns:a16="http://schemas.microsoft.com/office/drawing/2014/main" id="{EB0B4F43-4354-47FB-9093-EC238AB71954}"/>
              </a:ext>
            </a:extLst>
          </p:cNvPr>
          <p:cNvSpPr>
            <a:spLocks noGrp="1"/>
          </p:cNvSpPr>
          <p:nvPr>
            <p:ph type="sldNum" sz="quarter" idx="12"/>
          </p:nvPr>
        </p:nvSpPr>
        <p:spPr/>
        <p:txBody>
          <a:bodyPr/>
          <a:lstStyle/>
          <a:p>
            <a:fld id="{A5686A01-FA10-4E06-92C7-92734750F4C6}" type="slidenum">
              <a:rPr lang="en-US" smtClean="0"/>
              <a:t>30</a:t>
            </a:fld>
            <a:endParaRPr lang="en-US"/>
          </a:p>
        </p:txBody>
      </p:sp>
      <p:pic>
        <p:nvPicPr>
          <p:cNvPr id="5" name="Picture 4">
            <a:extLst>
              <a:ext uri="{FF2B5EF4-FFF2-40B4-BE49-F238E27FC236}">
                <a16:creationId xmlns:a16="http://schemas.microsoft.com/office/drawing/2014/main" id="{9DAFD3E6-62FE-4982-ACC2-F492ED28147F}"/>
              </a:ext>
            </a:extLst>
          </p:cNvPr>
          <p:cNvPicPr>
            <a:picLocks noChangeAspect="1"/>
          </p:cNvPicPr>
          <p:nvPr/>
        </p:nvPicPr>
        <p:blipFill>
          <a:blip r:embed="rId2"/>
          <a:stretch>
            <a:fillRect/>
          </a:stretch>
        </p:blipFill>
        <p:spPr>
          <a:xfrm>
            <a:off x="0" y="2577662"/>
            <a:ext cx="6488798" cy="3824287"/>
          </a:xfrm>
          <a:prstGeom prst="rect">
            <a:avLst/>
          </a:prstGeom>
        </p:spPr>
      </p:pic>
      <p:pic>
        <p:nvPicPr>
          <p:cNvPr id="9" name="Picture 8" descr="A picture containing text, tableware, dishware, plate&#10;&#10;Description automatically generated">
            <a:extLst>
              <a:ext uri="{FF2B5EF4-FFF2-40B4-BE49-F238E27FC236}">
                <a16:creationId xmlns:a16="http://schemas.microsoft.com/office/drawing/2014/main" id="{E7024E3B-42C6-49AC-8CE5-793EADA22C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7649" y="4489805"/>
            <a:ext cx="4023358" cy="1548204"/>
          </a:xfrm>
          <a:prstGeom prst="rect">
            <a:avLst/>
          </a:prstGeom>
        </p:spPr>
      </p:pic>
      <p:pic>
        <p:nvPicPr>
          <p:cNvPr id="13" name="Graphic 12">
            <a:extLst>
              <a:ext uri="{FF2B5EF4-FFF2-40B4-BE49-F238E27FC236}">
                <a16:creationId xmlns:a16="http://schemas.microsoft.com/office/drawing/2014/main" id="{508555E5-CB72-4FEB-8D9E-F3803B7AB2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75120" y="2807288"/>
            <a:ext cx="5516880" cy="1243423"/>
          </a:xfrm>
          <a:prstGeom prst="rect">
            <a:avLst/>
          </a:prstGeom>
        </p:spPr>
      </p:pic>
      <p:sp>
        <p:nvSpPr>
          <p:cNvPr id="14" name="TextBox 13">
            <a:extLst>
              <a:ext uri="{FF2B5EF4-FFF2-40B4-BE49-F238E27FC236}">
                <a16:creationId xmlns:a16="http://schemas.microsoft.com/office/drawing/2014/main" id="{EC2259E6-63B4-4EAA-B36A-5F40F20317ED}"/>
              </a:ext>
            </a:extLst>
          </p:cNvPr>
          <p:cNvSpPr txBox="1"/>
          <p:nvPr/>
        </p:nvSpPr>
        <p:spPr>
          <a:xfrm>
            <a:off x="0" y="6401949"/>
            <a:ext cx="6781800" cy="553998"/>
          </a:xfrm>
          <a:prstGeom prst="rect">
            <a:avLst/>
          </a:prstGeom>
          <a:noFill/>
        </p:spPr>
        <p:txBody>
          <a:bodyPr wrap="square" rtlCol="0">
            <a:spAutoFit/>
          </a:bodyPr>
          <a:lstStyle/>
          <a:p>
            <a:pPr algn="l"/>
            <a:r>
              <a:rPr lang="en-US" sz="3000" dirty="0"/>
              <a:t>AdaBoost: Increase weights (misclassified)</a:t>
            </a:r>
          </a:p>
        </p:txBody>
      </p:sp>
      <p:sp>
        <p:nvSpPr>
          <p:cNvPr id="15" name="TextBox 14">
            <a:extLst>
              <a:ext uri="{FF2B5EF4-FFF2-40B4-BE49-F238E27FC236}">
                <a16:creationId xmlns:a16="http://schemas.microsoft.com/office/drawing/2014/main" id="{BF7727F5-FA96-4D55-A921-A84B947A8DC3}"/>
              </a:ext>
            </a:extLst>
          </p:cNvPr>
          <p:cNvSpPr txBox="1"/>
          <p:nvPr/>
        </p:nvSpPr>
        <p:spPr>
          <a:xfrm>
            <a:off x="6941820" y="6401949"/>
            <a:ext cx="4983480" cy="553998"/>
          </a:xfrm>
          <a:prstGeom prst="rect">
            <a:avLst/>
          </a:prstGeom>
          <a:noFill/>
        </p:spPr>
        <p:txBody>
          <a:bodyPr wrap="square" rtlCol="0">
            <a:spAutoFit/>
          </a:bodyPr>
          <a:lstStyle/>
          <a:p>
            <a:pPr algn="ctr"/>
            <a:r>
              <a:rPr lang="en-US" sz="3000" dirty="0"/>
              <a:t>Grad. Boosting: Train on </a:t>
            </a:r>
            <a:r>
              <a:rPr lang="en-US" sz="3000" dirty="0" err="1"/>
              <a:t>resid</a:t>
            </a:r>
            <a:r>
              <a:rPr lang="en-US" sz="3000" dirty="0"/>
              <a:t>.</a:t>
            </a:r>
          </a:p>
        </p:txBody>
      </p:sp>
      <p:pic>
        <p:nvPicPr>
          <p:cNvPr id="16" name="Picture 15" descr="Icon&#10;&#10;Description automatically generated">
            <a:extLst>
              <a:ext uri="{FF2B5EF4-FFF2-40B4-BE49-F238E27FC236}">
                <a16:creationId xmlns:a16="http://schemas.microsoft.com/office/drawing/2014/main" id="{E4670EE4-8D11-4519-94D9-066E4ABEB55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 y="1661704"/>
            <a:ext cx="706491" cy="706491"/>
          </a:xfrm>
          <a:prstGeom prst="rect">
            <a:avLst/>
          </a:prstGeom>
        </p:spPr>
      </p:pic>
      <p:pic>
        <p:nvPicPr>
          <p:cNvPr id="17" name="Picture 16" descr="Icon&#10;&#10;Description automatically generated">
            <a:extLst>
              <a:ext uri="{FF2B5EF4-FFF2-40B4-BE49-F238E27FC236}">
                <a16:creationId xmlns:a16="http://schemas.microsoft.com/office/drawing/2014/main" id="{B70B7D92-F1D0-462A-B2B6-4E72C1AE9BF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72054" y="1661703"/>
            <a:ext cx="706491" cy="706491"/>
          </a:xfrm>
          <a:prstGeom prst="rect">
            <a:avLst/>
          </a:prstGeom>
        </p:spPr>
      </p:pic>
    </p:spTree>
    <p:extLst>
      <p:ext uri="{BB962C8B-B14F-4D97-AF65-F5344CB8AC3E}">
        <p14:creationId xmlns:p14="http://schemas.microsoft.com/office/powerpoint/2010/main" val="1490256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3D9D2-B539-4A4E-A748-FE2B7C04CE94}"/>
              </a:ext>
            </a:extLst>
          </p:cNvPr>
          <p:cNvSpPr>
            <a:spLocks noGrp="1"/>
          </p:cNvSpPr>
          <p:nvPr>
            <p:ph type="ctrTitle"/>
          </p:nvPr>
        </p:nvSpPr>
        <p:spPr>
          <a:xfrm>
            <a:off x="0" y="1122363"/>
            <a:ext cx="12192000" cy="2387600"/>
          </a:xfrm>
        </p:spPr>
        <p:txBody>
          <a:bodyPr>
            <a:normAutofit/>
          </a:bodyPr>
          <a:lstStyle/>
          <a:p>
            <a:r>
              <a:rPr lang="en-US" dirty="0"/>
              <a:t>Min 105-120: </a:t>
            </a:r>
            <a:br>
              <a:rPr lang="en-US" dirty="0"/>
            </a:br>
            <a:r>
              <a:rPr lang="en-US" dirty="0"/>
              <a:t>Moodle Quiz Review</a:t>
            </a:r>
          </a:p>
        </p:txBody>
      </p:sp>
      <p:sp>
        <p:nvSpPr>
          <p:cNvPr id="4" name="Slide Number Placeholder 3">
            <a:extLst>
              <a:ext uri="{FF2B5EF4-FFF2-40B4-BE49-F238E27FC236}">
                <a16:creationId xmlns:a16="http://schemas.microsoft.com/office/drawing/2014/main" id="{24CCB5B1-D724-4811-BE0C-131025975F57}"/>
              </a:ext>
            </a:extLst>
          </p:cNvPr>
          <p:cNvSpPr>
            <a:spLocks noGrp="1"/>
          </p:cNvSpPr>
          <p:nvPr>
            <p:ph type="sldNum" sz="quarter" idx="12"/>
          </p:nvPr>
        </p:nvSpPr>
        <p:spPr/>
        <p:txBody>
          <a:bodyPr/>
          <a:lstStyle/>
          <a:p>
            <a:fld id="{A5686A01-FA10-4E06-92C7-92734750F4C6}" type="slidenum">
              <a:rPr lang="en-US" smtClean="0"/>
              <a:t>31</a:t>
            </a:fld>
            <a:endParaRPr lang="en-US"/>
          </a:p>
        </p:txBody>
      </p:sp>
      <p:sp>
        <p:nvSpPr>
          <p:cNvPr id="6" name="Subtitle 5">
            <a:extLst>
              <a:ext uri="{FF2B5EF4-FFF2-40B4-BE49-F238E27FC236}">
                <a16:creationId xmlns:a16="http://schemas.microsoft.com/office/drawing/2014/main" id="{8280325F-EDC9-E56C-CCC9-498CC40EE5C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406996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1E10A-3459-4F37-B2D1-3F864BD5CB33}"/>
              </a:ext>
            </a:extLst>
          </p:cNvPr>
          <p:cNvSpPr>
            <a:spLocks noGrp="1"/>
          </p:cNvSpPr>
          <p:nvPr>
            <p:ph type="ctrTitle"/>
          </p:nvPr>
        </p:nvSpPr>
        <p:spPr>
          <a:xfrm>
            <a:off x="914401" y="1026538"/>
            <a:ext cx="10363200" cy="828142"/>
          </a:xfrm>
        </p:spPr>
        <p:txBody>
          <a:bodyPr>
            <a:normAutofit/>
          </a:bodyPr>
          <a:lstStyle/>
          <a:p>
            <a:r>
              <a:rPr lang="en-US" sz="4400" dirty="0"/>
              <a:t>Workload and schedule</a:t>
            </a:r>
          </a:p>
        </p:txBody>
      </p:sp>
      <p:sp>
        <p:nvSpPr>
          <p:cNvPr id="4" name="Slide Number Placeholder 3">
            <a:extLst>
              <a:ext uri="{FF2B5EF4-FFF2-40B4-BE49-F238E27FC236}">
                <a16:creationId xmlns:a16="http://schemas.microsoft.com/office/drawing/2014/main" id="{65951D8F-8562-4A80-A9B3-5D34DC991367}"/>
              </a:ext>
            </a:extLst>
          </p:cNvPr>
          <p:cNvSpPr>
            <a:spLocks noGrp="1"/>
          </p:cNvSpPr>
          <p:nvPr>
            <p:ph type="sldNum" sz="quarter" idx="12"/>
          </p:nvPr>
        </p:nvSpPr>
        <p:spPr/>
        <p:txBody>
          <a:bodyPr/>
          <a:lstStyle/>
          <a:p>
            <a:fld id="{A5686A01-FA10-4E06-92C7-92734750F4C6}" type="slidenum">
              <a:rPr lang="en-US" smtClean="0"/>
              <a:t>32</a:t>
            </a:fld>
            <a:endParaRPr lang="en-US"/>
          </a:p>
        </p:txBody>
      </p:sp>
      <p:cxnSp>
        <p:nvCxnSpPr>
          <p:cNvPr id="12" name="Straight Connector 11">
            <a:extLst>
              <a:ext uri="{FF2B5EF4-FFF2-40B4-BE49-F238E27FC236}">
                <a16:creationId xmlns:a16="http://schemas.microsoft.com/office/drawing/2014/main" id="{3CAD854D-58EC-11F5-F7D6-27E512982025}"/>
              </a:ext>
            </a:extLst>
          </p:cNvPr>
          <p:cNvCxnSpPr>
            <a:cxnSpLocks/>
          </p:cNvCxnSpPr>
          <p:nvPr/>
        </p:nvCxnSpPr>
        <p:spPr>
          <a:xfrm>
            <a:off x="4085962" y="2443181"/>
            <a:ext cx="0" cy="37108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853E076D-448D-FEEC-035A-4CC004AB4A01}"/>
              </a:ext>
            </a:extLst>
          </p:cNvPr>
          <p:cNvSpPr txBox="1"/>
          <p:nvPr/>
        </p:nvSpPr>
        <p:spPr>
          <a:xfrm>
            <a:off x="4300680" y="2590433"/>
            <a:ext cx="3783201" cy="3416320"/>
          </a:xfrm>
          <a:prstGeom prst="rect">
            <a:avLst/>
          </a:prstGeom>
          <a:noFill/>
        </p:spPr>
        <p:txBody>
          <a:bodyPr wrap="square" rtlCol="0">
            <a:spAutoFit/>
          </a:bodyPr>
          <a:lstStyle/>
          <a:p>
            <a:r>
              <a:rPr lang="en-US" sz="2400" b="1" dirty="0"/>
              <a:t>Wed.</a:t>
            </a:r>
            <a:r>
              <a:rPr lang="en-001" sz="2400" b="1" dirty="0"/>
              <a:t> </a:t>
            </a:r>
            <a:r>
              <a:rPr lang="en-US" sz="2400" b="1" dirty="0"/>
              <a:t>Oct 7th</a:t>
            </a:r>
            <a:r>
              <a:rPr lang="en-001" sz="2400" b="1" dirty="0"/>
              <a:t> </a:t>
            </a:r>
          </a:p>
          <a:p>
            <a:pPr algn="l"/>
            <a:r>
              <a:rPr lang="en-001" sz="2400" dirty="0"/>
              <a:t>In class:</a:t>
            </a:r>
          </a:p>
          <a:p>
            <a:pPr marL="342900" indent="-342900" algn="l">
              <a:buFontTx/>
              <a:buChar char="-"/>
            </a:pPr>
            <a:r>
              <a:rPr lang="en-001" sz="2400" dirty="0">
                <a:solidFill>
                  <a:srgbClr val="00B0F0"/>
                </a:solidFill>
              </a:rPr>
              <a:t>Quiz</a:t>
            </a:r>
            <a:endParaRPr lang="en-US" sz="2400" dirty="0">
              <a:solidFill>
                <a:srgbClr val="00B0F0"/>
              </a:solidFill>
            </a:endParaRPr>
          </a:p>
          <a:p>
            <a:pPr marL="342900" indent="-342900" algn="l">
              <a:buFontTx/>
              <a:buChar char="-"/>
            </a:pPr>
            <a:r>
              <a:rPr lang="en-001" sz="2400" dirty="0"/>
              <a:t>Lab Ch. </a:t>
            </a:r>
            <a:r>
              <a:rPr lang="en-US" sz="2400" dirty="0"/>
              <a:t>3</a:t>
            </a:r>
          </a:p>
          <a:p>
            <a:pPr marL="342900" indent="-342900" algn="l">
              <a:buFontTx/>
              <a:buChar char="-"/>
            </a:pPr>
            <a:r>
              <a:rPr lang="en-US" sz="2400" dirty="0"/>
              <a:t>1-1 project meetings</a:t>
            </a:r>
            <a:endParaRPr lang="en-001" sz="2400" dirty="0"/>
          </a:p>
          <a:p>
            <a:pPr algn="l"/>
            <a:endParaRPr lang="en-001" sz="2400" dirty="0"/>
          </a:p>
          <a:p>
            <a:pPr algn="l"/>
            <a:r>
              <a:rPr lang="en-001" sz="2400" u="sng" dirty="0"/>
              <a:t>At home:</a:t>
            </a:r>
            <a:br>
              <a:rPr lang="en-001" sz="2400" dirty="0"/>
            </a:br>
            <a:r>
              <a:rPr lang="en-001" sz="2400" dirty="0"/>
              <a:t>- Finish Lab Ch. </a:t>
            </a:r>
            <a:r>
              <a:rPr lang="en-US" sz="2400" dirty="0"/>
              <a:t>3</a:t>
            </a:r>
            <a:endParaRPr lang="en-001" sz="2400" dirty="0"/>
          </a:p>
          <a:p>
            <a:pPr algn="l"/>
            <a:r>
              <a:rPr lang="en-001" sz="2400" dirty="0"/>
              <a:t>- Think about final project</a:t>
            </a:r>
          </a:p>
        </p:txBody>
      </p:sp>
      <p:sp>
        <p:nvSpPr>
          <p:cNvPr id="18" name="TextBox 17">
            <a:extLst>
              <a:ext uri="{FF2B5EF4-FFF2-40B4-BE49-F238E27FC236}">
                <a16:creationId xmlns:a16="http://schemas.microsoft.com/office/drawing/2014/main" id="{0BD01E52-90CD-67BF-FE38-44A063CAABF2}"/>
              </a:ext>
            </a:extLst>
          </p:cNvPr>
          <p:cNvSpPr txBox="1"/>
          <p:nvPr/>
        </p:nvSpPr>
        <p:spPr>
          <a:xfrm>
            <a:off x="781570" y="2594420"/>
            <a:ext cx="3304392" cy="3046988"/>
          </a:xfrm>
          <a:prstGeom prst="rect">
            <a:avLst/>
          </a:prstGeom>
          <a:noFill/>
        </p:spPr>
        <p:txBody>
          <a:bodyPr wrap="square" rtlCol="0">
            <a:spAutoFit/>
          </a:bodyPr>
          <a:lstStyle/>
          <a:p>
            <a:r>
              <a:rPr lang="en-001" sz="2400" b="1" dirty="0"/>
              <a:t>Thu</a:t>
            </a:r>
            <a:r>
              <a:rPr lang="en-US" sz="2400" b="1" dirty="0"/>
              <a:t>.</a:t>
            </a:r>
            <a:r>
              <a:rPr lang="en-001" sz="2400" b="1" dirty="0"/>
              <a:t> Oct</a:t>
            </a:r>
            <a:r>
              <a:rPr lang="en-US" sz="2400" b="1" dirty="0"/>
              <a:t> </a:t>
            </a:r>
            <a:r>
              <a:rPr lang="en-001" sz="2400" b="1" dirty="0"/>
              <a:t>1st </a:t>
            </a:r>
          </a:p>
          <a:p>
            <a:pPr algn="l"/>
            <a:r>
              <a:rPr lang="en-001" sz="2400" dirty="0"/>
              <a:t>In class:</a:t>
            </a:r>
          </a:p>
          <a:p>
            <a:pPr algn="l"/>
            <a:r>
              <a:rPr lang="en-001" sz="2400" dirty="0"/>
              <a:t>- Activities </a:t>
            </a:r>
          </a:p>
          <a:p>
            <a:pPr algn="l"/>
            <a:r>
              <a:rPr lang="en-001" sz="2400" dirty="0"/>
              <a:t>- Ch. 5+6+7</a:t>
            </a:r>
          </a:p>
          <a:p>
            <a:pPr algn="l"/>
            <a:endParaRPr lang="en-001" sz="2400" dirty="0"/>
          </a:p>
          <a:p>
            <a:r>
              <a:rPr lang="en-001" sz="2400" u="sng" dirty="0"/>
              <a:t>At home:</a:t>
            </a:r>
            <a:br>
              <a:rPr lang="en-001" sz="2400" dirty="0"/>
            </a:br>
            <a:r>
              <a:rPr lang="en-001" sz="2400" dirty="0">
                <a:solidFill>
                  <a:srgbClr val="00B0F0"/>
                </a:solidFill>
              </a:rPr>
              <a:t>- Read Ch. 5+6+7</a:t>
            </a:r>
          </a:p>
          <a:p>
            <a:pPr algn="l"/>
            <a:r>
              <a:rPr lang="en-001" sz="2400" dirty="0">
                <a:solidFill>
                  <a:srgbClr val="92D050"/>
                </a:solidFill>
              </a:rPr>
              <a:t>- Read wildfires paper</a:t>
            </a:r>
          </a:p>
        </p:txBody>
      </p:sp>
      <p:sp>
        <p:nvSpPr>
          <p:cNvPr id="5" name="TextBox 4">
            <a:extLst>
              <a:ext uri="{FF2B5EF4-FFF2-40B4-BE49-F238E27FC236}">
                <a16:creationId xmlns:a16="http://schemas.microsoft.com/office/drawing/2014/main" id="{0C636AB8-9BAA-A037-1636-C99F013854E1}"/>
              </a:ext>
            </a:extLst>
          </p:cNvPr>
          <p:cNvSpPr txBox="1"/>
          <p:nvPr/>
        </p:nvSpPr>
        <p:spPr>
          <a:xfrm>
            <a:off x="8298598" y="2590433"/>
            <a:ext cx="3597307" cy="3046988"/>
          </a:xfrm>
          <a:prstGeom prst="rect">
            <a:avLst/>
          </a:prstGeom>
          <a:noFill/>
        </p:spPr>
        <p:txBody>
          <a:bodyPr wrap="square" rtlCol="0">
            <a:spAutoFit/>
          </a:bodyPr>
          <a:lstStyle/>
          <a:p>
            <a:r>
              <a:rPr lang="en-001" sz="2400" b="1" dirty="0"/>
              <a:t>Thu</a:t>
            </a:r>
            <a:r>
              <a:rPr lang="en-US" sz="2400" b="1" dirty="0"/>
              <a:t>.</a:t>
            </a:r>
            <a:r>
              <a:rPr lang="en-001" sz="2400" b="1" dirty="0"/>
              <a:t> Oct</a:t>
            </a:r>
            <a:r>
              <a:rPr lang="en-US" sz="2400" b="1" dirty="0"/>
              <a:t> 8th</a:t>
            </a:r>
            <a:r>
              <a:rPr lang="en-001" sz="2400" b="1" dirty="0"/>
              <a:t> </a:t>
            </a:r>
          </a:p>
          <a:p>
            <a:pPr algn="l"/>
            <a:r>
              <a:rPr lang="en-001" sz="2400" dirty="0"/>
              <a:t>In class:</a:t>
            </a:r>
          </a:p>
          <a:p>
            <a:pPr algn="l"/>
            <a:r>
              <a:rPr lang="en-001" sz="2400" dirty="0">
                <a:solidFill>
                  <a:srgbClr val="92D050"/>
                </a:solidFill>
              </a:rPr>
              <a:t>- Activities </a:t>
            </a:r>
          </a:p>
          <a:p>
            <a:pPr algn="l"/>
            <a:r>
              <a:rPr lang="en-001" sz="2400" dirty="0"/>
              <a:t>- Ch. </a:t>
            </a:r>
            <a:r>
              <a:rPr lang="en-US" sz="2400" dirty="0"/>
              <a:t>8+9</a:t>
            </a:r>
            <a:endParaRPr lang="en-001" sz="2400" dirty="0"/>
          </a:p>
          <a:p>
            <a:pPr algn="l"/>
            <a:endParaRPr lang="en-001" sz="2400" dirty="0"/>
          </a:p>
          <a:p>
            <a:r>
              <a:rPr lang="en-001" sz="2400" u="sng" dirty="0"/>
              <a:t>At home:</a:t>
            </a:r>
            <a:br>
              <a:rPr lang="en-001" sz="2400" dirty="0"/>
            </a:br>
            <a:r>
              <a:rPr lang="en-001" sz="2400" dirty="0"/>
              <a:t>- Read Ch. </a:t>
            </a:r>
            <a:r>
              <a:rPr lang="en-US" sz="2400" dirty="0"/>
              <a:t>8+9</a:t>
            </a:r>
            <a:endParaRPr lang="en-001" sz="2400" dirty="0"/>
          </a:p>
          <a:p>
            <a:pPr algn="l"/>
            <a:r>
              <a:rPr lang="en-001" sz="2400" dirty="0"/>
              <a:t>- Read </a:t>
            </a:r>
            <a:r>
              <a:rPr lang="en-US" sz="2400" dirty="0"/>
              <a:t>ocean</a:t>
            </a:r>
            <a:r>
              <a:rPr lang="en-001" sz="2400" dirty="0"/>
              <a:t> paper</a:t>
            </a:r>
          </a:p>
        </p:txBody>
      </p:sp>
    </p:spTree>
    <p:extLst>
      <p:ext uri="{BB962C8B-B14F-4D97-AF65-F5344CB8AC3E}">
        <p14:creationId xmlns:p14="http://schemas.microsoft.com/office/powerpoint/2010/main" val="1103283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29E90-77D0-C65C-E71E-F96D05A276B7}"/>
              </a:ext>
            </a:extLst>
          </p:cNvPr>
          <p:cNvSpPr>
            <a:spLocks noGrp="1"/>
          </p:cNvSpPr>
          <p:nvPr>
            <p:ph type="title"/>
          </p:nvPr>
        </p:nvSpPr>
        <p:spPr/>
        <p:txBody>
          <a:bodyPr/>
          <a:lstStyle/>
          <a:p>
            <a:r>
              <a:rPr lang="en-US" dirty="0"/>
              <a:t>Legacy slides</a:t>
            </a:r>
          </a:p>
        </p:txBody>
      </p:sp>
      <p:sp>
        <p:nvSpPr>
          <p:cNvPr id="3" name="Text Placeholder 2">
            <a:extLst>
              <a:ext uri="{FF2B5EF4-FFF2-40B4-BE49-F238E27FC236}">
                <a16:creationId xmlns:a16="http://schemas.microsoft.com/office/drawing/2014/main" id="{3A804B89-A9AF-7033-5607-A5794D9D7DB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44B8F84-B1D5-1E47-466B-93756271B4A7}"/>
              </a:ext>
            </a:extLst>
          </p:cNvPr>
          <p:cNvSpPr>
            <a:spLocks noGrp="1"/>
          </p:cNvSpPr>
          <p:nvPr>
            <p:ph type="sldNum" sz="quarter" idx="12"/>
          </p:nvPr>
        </p:nvSpPr>
        <p:spPr/>
        <p:txBody>
          <a:bodyPr/>
          <a:lstStyle/>
          <a:p>
            <a:fld id="{A5686A01-FA10-4E06-92C7-92734750F4C6}" type="slidenum">
              <a:rPr lang="en-US" smtClean="0"/>
              <a:t>33</a:t>
            </a:fld>
            <a:endParaRPr lang="en-US"/>
          </a:p>
        </p:txBody>
      </p:sp>
    </p:spTree>
    <p:extLst>
      <p:ext uri="{BB962C8B-B14F-4D97-AF65-F5344CB8AC3E}">
        <p14:creationId xmlns:p14="http://schemas.microsoft.com/office/powerpoint/2010/main" val="5015660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86846-4351-4D3E-B308-9FD9AD7356BF}"/>
              </a:ext>
            </a:extLst>
          </p:cNvPr>
          <p:cNvSpPr>
            <a:spLocks noGrp="1"/>
          </p:cNvSpPr>
          <p:nvPr>
            <p:ph type="title"/>
          </p:nvPr>
        </p:nvSpPr>
        <p:spPr/>
        <p:txBody>
          <a:bodyPr>
            <a:normAutofit/>
          </a:bodyPr>
          <a:lstStyle/>
          <a:p>
            <a:r>
              <a:rPr lang="en-US" sz="3600" dirty="0"/>
              <a:t>What are the steps to choose one ML method over another?</a:t>
            </a:r>
            <a:br>
              <a:rPr lang="en-US" sz="3600" dirty="0"/>
            </a:br>
            <a:r>
              <a:rPr lang="en-US" sz="3600" dirty="0"/>
              <a:t>how do we know whether a model will generalize well? </a:t>
            </a:r>
          </a:p>
        </p:txBody>
      </p:sp>
      <p:sp>
        <p:nvSpPr>
          <p:cNvPr id="3" name="Slide Number Placeholder 2">
            <a:extLst>
              <a:ext uri="{FF2B5EF4-FFF2-40B4-BE49-F238E27FC236}">
                <a16:creationId xmlns:a16="http://schemas.microsoft.com/office/drawing/2014/main" id="{EAA38057-8C4C-4F7B-BE10-775BE41A3365}"/>
              </a:ext>
            </a:extLst>
          </p:cNvPr>
          <p:cNvSpPr>
            <a:spLocks noGrp="1"/>
          </p:cNvSpPr>
          <p:nvPr>
            <p:ph type="sldNum" sz="quarter" idx="12"/>
          </p:nvPr>
        </p:nvSpPr>
        <p:spPr/>
        <p:txBody>
          <a:bodyPr/>
          <a:lstStyle/>
          <a:p>
            <a:fld id="{A5686A01-FA10-4E06-92C7-92734750F4C6}" type="slidenum">
              <a:rPr lang="en-US" smtClean="0"/>
              <a:t>34</a:t>
            </a:fld>
            <a:endParaRPr lang="en-US"/>
          </a:p>
        </p:txBody>
      </p:sp>
      <p:sp>
        <p:nvSpPr>
          <p:cNvPr id="4" name="TextBox 3">
            <a:extLst>
              <a:ext uri="{FF2B5EF4-FFF2-40B4-BE49-F238E27FC236}">
                <a16:creationId xmlns:a16="http://schemas.microsoft.com/office/drawing/2014/main" id="{F69BE616-E1B1-40FC-BF80-36837290A569}"/>
              </a:ext>
            </a:extLst>
          </p:cNvPr>
          <p:cNvSpPr txBox="1"/>
          <p:nvPr/>
        </p:nvSpPr>
        <p:spPr>
          <a:xfrm>
            <a:off x="0" y="2640563"/>
            <a:ext cx="12192000" cy="4247317"/>
          </a:xfrm>
          <a:prstGeom prst="rect">
            <a:avLst/>
          </a:prstGeom>
          <a:noFill/>
        </p:spPr>
        <p:txBody>
          <a:bodyPr wrap="square" rtlCol="0">
            <a:spAutoFit/>
          </a:bodyPr>
          <a:lstStyle/>
          <a:p>
            <a:pPr marL="514350" indent="-514350" algn="l">
              <a:buFont typeface="+mj-lt"/>
              <a:buAutoNum type="arabicPeriod"/>
            </a:pPr>
            <a:r>
              <a:rPr lang="en-US" sz="3000" dirty="0"/>
              <a:t>Use domain knowledge (how complex is the method vs env. problem?)</a:t>
            </a:r>
            <a:br>
              <a:rPr lang="en-US" sz="3000" dirty="0"/>
            </a:br>
            <a:r>
              <a:rPr lang="en-US" sz="3000" dirty="0"/>
              <a:t>&amp; Characteristic of the datasets (</a:t>
            </a:r>
            <a:r>
              <a:rPr lang="en-US" sz="3000" dirty="0">
                <a:latin typeface="+mj-lt"/>
              </a:rPr>
              <a:t>data size </a:t>
            </a:r>
            <a:r>
              <a:rPr lang="en-US" sz="3000" dirty="0">
                <a:latin typeface="+mj-lt"/>
                <a:cs typeface="Times New Roman" panose="02020603050405020304" pitchFamily="18" charset="0"/>
              </a:rPr>
              <a:t>↔ complexity)</a:t>
            </a:r>
          </a:p>
          <a:p>
            <a:pPr marL="514350" indent="-514350" algn="l">
              <a:buFont typeface="+mj-lt"/>
              <a:buAutoNum type="arabicPeriod"/>
            </a:pPr>
            <a:r>
              <a:rPr lang="en-US" sz="3000" dirty="0">
                <a:latin typeface="+mj-lt"/>
                <a:cs typeface="Times New Roman" panose="02020603050405020304" pitchFamily="18" charset="0"/>
              </a:rPr>
              <a:t>Pick a model and train it on the training set</a:t>
            </a:r>
            <a:br>
              <a:rPr lang="en-US" sz="3000" dirty="0">
                <a:latin typeface="+mj-lt"/>
                <a:cs typeface="Times New Roman" panose="02020603050405020304" pitchFamily="18" charset="0"/>
              </a:rPr>
            </a:br>
            <a:r>
              <a:rPr lang="en-US" sz="3000" dirty="0">
                <a:latin typeface="+mj-lt"/>
                <a:cs typeface="Times New Roman" panose="02020603050405020304" pitchFamily="18" charset="0"/>
              </a:rPr>
              <a:t>UNDERFITTING? Try a more complex model </a:t>
            </a:r>
            <a:r>
              <a:rPr lang="en-US" sz="3000" dirty="0">
                <a:latin typeface="+mj-lt"/>
                <a:cs typeface="Times New Roman" panose="02020603050405020304" pitchFamily="18" charset="0"/>
                <a:sym typeface="Wingdings" panose="05000000000000000000" pitchFamily="2" charset="2"/>
              </a:rPr>
              <a:t></a:t>
            </a:r>
            <a:endParaRPr lang="en-US" sz="3000" dirty="0">
              <a:latin typeface="+mj-lt"/>
              <a:cs typeface="Times New Roman" panose="02020603050405020304" pitchFamily="18" charset="0"/>
            </a:endParaRPr>
          </a:p>
          <a:p>
            <a:pPr marL="514350" indent="-514350" algn="l">
              <a:buFont typeface="+mj-lt"/>
              <a:buAutoNum type="arabicPeriod"/>
            </a:pPr>
            <a:r>
              <a:rPr lang="en-US" sz="3000" dirty="0">
                <a:latin typeface="+mj-lt"/>
                <a:cs typeface="Times New Roman" panose="02020603050405020304" pitchFamily="18" charset="0"/>
              </a:rPr>
              <a:t>(Optional) Adjust its hyperparameters on the validation set</a:t>
            </a:r>
          </a:p>
          <a:p>
            <a:pPr marL="514350" indent="-514350" algn="l">
              <a:buFont typeface="+mj-lt"/>
              <a:buAutoNum type="arabicPeriod"/>
            </a:pPr>
            <a:r>
              <a:rPr lang="en-US" sz="3000" dirty="0">
                <a:latin typeface="+mj-lt"/>
                <a:cs typeface="Times New Roman" panose="02020603050405020304" pitchFamily="18" charset="0"/>
              </a:rPr>
              <a:t>Evaluate on the test set (ideally a </a:t>
            </a:r>
            <a:r>
              <a:rPr lang="en-US" sz="3000" i="1" dirty="0">
                <a:latin typeface="+mj-lt"/>
                <a:cs typeface="Times New Roman" panose="02020603050405020304" pitchFamily="18" charset="0"/>
              </a:rPr>
              <a:t>generalization</a:t>
            </a:r>
            <a:r>
              <a:rPr lang="en-US" sz="3000" dirty="0">
                <a:latin typeface="+mj-lt"/>
                <a:cs typeface="Times New Roman" panose="02020603050405020304" pitchFamily="18" charset="0"/>
              </a:rPr>
              <a:t> set)</a:t>
            </a:r>
            <a:br>
              <a:rPr lang="en-US" sz="3000" dirty="0">
                <a:latin typeface="+mj-lt"/>
                <a:cs typeface="Times New Roman" panose="02020603050405020304" pitchFamily="18" charset="0"/>
              </a:rPr>
            </a:br>
            <a:r>
              <a:rPr lang="en-US" sz="3000" dirty="0">
                <a:latin typeface="+mj-lt"/>
                <a:cs typeface="Times New Roman" panose="02020603050405020304" pitchFamily="18" charset="0"/>
              </a:rPr>
              <a:t>OVERFITTING? </a:t>
            </a:r>
            <a:br>
              <a:rPr lang="en-US" sz="3000" dirty="0">
                <a:latin typeface="+mj-lt"/>
                <a:cs typeface="Times New Roman" panose="02020603050405020304" pitchFamily="18" charset="0"/>
              </a:rPr>
            </a:br>
            <a:r>
              <a:rPr lang="en-US" sz="3000" dirty="0">
                <a:latin typeface="+mj-lt"/>
                <a:cs typeface="Times New Roman" panose="02020603050405020304" pitchFamily="18" charset="0"/>
              </a:rPr>
              <a:t>Regularize your model or try a (simpler) model </a:t>
            </a:r>
            <a:r>
              <a:rPr lang="en-US" sz="3000" dirty="0">
                <a:latin typeface="+mj-lt"/>
                <a:cs typeface="Times New Roman" panose="02020603050405020304" pitchFamily="18" charset="0"/>
                <a:sym typeface="Wingdings" panose="05000000000000000000" pitchFamily="2" charset="2"/>
              </a:rPr>
              <a:t></a:t>
            </a:r>
          </a:p>
          <a:p>
            <a:pPr algn="l"/>
            <a:r>
              <a:rPr lang="en-US" sz="3000" dirty="0">
                <a:latin typeface="+mj-lt"/>
                <a:cs typeface="Times New Roman" panose="02020603050405020304" pitchFamily="18" charset="0"/>
                <a:sym typeface="Wingdings" panose="05000000000000000000" pitchFamily="2" charset="2"/>
              </a:rPr>
              <a:t>→ Workflow from lecture 1 slides or </a:t>
            </a:r>
            <a:r>
              <a:rPr lang="en-US" sz="3000" dirty="0" err="1">
                <a:latin typeface="+mj-lt"/>
                <a:cs typeface="Times New Roman" panose="02020603050405020304" pitchFamily="18" charset="0"/>
                <a:sym typeface="Wingdings" panose="05000000000000000000" pitchFamily="2" charset="2"/>
              </a:rPr>
              <a:t>Géron</a:t>
            </a:r>
            <a:r>
              <a:rPr lang="en-US" sz="3000" dirty="0">
                <a:latin typeface="+mj-lt"/>
                <a:cs typeface="Times New Roman" panose="02020603050405020304" pitchFamily="18" charset="0"/>
                <a:sym typeface="Wingdings" panose="05000000000000000000" pitchFamily="2" charset="2"/>
              </a:rPr>
              <a:t> Ch2/Appendix B for more</a:t>
            </a:r>
            <a:endParaRPr lang="en-US" sz="3000" dirty="0">
              <a:latin typeface="+mj-lt"/>
              <a:cs typeface="Times New Roman" panose="02020603050405020304" pitchFamily="18" charset="0"/>
            </a:endParaRPr>
          </a:p>
        </p:txBody>
      </p:sp>
      <p:pic>
        <p:nvPicPr>
          <p:cNvPr id="5" name="Picture 4" descr="Icon&#10;&#10;Description automatically generated">
            <a:extLst>
              <a:ext uri="{FF2B5EF4-FFF2-40B4-BE49-F238E27FC236}">
                <a16:creationId xmlns:a16="http://schemas.microsoft.com/office/drawing/2014/main" id="{8F487762-2D77-4438-8E23-8C337A537A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56109"/>
            <a:ext cx="659219" cy="659219"/>
          </a:xfrm>
          <a:prstGeom prst="rect">
            <a:avLst/>
          </a:prstGeom>
        </p:spPr>
      </p:pic>
      <p:pic>
        <p:nvPicPr>
          <p:cNvPr id="6" name="Picture 5" descr="Icon&#10;&#10;Description automatically generated">
            <a:extLst>
              <a:ext uri="{FF2B5EF4-FFF2-40B4-BE49-F238E27FC236}">
                <a16:creationId xmlns:a16="http://schemas.microsoft.com/office/drawing/2014/main" id="{6E6387A9-E563-4A66-BC21-70C55485D4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32781" y="1556108"/>
            <a:ext cx="659219" cy="659219"/>
          </a:xfrm>
          <a:prstGeom prst="rect">
            <a:avLst/>
          </a:prstGeom>
        </p:spPr>
      </p:pic>
      <p:pic>
        <p:nvPicPr>
          <p:cNvPr id="8" name="Picture 7">
            <a:extLst>
              <a:ext uri="{FF2B5EF4-FFF2-40B4-BE49-F238E27FC236}">
                <a16:creationId xmlns:a16="http://schemas.microsoft.com/office/drawing/2014/main" id="{ED30409C-95B7-4D4F-AA02-725A61CA04E2}"/>
              </a:ext>
            </a:extLst>
          </p:cNvPr>
          <p:cNvPicPr>
            <a:picLocks noChangeAspect="1"/>
          </p:cNvPicPr>
          <p:nvPr/>
        </p:nvPicPr>
        <p:blipFill rotWithShape="1">
          <a:blip r:embed="rId3"/>
          <a:srcRect l="53111"/>
          <a:stretch/>
        </p:blipFill>
        <p:spPr>
          <a:xfrm>
            <a:off x="10217890" y="4767174"/>
            <a:ext cx="1974110" cy="1634431"/>
          </a:xfrm>
          <a:prstGeom prst="rect">
            <a:avLst/>
          </a:prstGeom>
        </p:spPr>
      </p:pic>
      <p:pic>
        <p:nvPicPr>
          <p:cNvPr id="10" name="Picture 9">
            <a:extLst>
              <a:ext uri="{FF2B5EF4-FFF2-40B4-BE49-F238E27FC236}">
                <a16:creationId xmlns:a16="http://schemas.microsoft.com/office/drawing/2014/main" id="{022A3A9D-679D-40DB-B3A5-452026105066}"/>
              </a:ext>
            </a:extLst>
          </p:cNvPr>
          <p:cNvPicPr>
            <a:picLocks noChangeAspect="1"/>
          </p:cNvPicPr>
          <p:nvPr/>
        </p:nvPicPr>
        <p:blipFill rotWithShape="1">
          <a:blip r:embed="rId3"/>
          <a:srcRect l="1570" r="46977"/>
          <a:stretch/>
        </p:blipFill>
        <p:spPr>
          <a:xfrm>
            <a:off x="10203878" y="3264195"/>
            <a:ext cx="1988120" cy="1500026"/>
          </a:xfrm>
          <a:prstGeom prst="rect">
            <a:avLst/>
          </a:prstGeom>
        </p:spPr>
      </p:pic>
    </p:spTree>
    <p:extLst>
      <p:ext uri="{BB962C8B-B14F-4D97-AF65-F5344CB8AC3E}">
        <p14:creationId xmlns:p14="http://schemas.microsoft.com/office/powerpoint/2010/main" val="2144228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4" end="4"/>
                                            </p:txEl>
                                          </p:spTgt>
                                        </p:tgtEl>
                                        <p:attrNameLst>
                                          <p:attrName>style.visibility</p:attrName>
                                        </p:attrNameLst>
                                      </p:cBhvr>
                                      <p:to>
                                        <p:strVal val="visible"/>
                                      </p:to>
                                    </p:set>
                                    <p:animEffect transition="in" filter="fade">
                                      <p:cBhvr>
                                        <p:cTn id="10" dur="500"/>
                                        <p:tgtEl>
                                          <p:spTgt spid="4">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48958-9633-400C-9E88-B29715A5E44B}"/>
              </a:ext>
            </a:extLst>
          </p:cNvPr>
          <p:cNvSpPr>
            <a:spLocks noGrp="1"/>
          </p:cNvSpPr>
          <p:nvPr>
            <p:ph type="title"/>
          </p:nvPr>
        </p:nvSpPr>
        <p:spPr>
          <a:xfrm>
            <a:off x="-2" y="1042633"/>
            <a:ext cx="12192000" cy="842152"/>
          </a:xfrm>
        </p:spPr>
        <p:txBody>
          <a:bodyPr/>
          <a:lstStyle/>
          <a:p>
            <a:r>
              <a:rPr lang="en-US" dirty="0"/>
              <a:t>SVMs sorted by complexity/representation power</a:t>
            </a:r>
          </a:p>
        </p:txBody>
      </p:sp>
      <p:sp>
        <p:nvSpPr>
          <p:cNvPr id="3" name="Slide Number Placeholder 2">
            <a:extLst>
              <a:ext uri="{FF2B5EF4-FFF2-40B4-BE49-F238E27FC236}">
                <a16:creationId xmlns:a16="http://schemas.microsoft.com/office/drawing/2014/main" id="{C142815E-590A-4AF2-BFC1-6AE7B3077B5E}"/>
              </a:ext>
            </a:extLst>
          </p:cNvPr>
          <p:cNvSpPr>
            <a:spLocks noGrp="1"/>
          </p:cNvSpPr>
          <p:nvPr>
            <p:ph type="sldNum" sz="quarter" idx="12"/>
          </p:nvPr>
        </p:nvSpPr>
        <p:spPr/>
        <p:txBody>
          <a:bodyPr/>
          <a:lstStyle/>
          <a:p>
            <a:fld id="{A5686A01-FA10-4E06-92C7-92734750F4C6}" type="slidenum">
              <a:rPr lang="en-US" smtClean="0"/>
              <a:t>35</a:t>
            </a:fld>
            <a:endParaRPr lang="en-US"/>
          </a:p>
        </p:txBody>
      </p:sp>
      <p:cxnSp>
        <p:nvCxnSpPr>
          <p:cNvPr id="5" name="Straight Arrow Connector 4">
            <a:extLst>
              <a:ext uri="{FF2B5EF4-FFF2-40B4-BE49-F238E27FC236}">
                <a16:creationId xmlns:a16="http://schemas.microsoft.com/office/drawing/2014/main" id="{811D3196-1727-4AD7-8FC9-F351465346FC}"/>
              </a:ext>
            </a:extLst>
          </p:cNvPr>
          <p:cNvCxnSpPr>
            <a:cxnSpLocks/>
          </p:cNvCxnSpPr>
          <p:nvPr/>
        </p:nvCxnSpPr>
        <p:spPr>
          <a:xfrm>
            <a:off x="455645" y="6727378"/>
            <a:ext cx="11280710"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3730DB2-BB06-48D1-843E-FD149146214A}"/>
              </a:ext>
            </a:extLst>
          </p:cNvPr>
          <p:cNvSpPr txBox="1"/>
          <p:nvPr/>
        </p:nvSpPr>
        <p:spPr>
          <a:xfrm>
            <a:off x="6096000" y="6173380"/>
            <a:ext cx="5640355" cy="553998"/>
          </a:xfrm>
          <a:prstGeom prst="rect">
            <a:avLst/>
          </a:prstGeom>
          <a:noFill/>
        </p:spPr>
        <p:txBody>
          <a:bodyPr wrap="square" rtlCol="0">
            <a:spAutoFit/>
          </a:bodyPr>
          <a:lstStyle/>
          <a:p>
            <a:pPr algn="l"/>
            <a:r>
              <a:rPr lang="en-US" sz="3000" dirty="0"/>
              <a:t>Representation power/Complexity</a:t>
            </a:r>
          </a:p>
        </p:txBody>
      </p:sp>
      <p:pic>
        <p:nvPicPr>
          <p:cNvPr id="10" name="Picture 9">
            <a:extLst>
              <a:ext uri="{FF2B5EF4-FFF2-40B4-BE49-F238E27FC236}">
                <a16:creationId xmlns:a16="http://schemas.microsoft.com/office/drawing/2014/main" id="{8670D54E-D447-41F3-90F7-151F7275B805}"/>
              </a:ext>
            </a:extLst>
          </p:cNvPr>
          <p:cNvPicPr>
            <a:picLocks noChangeAspect="1"/>
          </p:cNvPicPr>
          <p:nvPr/>
        </p:nvPicPr>
        <p:blipFill>
          <a:blip r:embed="rId3"/>
          <a:stretch>
            <a:fillRect/>
          </a:stretch>
        </p:blipFill>
        <p:spPr>
          <a:xfrm>
            <a:off x="455645" y="1789962"/>
            <a:ext cx="3600000" cy="1737413"/>
          </a:xfrm>
          <a:prstGeom prst="rect">
            <a:avLst/>
          </a:prstGeom>
        </p:spPr>
      </p:pic>
      <p:pic>
        <p:nvPicPr>
          <p:cNvPr id="12" name="Picture 11">
            <a:extLst>
              <a:ext uri="{FF2B5EF4-FFF2-40B4-BE49-F238E27FC236}">
                <a16:creationId xmlns:a16="http://schemas.microsoft.com/office/drawing/2014/main" id="{6674FAC5-1EB4-42C2-A22A-09F890033736}"/>
              </a:ext>
            </a:extLst>
          </p:cNvPr>
          <p:cNvPicPr>
            <a:picLocks noChangeAspect="1"/>
          </p:cNvPicPr>
          <p:nvPr/>
        </p:nvPicPr>
        <p:blipFill>
          <a:blip r:embed="rId4"/>
          <a:stretch>
            <a:fillRect/>
          </a:stretch>
        </p:blipFill>
        <p:spPr>
          <a:xfrm>
            <a:off x="455645" y="3666505"/>
            <a:ext cx="3600000" cy="1923364"/>
          </a:xfrm>
          <a:prstGeom prst="rect">
            <a:avLst/>
          </a:prstGeom>
        </p:spPr>
      </p:pic>
      <p:sp>
        <p:nvSpPr>
          <p:cNvPr id="13" name="TextBox 12">
            <a:extLst>
              <a:ext uri="{FF2B5EF4-FFF2-40B4-BE49-F238E27FC236}">
                <a16:creationId xmlns:a16="http://schemas.microsoft.com/office/drawing/2014/main" id="{F7250E9A-E2F6-47CA-BA22-6F55ADC9F8F8}"/>
              </a:ext>
            </a:extLst>
          </p:cNvPr>
          <p:cNvSpPr txBox="1"/>
          <p:nvPr/>
        </p:nvSpPr>
        <p:spPr>
          <a:xfrm>
            <a:off x="455645" y="5604625"/>
            <a:ext cx="3600000" cy="1015663"/>
          </a:xfrm>
          <a:prstGeom prst="rect">
            <a:avLst/>
          </a:prstGeom>
          <a:noFill/>
        </p:spPr>
        <p:txBody>
          <a:bodyPr wrap="square" rtlCol="0">
            <a:spAutoFit/>
          </a:bodyPr>
          <a:lstStyle/>
          <a:p>
            <a:pPr algn="ctr"/>
            <a:r>
              <a:rPr lang="en-US" sz="3000" dirty="0"/>
              <a:t>Linear SVM</a:t>
            </a:r>
          </a:p>
          <a:p>
            <a:pPr algn="ctr"/>
            <a:r>
              <a:rPr lang="en-US" sz="3000" dirty="0"/>
              <a:t>(with soft margin)</a:t>
            </a:r>
          </a:p>
        </p:txBody>
      </p:sp>
      <p:sp>
        <p:nvSpPr>
          <p:cNvPr id="17" name="TextBox 16">
            <a:extLst>
              <a:ext uri="{FF2B5EF4-FFF2-40B4-BE49-F238E27FC236}">
                <a16:creationId xmlns:a16="http://schemas.microsoft.com/office/drawing/2014/main" id="{9294904D-5883-4C1A-B626-DC01A339485E}"/>
              </a:ext>
            </a:extLst>
          </p:cNvPr>
          <p:cNvSpPr txBox="1"/>
          <p:nvPr/>
        </p:nvSpPr>
        <p:spPr>
          <a:xfrm>
            <a:off x="6204857" y="1884785"/>
            <a:ext cx="6102220" cy="923330"/>
          </a:xfrm>
          <a:prstGeom prst="rect">
            <a:avLst/>
          </a:prstGeom>
          <a:noFill/>
        </p:spPr>
        <p:txBody>
          <a:bodyPr wrap="square">
            <a:spAutoFit/>
          </a:bodyPr>
          <a:lstStyle/>
          <a:p>
            <a:r>
              <a:rPr lang="en-US" dirty="0"/>
              <a:t>Reducing the hyperparameter C means that we tolerate more margin violations. This will bring about a </a:t>
            </a:r>
            <a:r>
              <a:rPr lang="en-US" b="1" dirty="0"/>
              <a:t>smoother decision boundary</a:t>
            </a:r>
            <a:r>
              <a:rPr lang="en-US" dirty="0"/>
              <a:t>, i.e., </a:t>
            </a:r>
            <a:r>
              <a:rPr lang="en-US" b="1" dirty="0"/>
              <a:t>regularization</a:t>
            </a:r>
            <a:r>
              <a:rPr lang="en-US" dirty="0"/>
              <a:t> of SVM model.</a:t>
            </a:r>
          </a:p>
        </p:txBody>
      </p:sp>
      <p:sp>
        <p:nvSpPr>
          <p:cNvPr id="21" name="TextBox 20">
            <a:extLst>
              <a:ext uri="{FF2B5EF4-FFF2-40B4-BE49-F238E27FC236}">
                <a16:creationId xmlns:a16="http://schemas.microsoft.com/office/drawing/2014/main" id="{D72781ED-42FE-42BA-8AE4-ECC15DE7E0FA}"/>
              </a:ext>
            </a:extLst>
          </p:cNvPr>
          <p:cNvSpPr txBox="1"/>
          <p:nvPr/>
        </p:nvSpPr>
        <p:spPr>
          <a:xfrm>
            <a:off x="6204857" y="3203319"/>
            <a:ext cx="5987141" cy="923330"/>
          </a:xfrm>
          <a:prstGeom prst="rect">
            <a:avLst/>
          </a:prstGeom>
          <a:noFill/>
        </p:spPr>
        <p:txBody>
          <a:bodyPr wrap="square">
            <a:spAutoFit/>
          </a:bodyPr>
          <a:lstStyle/>
          <a:p>
            <a:r>
              <a:rPr lang="en-US" dirty="0"/>
              <a:t>By reducing the C value, the model increases the street and accepts more margin violations. This means that it is </a:t>
            </a:r>
            <a:r>
              <a:rPr lang="en-US" b="1" dirty="0"/>
              <a:t>less sensitive to outliers</a:t>
            </a:r>
            <a:r>
              <a:rPr lang="en-US" dirty="0"/>
              <a:t>.</a:t>
            </a:r>
          </a:p>
        </p:txBody>
      </p:sp>
      <p:sp>
        <p:nvSpPr>
          <p:cNvPr id="25" name="TextBox 24">
            <a:extLst>
              <a:ext uri="{FF2B5EF4-FFF2-40B4-BE49-F238E27FC236}">
                <a16:creationId xmlns:a16="http://schemas.microsoft.com/office/drawing/2014/main" id="{75AFC298-B099-491E-9794-EF5E66E9A857}"/>
              </a:ext>
            </a:extLst>
          </p:cNvPr>
          <p:cNvSpPr txBox="1"/>
          <p:nvPr/>
        </p:nvSpPr>
        <p:spPr>
          <a:xfrm>
            <a:off x="6204857" y="4511386"/>
            <a:ext cx="6102220" cy="1200329"/>
          </a:xfrm>
          <a:prstGeom prst="rect">
            <a:avLst/>
          </a:prstGeom>
          <a:noFill/>
        </p:spPr>
        <p:txBody>
          <a:bodyPr wrap="square">
            <a:spAutoFit/>
          </a:bodyPr>
          <a:lstStyle/>
          <a:p>
            <a:r>
              <a:rPr lang="en-US" dirty="0"/>
              <a:t>The hyperparameter C set up the margin violation, so the number of instances that end up on the wrong side of the classification. If we reduce C, there are more margin violations, but it will </a:t>
            </a:r>
            <a:r>
              <a:rPr lang="en-US" dirty="0" err="1"/>
              <a:t>genaralise</a:t>
            </a:r>
            <a:r>
              <a:rPr lang="en-US" dirty="0"/>
              <a:t> better and have less overfitting. </a:t>
            </a:r>
          </a:p>
        </p:txBody>
      </p:sp>
      <p:cxnSp>
        <p:nvCxnSpPr>
          <p:cNvPr id="45" name="Straight Arrow Connector 44">
            <a:extLst>
              <a:ext uri="{FF2B5EF4-FFF2-40B4-BE49-F238E27FC236}">
                <a16:creationId xmlns:a16="http://schemas.microsoft.com/office/drawing/2014/main" id="{E7107406-7B81-45A2-BBC0-B9023D03E9ED}"/>
              </a:ext>
            </a:extLst>
          </p:cNvPr>
          <p:cNvCxnSpPr>
            <a:cxnSpLocks/>
          </p:cNvCxnSpPr>
          <p:nvPr/>
        </p:nvCxnSpPr>
        <p:spPr>
          <a:xfrm flipH="1" flipV="1">
            <a:off x="4152122" y="2808115"/>
            <a:ext cx="849086" cy="51358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7ADC5C93-7CA6-45DE-8DDF-0A3115F8C3AA}"/>
              </a:ext>
            </a:extLst>
          </p:cNvPr>
          <p:cNvCxnSpPr>
            <a:cxnSpLocks/>
          </p:cNvCxnSpPr>
          <p:nvPr/>
        </p:nvCxnSpPr>
        <p:spPr>
          <a:xfrm flipH="1">
            <a:off x="4152122" y="3770805"/>
            <a:ext cx="849086" cy="11837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5" name="Picture 14" descr="Icon&#10;&#10;Description automatically generated">
            <a:extLst>
              <a:ext uri="{FF2B5EF4-FFF2-40B4-BE49-F238E27FC236}">
                <a16:creationId xmlns:a16="http://schemas.microsoft.com/office/drawing/2014/main" id="{F6387789-38A1-445F-8646-CC7383F6C5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94665" y="3107149"/>
            <a:ext cx="915958" cy="915958"/>
          </a:xfrm>
          <a:prstGeom prst="rect">
            <a:avLst/>
          </a:prstGeom>
        </p:spPr>
      </p:pic>
    </p:spTree>
    <p:extLst>
      <p:ext uri="{BB962C8B-B14F-4D97-AF65-F5344CB8AC3E}">
        <p14:creationId xmlns:p14="http://schemas.microsoft.com/office/powerpoint/2010/main" val="558374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5"/>
                                        </p:tgtEl>
                                        <p:attrNameLst>
                                          <p:attrName>style.visibility</p:attrName>
                                        </p:attrNameLst>
                                      </p:cBhvr>
                                      <p:to>
                                        <p:strVal val="visible"/>
                                      </p:to>
                                    </p:set>
                                    <p:animEffect transition="in" filter="fade">
                                      <p:cBhvr>
                                        <p:cTn id="18" dur="500"/>
                                        <p:tgtEl>
                                          <p:spTgt spid="45"/>
                                        </p:tgtEl>
                                      </p:cBhvr>
                                    </p:animEffect>
                                  </p:childTnLst>
                                </p:cTn>
                              </p:par>
                              <p:par>
                                <p:cTn id="19" presetID="10" presetClass="entr" presetSubtype="0" fill="hold" nodeType="withEffect">
                                  <p:stCondLst>
                                    <p:cond delay="0"/>
                                  </p:stCondLst>
                                  <p:childTnLst>
                                    <p:set>
                                      <p:cBhvr>
                                        <p:cTn id="20" dur="1" fill="hold">
                                          <p:stCondLst>
                                            <p:cond delay="0"/>
                                          </p:stCondLst>
                                        </p:cTn>
                                        <p:tgtEl>
                                          <p:spTgt spid="46"/>
                                        </p:tgtEl>
                                        <p:attrNameLst>
                                          <p:attrName>style.visibility</p:attrName>
                                        </p:attrNameLst>
                                      </p:cBhvr>
                                      <p:to>
                                        <p:strVal val="visible"/>
                                      </p:to>
                                    </p:set>
                                    <p:animEffect transition="in" filter="fade">
                                      <p:cBhvr>
                                        <p:cTn id="21" dur="500"/>
                                        <p:tgtEl>
                                          <p:spTgt spid="4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500"/>
                                        <p:tgtEl>
                                          <p:spTgt spid="2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7" grpId="0"/>
      <p:bldP spid="21" grpId="0"/>
      <p:bldP spid="2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1E10A-3459-4F37-B2D1-3F864BD5CB33}"/>
              </a:ext>
            </a:extLst>
          </p:cNvPr>
          <p:cNvSpPr>
            <a:spLocks noGrp="1"/>
          </p:cNvSpPr>
          <p:nvPr>
            <p:ph type="ctrTitle"/>
          </p:nvPr>
        </p:nvSpPr>
        <p:spPr>
          <a:xfrm>
            <a:off x="0" y="1122363"/>
            <a:ext cx="12192000" cy="2387600"/>
          </a:xfrm>
        </p:spPr>
        <p:txBody>
          <a:bodyPr>
            <a:normAutofit fontScale="90000"/>
          </a:bodyPr>
          <a:lstStyle/>
          <a:p>
            <a:r>
              <a:rPr lang="en-US" dirty="0"/>
              <a:t>Min 30-60: Bias-Correcting Meteorological Forecasts with simple ML</a:t>
            </a:r>
          </a:p>
        </p:txBody>
      </p:sp>
      <p:sp>
        <p:nvSpPr>
          <p:cNvPr id="4" name="Slide Number Placeholder 3">
            <a:extLst>
              <a:ext uri="{FF2B5EF4-FFF2-40B4-BE49-F238E27FC236}">
                <a16:creationId xmlns:a16="http://schemas.microsoft.com/office/drawing/2014/main" id="{65951D8F-8562-4A80-A9B3-5D34DC991367}"/>
              </a:ext>
            </a:extLst>
          </p:cNvPr>
          <p:cNvSpPr>
            <a:spLocks noGrp="1"/>
          </p:cNvSpPr>
          <p:nvPr>
            <p:ph type="sldNum" sz="quarter" idx="12"/>
          </p:nvPr>
        </p:nvSpPr>
        <p:spPr/>
        <p:txBody>
          <a:bodyPr/>
          <a:lstStyle/>
          <a:p>
            <a:fld id="{A5686A01-FA10-4E06-92C7-92734750F4C6}" type="slidenum">
              <a:rPr lang="en-US" smtClean="0"/>
              <a:t>36</a:t>
            </a:fld>
            <a:endParaRPr lang="en-US"/>
          </a:p>
        </p:txBody>
      </p:sp>
      <p:sp>
        <p:nvSpPr>
          <p:cNvPr id="8" name="TextBox 7">
            <a:extLst>
              <a:ext uri="{FF2B5EF4-FFF2-40B4-BE49-F238E27FC236}">
                <a16:creationId xmlns:a16="http://schemas.microsoft.com/office/drawing/2014/main" id="{87D54344-A389-4C07-9115-1D25FAB7B690}"/>
              </a:ext>
            </a:extLst>
          </p:cNvPr>
          <p:cNvSpPr txBox="1"/>
          <p:nvPr/>
        </p:nvSpPr>
        <p:spPr>
          <a:xfrm>
            <a:off x="0" y="4072622"/>
            <a:ext cx="12192000" cy="2400657"/>
          </a:xfrm>
          <a:prstGeom prst="rect">
            <a:avLst/>
          </a:prstGeom>
          <a:noFill/>
        </p:spPr>
        <p:txBody>
          <a:bodyPr wrap="square">
            <a:spAutoFit/>
          </a:bodyPr>
          <a:lstStyle/>
          <a:p>
            <a:pPr algn="ctr"/>
            <a:r>
              <a:rPr lang="en-US" sz="2500" u="sng" dirty="0"/>
              <a:t>Learning Objectives</a:t>
            </a:r>
            <a:r>
              <a:rPr lang="en-US" sz="2500" dirty="0"/>
              <a:t> (Wilks Ch7, </a:t>
            </a:r>
            <a:r>
              <a:rPr lang="en-US" sz="2500" dirty="0" err="1"/>
              <a:t>Géron</a:t>
            </a:r>
            <a:r>
              <a:rPr lang="en-US" sz="2500" dirty="0"/>
              <a:t> Ch3+4):</a:t>
            </a:r>
          </a:p>
          <a:p>
            <a:pPr marL="457200" indent="-457200" algn="ctr">
              <a:buFont typeface="+mj-lt"/>
              <a:buAutoNum type="arabicPeriod"/>
            </a:pPr>
            <a:r>
              <a:rPr lang="en-US" sz="2500" dirty="0"/>
              <a:t>Distinguish dynamical from statistical forecasting</a:t>
            </a:r>
          </a:p>
          <a:p>
            <a:pPr marL="457200" indent="-457200" algn="ctr">
              <a:buFont typeface="+mj-lt"/>
              <a:buAutoNum type="arabicPeriod"/>
            </a:pPr>
            <a:r>
              <a:rPr lang="en-US" sz="2500" dirty="0"/>
              <a:t>Understand Model Output Statistics</a:t>
            </a:r>
          </a:p>
          <a:p>
            <a:pPr marL="457200" indent="-457200" algn="ctr">
              <a:buFont typeface="+mj-lt"/>
              <a:buAutoNum type="arabicPeriod"/>
            </a:pPr>
            <a:r>
              <a:rPr lang="en-US" sz="2500" dirty="0"/>
              <a:t>Be aware of forward/backward selection to choose inputs for your ML model</a:t>
            </a:r>
          </a:p>
          <a:p>
            <a:pPr marL="457200" indent="-457200" algn="ctr">
              <a:buFont typeface="+mj-lt"/>
              <a:buAutoNum type="arabicPeriod"/>
            </a:pPr>
            <a:r>
              <a:rPr lang="en-US" sz="2500" dirty="0"/>
              <a:t>Know how to regularize a linear model </a:t>
            </a:r>
          </a:p>
          <a:p>
            <a:pPr marL="457200" indent="-457200" algn="ctr">
              <a:buFont typeface="+mj-lt"/>
              <a:buAutoNum type="arabicPeriod"/>
            </a:pPr>
            <a:r>
              <a:rPr lang="en-US" sz="2500" dirty="0"/>
              <a:t>Define prediction intervals and think about uncertainty</a:t>
            </a:r>
          </a:p>
        </p:txBody>
      </p:sp>
    </p:spTree>
    <p:extLst>
      <p:ext uri="{BB962C8B-B14F-4D97-AF65-F5344CB8AC3E}">
        <p14:creationId xmlns:p14="http://schemas.microsoft.com/office/powerpoint/2010/main" val="20967790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CECE590-B3A8-4953-890A-EFDE3C8ECAB4}"/>
              </a:ext>
            </a:extLst>
          </p:cNvPr>
          <p:cNvSpPr>
            <a:spLocks noGrp="1"/>
          </p:cNvSpPr>
          <p:nvPr>
            <p:ph type="sldNum" sz="quarter" idx="12"/>
          </p:nvPr>
        </p:nvSpPr>
        <p:spPr/>
        <p:txBody>
          <a:bodyPr/>
          <a:lstStyle/>
          <a:p>
            <a:fld id="{A5686A01-FA10-4E06-92C7-92734750F4C6}" type="slidenum">
              <a:rPr lang="en-US" smtClean="0"/>
              <a:t>37</a:t>
            </a:fld>
            <a:endParaRPr lang="en-US"/>
          </a:p>
        </p:txBody>
      </p:sp>
      <p:cxnSp>
        <p:nvCxnSpPr>
          <p:cNvPr id="7" name="Straight Connector 6">
            <a:extLst>
              <a:ext uri="{FF2B5EF4-FFF2-40B4-BE49-F238E27FC236}">
                <a16:creationId xmlns:a16="http://schemas.microsoft.com/office/drawing/2014/main" id="{5636246E-835D-4F66-8D61-2527F18B0DC1}"/>
              </a:ext>
            </a:extLst>
          </p:cNvPr>
          <p:cNvCxnSpPr/>
          <p:nvPr/>
        </p:nvCxnSpPr>
        <p:spPr>
          <a:xfrm flipV="1">
            <a:off x="0" y="2291787"/>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B8FDD21-D923-4B17-8882-B3DE2703D912}"/>
              </a:ext>
            </a:extLst>
          </p:cNvPr>
          <p:cNvCxnSpPr>
            <a:cxnSpLocks/>
          </p:cNvCxnSpPr>
          <p:nvPr/>
        </p:nvCxnSpPr>
        <p:spPr>
          <a:xfrm>
            <a:off x="6096000" y="1030147"/>
            <a:ext cx="0" cy="582785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935C7A6B-0272-4C3D-BB5C-B09F5E5FF3C3}"/>
              </a:ext>
            </a:extLst>
          </p:cNvPr>
          <p:cNvSpPr txBox="1"/>
          <p:nvPr/>
        </p:nvSpPr>
        <p:spPr>
          <a:xfrm>
            <a:off x="1" y="1383968"/>
            <a:ext cx="6095999" cy="553998"/>
          </a:xfrm>
          <a:prstGeom prst="rect">
            <a:avLst/>
          </a:prstGeom>
          <a:noFill/>
        </p:spPr>
        <p:txBody>
          <a:bodyPr wrap="square" rtlCol="0">
            <a:spAutoFit/>
          </a:bodyPr>
          <a:lstStyle/>
          <a:p>
            <a:pPr algn="ctr"/>
            <a:r>
              <a:rPr lang="en-US" sz="3000" dirty="0"/>
              <a:t>Dynamical Forecasting</a:t>
            </a:r>
          </a:p>
        </p:txBody>
      </p:sp>
      <p:sp>
        <p:nvSpPr>
          <p:cNvPr id="15" name="TextBox 14">
            <a:extLst>
              <a:ext uri="{FF2B5EF4-FFF2-40B4-BE49-F238E27FC236}">
                <a16:creationId xmlns:a16="http://schemas.microsoft.com/office/drawing/2014/main" id="{269FDDC7-E4C3-4C56-AEF1-AC38DA488ED8}"/>
              </a:ext>
            </a:extLst>
          </p:cNvPr>
          <p:cNvSpPr txBox="1"/>
          <p:nvPr/>
        </p:nvSpPr>
        <p:spPr>
          <a:xfrm>
            <a:off x="6096000" y="1383968"/>
            <a:ext cx="6095997" cy="553998"/>
          </a:xfrm>
          <a:prstGeom prst="rect">
            <a:avLst/>
          </a:prstGeom>
          <a:noFill/>
        </p:spPr>
        <p:txBody>
          <a:bodyPr wrap="square" rtlCol="0">
            <a:spAutoFit/>
          </a:bodyPr>
          <a:lstStyle/>
          <a:p>
            <a:pPr algn="ctr"/>
            <a:r>
              <a:rPr lang="en-US" sz="3000" dirty="0"/>
              <a:t>Statistical Forecasting</a:t>
            </a:r>
          </a:p>
        </p:txBody>
      </p:sp>
      <p:pic>
        <p:nvPicPr>
          <p:cNvPr id="17" name="Picture 16">
            <a:extLst>
              <a:ext uri="{FF2B5EF4-FFF2-40B4-BE49-F238E27FC236}">
                <a16:creationId xmlns:a16="http://schemas.microsoft.com/office/drawing/2014/main" id="{D46C5B2A-5A1E-4A22-BADD-DE78D1FFA76D}"/>
              </a:ext>
            </a:extLst>
          </p:cNvPr>
          <p:cNvPicPr>
            <a:picLocks noChangeAspect="1"/>
          </p:cNvPicPr>
          <p:nvPr/>
        </p:nvPicPr>
        <p:blipFill>
          <a:blip r:embed="rId3"/>
          <a:stretch>
            <a:fillRect/>
          </a:stretch>
        </p:blipFill>
        <p:spPr>
          <a:xfrm>
            <a:off x="1238490" y="2291788"/>
            <a:ext cx="4857509" cy="2360722"/>
          </a:xfrm>
          <a:prstGeom prst="rect">
            <a:avLst/>
          </a:prstGeom>
        </p:spPr>
      </p:pic>
      <p:pic>
        <p:nvPicPr>
          <p:cNvPr id="19" name="Picture 18">
            <a:extLst>
              <a:ext uri="{FF2B5EF4-FFF2-40B4-BE49-F238E27FC236}">
                <a16:creationId xmlns:a16="http://schemas.microsoft.com/office/drawing/2014/main" id="{132D9493-5613-41D9-9138-CE967F4470FB}"/>
              </a:ext>
            </a:extLst>
          </p:cNvPr>
          <p:cNvPicPr>
            <a:picLocks noChangeAspect="1"/>
          </p:cNvPicPr>
          <p:nvPr/>
        </p:nvPicPr>
        <p:blipFill>
          <a:blip r:embed="rId4"/>
          <a:stretch>
            <a:fillRect/>
          </a:stretch>
        </p:blipFill>
        <p:spPr>
          <a:xfrm>
            <a:off x="3886200" y="4652510"/>
            <a:ext cx="2209800" cy="800100"/>
          </a:xfrm>
          <a:prstGeom prst="rect">
            <a:avLst/>
          </a:prstGeom>
        </p:spPr>
      </p:pic>
      <p:pic>
        <p:nvPicPr>
          <p:cNvPr id="21" name="Picture 20">
            <a:extLst>
              <a:ext uri="{FF2B5EF4-FFF2-40B4-BE49-F238E27FC236}">
                <a16:creationId xmlns:a16="http://schemas.microsoft.com/office/drawing/2014/main" id="{72A0D8B3-2FB7-4A26-B0D1-92E4253A3992}"/>
              </a:ext>
            </a:extLst>
          </p:cNvPr>
          <p:cNvPicPr>
            <a:picLocks noChangeAspect="1"/>
          </p:cNvPicPr>
          <p:nvPr/>
        </p:nvPicPr>
        <p:blipFill>
          <a:blip r:embed="rId5"/>
          <a:stretch>
            <a:fillRect/>
          </a:stretch>
        </p:blipFill>
        <p:spPr>
          <a:xfrm>
            <a:off x="3961454" y="5452610"/>
            <a:ext cx="2134545" cy="464032"/>
          </a:xfrm>
          <a:prstGeom prst="rect">
            <a:avLst/>
          </a:prstGeom>
        </p:spPr>
      </p:pic>
      <p:pic>
        <p:nvPicPr>
          <p:cNvPr id="23" name="Picture 22">
            <a:extLst>
              <a:ext uri="{FF2B5EF4-FFF2-40B4-BE49-F238E27FC236}">
                <a16:creationId xmlns:a16="http://schemas.microsoft.com/office/drawing/2014/main" id="{B83F12A9-82A2-46A9-9A76-F0BF2D829515}"/>
              </a:ext>
            </a:extLst>
          </p:cNvPr>
          <p:cNvPicPr>
            <a:picLocks noChangeAspect="1"/>
          </p:cNvPicPr>
          <p:nvPr/>
        </p:nvPicPr>
        <p:blipFill>
          <a:blip r:embed="rId6"/>
          <a:stretch>
            <a:fillRect/>
          </a:stretch>
        </p:blipFill>
        <p:spPr>
          <a:xfrm>
            <a:off x="0" y="4660800"/>
            <a:ext cx="3961454" cy="2197200"/>
          </a:xfrm>
          <a:prstGeom prst="rect">
            <a:avLst/>
          </a:prstGeom>
        </p:spPr>
      </p:pic>
      <p:sp>
        <p:nvSpPr>
          <p:cNvPr id="24" name="Oval 23">
            <a:extLst>
              <a:ext uri="{FF2B5EF4-FFF2-40B4-BE49-F238E27FC236}">
                <a16:creationId xmlns:a16="http://schemas.microsoft.com/office/drawing/2014/main" id="{C6005067-DEFD-49F0-B3FE-D13142AE2536}"/>
              </a:ext>
            </a:extLst>
          </p:cNvPr>
          <p:cNvSpPr/>
          <p:nvPr/>
        </p:nvSpPr>
        <p:spPr>
          <a:xfrm>
            <a:off x="8125447" y="2438461"/>
            <a:ext cx="2025551" cy="1948344"/>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80C3216D-5CD4-4DA9-AC95-ED3B1EF83574}"/>
              </a:ext>
            </a:extLst>
          </p:cNvPr>
          <p:cNvSpPr txBox="1"/>
          <p:nvPr/>
        </p:nvSpPr>
        <p:spPr>
          <a:xfrm>
            <a:off x="8166421" y="3135634"/>
            <a:ext cx="1943602" cy="553998"/>
          </a:xfrm>
          <a:prstGeom prst="rect">
            <a:avLst/>
          </a:prstGeom>
          <a:noFill/>
        </p:spPr>
        <p:txBody>
          <a:bodyPr wrap="square" rtlCol="0">
            <a:spAutoFit/>
          </a:bodyPr>
          <a:lstStyle/>
          <a:p>
            <a:pPr algn="ctr"/>
            <a:r>
              <a:rPr lang="en-US" sz="3000" dirty="0"/>
              <a:t>Data</a:t>
            </a:r>
          </a:p>
        </p:txBody>
      </p:sp>
      <p:sp>
        <p:nvSpPr>
          <p:cNvPr id="27" name="Oval 26">
            <a:extLst>
              <a:ext uri="{FF2B5EF4-FFF2-40B4-BE49-F238E27FC236}">
                <a16:creationId xmlns:a16="http://schemas.microsoft.com/office/drawing/2014/main" id="{3B623A14-7BBC-4CAE-B62A-08E0BA1C574F}"/>
              </a:ext>
            </a:extLst>
          </p:cNvPr>
          <p:cNvSpPr/>
          <p:nvPr/>
        </p:nvSpPr>
        <p:spPr>
          <a:xfrm>
            <a:off x="6454824" y="4838278"/>
            <a:ext cx="2025551" cy="1948344"/>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6EF7D909-8E14-4601-A3DD-D0EBC639D8EC}"/>
              </a:ext>
            </a:extLst>
          </p:cNvPr>
          <p:cNvSpPr txBox="1"/>
          <p:nvPr/>
        </p:nvSpPr>
        <p:spPr>
          <a:xfrm>
            <a:off x="6495798" y="5535451"/>
            <a:ext cx="1943602" cy="553998"/>
          </a:xfrm>
          <a:prstGeom prst="rect">
            <a:avLst/>
          </a:prstGeom>
          <a:noFill/>
        </p:spPr>
        <p:txBody>
          <a:bodyPr wrap="square" rtlCol="0">
            <a:spAutoFit/>
          </a:bodyPr>
          <a:lstStyle/>
          <a:p>
            <a:pPr algn="ctr"/>
            <a:r>
              <a:rPr lang="en-US" sz="3000" dirty="0"/>
              <a:t>Training</a:t>
            </a:r>
          </a:p>
        </p:txBody>
      </p:sp>
      <p:sp>
        <p:nvSpPr>
          <p:cNvPr id="29" name="Oval 28">
            <a:extLst>
              <a:ext uri="{FF2B5EF4-FFF2-40B4-BE49-F238E27FC236}">
                <a16:creationId xmlns:a16="http://schemas.microsoft.com/office/drawing/2014/main" id="{C6735D2B-3990-4E27-A0BB-22628EC4AD00}"/>
              </a:ext>
            </a:extLst>
          </p:cNvPr>
          <p:cNvSpPr/>
          <p:nvPr/>
        </p:nvSpPr>
        <p:spPr>
          <a:xfrm>
            <a:off x="9982200" y="4838278"/>
            <a:ext cx="2025551" cy="1948344"/>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397D38E6-68AB-4ECB-ABED-CDA956C2E31D}"/>
              </a:ext>
            </a:extLst>
          </p:cNvPr>
          <p:cNvSpPr txBox="1"/>
          <p:nvPr/>
        </p:nvSpPr>
        <p:spPr>
          <a:xfrm>
            <a:off x="10023174" y="5535451"/>
            <a:ext cx="1943602" cy="553998"/>
          </a:xfrm>
          <a:prstGeom prst="rect">
            <a:avLst/>
          </a:prstGeom>
          <a:noFill/>
        </p:spPr>
        <p:txBody>
          <a:bodyPr wrap="square" rtlCol="0">
            <a:spAutoFit/>
          </a:bodyPr>
          <a:lstStyle/>
          <a:p>
            <a:pPr algn="ctr"/>
            <a:r>
              <a:rPr lang="en-US" sz="3000" dirty="0"/>
              <a:t>Prediction</a:t>
            </a:r>
          </a:p>
        </p:txBody>
      </p:sp>
      <p:cxnSp>
        <p:nvCxnSpPr>
          <p:cNvPr id="32" name="Straight Arrow Connector 31">
            <a:extLst>
              <a:ext uri="{FF2B5EF4-FFF2-40B4-BE49-F238E27FC236}">
                <a16:creationId xmlns:a16="http://schemas.microsoft.com/office/drawing/2014/main" id="{A1164CF5-9C59-4978-A77B-99028CF8C0FB}"/>
              </a:ext>
            </a:extLst>
          </p:cNvPr>
          <p:cNvCxnSpPr>
            <a:cxnSpLocks/>
          </p:cNvCxnSpPr>
          <p:nvPr/>
        </p:nvCxnSpPr>
        <p:spPr>
          <a:xfrm flipH="1">
            <a:off x="7919928" y="4180511"/>
            <a:ext cx="560447" cy="78502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80D14361-7305-4A81-A660-AA3BFC0BD59C}"/>
              </a:ext>
            </a:extLst>
          </p:cNvPr>
          <p:cNvSpPr txBox="1"/>
          <p:nvPr/>
        </p:nvSpPr>
        <p:spPr>
          <a:xfrm>
            <a:off x="7289544" y="4019027"/>
            <a:ext cx="1190829" cy="553998"/>
          </a:xfrm>
          <a:prstGeom prst="rect">
            <a:avLst/>
          </a:prstGeom>
          <a:noFill/>
        </p:spPr>
        <p:txBody>
          <a:bodyPr wrap="square" rtlCol="0">
            <a:spAutoFit/>
          </a:bodyPr>
          <a:lstStyle/>
          <a:p>
            <a:pPr algn="ctr"/>
            <a:r>
              <a:rPr lang="en-US" sz="3000" dirty="0"/>
              <a:t>Past</a:t>
            </a:r>
          </a:p>
        </p:txBody>
      </p:sp>
      <p:cxnSp>
        <p:nvCxnSpPr>
          <p:cNvPr id="36" name="Straight Arrow Connector 35">
            <a:extLst>
              <a:ext uri="{FF2B5EF4-FFF2-40B4-BE49-F238E27FC236}">
                <a16:creationId xmlns:a16="http://schemas.microsoft.com/office/drawing/2014/main" id="{50BDBA7E-014C-4183-AAD0-9739343C2047}"/>
              </a:ext>
            </a:extLst>
          </p:cNvPr>
          <p:cNvCxnSpPr>
            <a:cxnSpLocks/>
            <a:stCxn id="24" idx="5"/>
          </p:cNvCxnSpPr>
          <p:nvPr/>
        </p:nvCxnSpPr>
        <p:spPr>
          <a:xfrm>
            <a:off x="9854363" y="4101477"/>
            <a:ext cx="805921" cy="86406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2E14B842-B2FF-46F1-912A-16AE69EECD78}"/>
              </a:ext>
            </a:extLst>
          </p:cNvPr>
          <p:cNvSpPr txBox="1"/>
          <p:nvPr/>
        </p:nvSpPr>
        <p:spPr>
          <a:xfrm>
            <a:off x="9991833" y="3944073"/>
            <a:ext cx="1660990" cy="553998"/>
          </a:xfrm>
          <a:prstGeom prst="rect">
            <a:avLst/>
          </a:prstGeom>
          <a:noFill/>
        </p:spPr>
        <p:txBody>
          <a:bodyPr wrap="square" rtlCol="0">
            <a:spAutoFit/>
          </a:bodyPr>
          <a:lstStyle/>
          <a:p>
            <a:pPr algn="ctr"/>
            <a:r>
              <a:rPr lang="en-US" sz="3000" dirty="0"/>
              <a:t>Present</a:t>
            </a:r>
          </a:p>
        </p:txBody>
      </p:sp>
    </p:spTree>
    <p:extLst>
      <p:ext uri="{BB962C8B-B14F-4D97-AF65-F5344CB8AC3E}">
        <p14:creationId xmlns:p14="http://schemas.microsoft.com/office/powerpoint/2010/main" val="4104413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500"/>
                                        <p:tgtEl>
                                          <p:spTgt spid="2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500"/>
                                        <p:tgtEl>
                                          <p:spTgt spid="2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500"/>
                                        <p:tgtEl>
                                          <p:spTgt spid="2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par>
                                <p:cTn id="23" presetID="10" presetClass="entr" presetSubtype="0" fill="hold" nodeType="with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fade">
                                      <p:cBhvr>
                                        <p:cTn id="25" dur="500"/>
                                        <p:tgtEl>
                                          <p:spTgt spid="3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fade">
                                      <p:cBhvr>
                                        <p:cTn id="28" dur="500"/>
                                        <p:tgtEl>
                                          <p:spTgt spid="35"/>
                                        </p:tgtEl>
                                      </p:cBhvr>
                                    </p:animEffect>
                                  </p:childTnLst>
                                </p:cTn>
                              </p:par>
                              <p:par>
                                <p:cTn id="29" presetID="10" presetClass="entr" presetSubtype="0" fill="hold" nodeType="with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fade">
                                      <p:cBhvr>
                                        <p:cTn id="31" dur="500"/>
                                        <p:tgtEl>
                                          <p:spTgt spid="3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fade">
                                      <p:cBhvr>
                                        <p:cTn id="34" dur="500"/>
                                        <p:tgtEl>
                                          <p:spTgt spid="3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4" grpId="0" animBg="1"/>
      <p:bldP spid="25" grpId="0"/>
      <p:bldP spid="27" grpId="0" animBg="1"/>
      <p:bldP spid="28" grpId="0"/>
      <p:bldP spid="29" grpId="0" animBg="1"/>
      <p:bldP spid="30" grpId="0"/>
      <p:bldP spid="35" grpId="0"/>
      <p:bldP spid="3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B56D580-9A26-4D2F-A48B-1F47B80F8309}"/>
              </a:ext>
            </a:extLst>
          </p:cNvPr>
          <p:cNvSpPr>
            <a:spLocks noGrp="1"/>
          </p:cNvSpPr>
          <p:nvPr>
            <p:ph type="sldNum" sz="quarter" idx="12"/>
          </p:nvPr>
        </p:nvSpPr>
        <p:spPr/>
        <p:txBody>
          <a:bodyPr/>
          <a:lstStyle/>
          <a:p>
            <a:fld id="{A5686A01-FA10-4E06-92C7-92734750F4C6}" type="slidenum">
              <a:rPr lang="en-US" smtClean="0"/>
              <a:t>38</a:t>
            </a:fld>
            <a:endParaRPr lang="en-US"/>
          </a:p>
        </p:txBody>
      </p:sp>
      <p:pic>
        <p:nvPicPr>
          <p:cNvPr id="6" name="Picture 5">
            <a:extLst>
              <a:ext uri="{FF2B5EF4-FFF2-40B4-BE49-F238E27FC236}">
                <a16:creationId xmlns:a16="http://schemas.microsoft.com/office/drawing/2014/main" id="{9FC65DF4-9355-4889-84D6-85E18B21428E}"/>
              </a:ext>
            </a:extLst>
          </p:cNvPr>
          <p:cNvPicPr>
            <a:picLocks noChangeAspect="1"/>
          </p:cNvPicPr>
          <p:nvPr/>
        </p:nvPicPr>
        <p:blipFill>
          <a:blip r:embed="rId2"/>
          <a:stretch>
            <a:fillRect/>
          </a:stretch>
        </p:blipFill>
        <p:spPr>
          <a:xfrm>
            <a:off x="0" y="1038397"/>
            <a:ext cx="7626579" cy="5819603"/>
          </a:xfrm>
          <a:prstGeom prst="rect">
            <a:avLst/>
          </a:prstGeom>
        </p:spPr>
      </p:pic>
      <p:sp>
        <p:nvSpPr>
          <p:cNvPr id="7" name="TextBox 6">
            <a:extLst>
              <a:ext uri="{FF2B5EF4-FFF2-40B4-BE49-F238E27FC236}">
                <a16:creationId xmlns:a16="http://schemas.microsoft.com/office/drawing/2014/main" id="{410548F0-F135-4AFA-932A-6B0D67FAD9FD}"/>
              </a:ext>
            </a:extLst>
          </p:cNvPr>
          <p:cNvSpPr txBox="1"/>
          <p:nvPr/>
        </p:nvSpPr>
        <p:spPr>
          <a:xfrm>
            <a:off x="7626579" y="1669439"/>
            <a:ext cx="4541134" cy="1015663"/>
          </a:xfrm>
          <a:prstGeom prst="rect">
            <a:avLst/>
          </a:prstGeom>
          <a:noFill/>
        </p:spPr>
        <p:txBody>
          <a:bodyPr wrap="square" rtlCol="0">
            <a:spAutoFit/>
          </a:bodyPr>
          <a:lstStyle/>
          <a:p>
            <a:pPr algn="ctr"/>
            <a:r>
              <a:rPr lang="en-US" sz="3000" dirty="0"/>
              <a:t>Model Output Statistics</a:t>
            </a:r>
          </a:p>
          <a:p>
            <a:pPr algn="ctr"/>
            <a:r>
              <a:rPr lang="en-US" sz="3000" dirty="0"/>
              <a:t>(MOS)</a:t>
            </a:r>
          </a:p>
        </p:txBody>
      </p:sp>
      <p:sp>
        <p:nvSpPr>
          <p:cNvPr id="8" name="Rectangle 7">
            <a:extLst>
              <a:ext uri="{FF2B5EF4-FFF2-40B4-BE49-F238E27FC236}">
                <a16:creationId xmlns:a16="http://schemas.microsoft.com/office/drawing/2014/main" id="{D455F2DE-4427-4B7D-B0F2-B46FB6B52A04}"/>
              </a:ext>
            </a:extLst>
          </p:cNvPr>
          <p:cNvSpPr/>
          <p:nvPr/>
        </p:nvSpPr>
        <p:spPr>
          <a:xfrm>
            <a:off x="7294022" y="6488668"/>
            <a:ext cx="4897978" cy="369332"/>
          </a:xfrm>
          <a:prstGeom prst="rect">
            <a:avLst/>
          </a:prstGeom>
        </p:spPr>
        <p:txBody>
          <a:bodyPr wrap="squar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de-DE" sz="1800" b="0" i="1" u="sng" strike="noStrike" kern="0" cap="none" spc="0" normalizeH="0" baseline="0" noProof="0" dirty="0">
                <a:ln>
                  <a:noFill/>
                </a:ln>
                <a:effectLst/>
                <a:uLnTx/>
                <a:uFillTx/>
              </a:rPr>
              <a:t>Source</a:t>
            </a:r>
            <a:r>
              <a:rPr kumimoji="0" lang="de-DE" sz="1800" b="0" i="1" u="none" strike="noStrike" kern="0" cap="none" spc="0" normalizeH="0" baseline="0" noProof="0" dirty="0">
                <a:ln>
                  <a:noFill/>
                </a:ln>
                <a:effectLst/>
                <a:uLnTx/>
                <a:uFillTx/>
              </a:rPr>
              <a:t>: </a:t>
            </a:r>
            <a:r>
              <a:rPr lang="en-US" i="1" kern="0" dirty="0"/>
              <a:t>DWD</a:t>
            </a:r>
            <a:endParaRPr kumimoji="0" lang="en-US" sz="1800" b="0" i="1" u="none" strike="noStrike" kern="0" cap="none" spc="0" normalizeH="0" baseline="0" noProof="0" dirty="0">
              <a:ln>
                <a:noFill/>
              </a:ln>
              <a:effectLst/>
              <a:uLnTx/>
              <a:uFillTx/>
            </a:endParaRPr>
          </a:p>
        </p:txBody>
      </p:sp>
      <p:pic>
        <p:nvPicPr>
          <p:cNvPr id="9" name="Picture 8" descr="Icon&#10;&#10;Description automatically generated">
            <a:extLst>
              <a:ext uri="{FF2B5EF4-FFF2-40B4-BE49-F238E27FC236}">
                <a16:creationId xmlns:a16="http://schemas.microsoft.com/office/drawing/2014/main" id="{BC01C8FF-40B2-4395-B067-BC2C7F1364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61356" y="3492886"/>
            <a:ext cx="1222834" cy="1222834"/>
          </a:xfrm>
          <a:prstGeom prst="rect">
            <a:avLst/>
          </a:prstGeom>
        </p:spPr>
      </p:pic>
      <p:sp>
        <p:nvSpPr>
          <p:cNvPr id="10" name="TextBox 9">
            <a:extLst>
              <a:ext uri="{FF2B5EF4-FFF2-40B4-BE49-F238E27FC236}">
                <a16:creationId xmlns:a16="http://schemas.microsoft.com/office/drawing/2014/main" id="{D4EAF009-2CAF-4DE4-9B05-0664D7DA41DE}"/>
              </a:ext>
            </a:extLst>
          </p:cNvPr>
          <p:cNvSpPr txBox="1"/>
          <p:nvPr/>
        </p:nvSpPr>
        <p:spPr>
          <a:xfrm>
            <a:off x="8518967" y="3429000"/>
            <a:ext cx="3673033" cy="2862322"/>
          </a:xfrm>
          <a:prstGeom prst="rect">
            <a:avLst/>
          </a:prstGeom>
          <a:noFill/>
        </p:spPr>
        <p:txBody>
          <a:bodyPr wrap="square" rtlCol="0">
            <a:spAutoFit/>
          </a:bodyPr>
          <a:lstStyle/>
          <a:p>
            <a:pPr algn="l"/>
            <a:r>
              <a:rPr lang="en-US" sz="3000" dirty="0"/>
              <a:t>MOS is machine learning applied to:</a:t>
            </a:r>
          </a:p>
          <a:p>
            <a:pPr marL="457200" indent="-457200" algn="l">
              <a:buFont typeface="Arial" panose="020B0604020202020204" pitchFamily="34" charset="0"/>
              <a:buChar char="•"/>
            </a:pPr>
            <a:r>
              <a:rPr lang="en-US" sz="3000" dirty="0"/>
              <a:t>Past observations</a:t>
            </a:r>
          </a:p>
          <a:p>
            <a:pPr marL="457200" indent="-457200" algn="l">
              <a:buFont typeface="Arial" panose="020B0604020202020204" pitchFamily="34" charset="0"/>
              <a:buChar char="•"/>
            </a:pPr>
            <a:r>
              <a:rPr lang="en-US" sz="3000" dirty="0"/>
              <a:t>Past forecasts</a:t>
            </a:r>
          </a:p>
          <a:p>
            <a:pPr algn="l"/>
            <a:r>
              <a:rPr lang="en-US" sz="3000" dirty="0"/>
              <a:t>To statistically correct future forecasts</a:t>
            </a:r>
          </a:p>
        </p:txBody>
      </p:sp>
    </p:spTree>
    <p:extLst>
      <p:ext uri="{BB962C8B-B14F-4D97-AF65-F5344CB8AC3E}">
        <p14:creationId xmlns:p14="http://schemas.microsoft.com/office/powerpoint/2010/main" val="32408130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44F9D0E-A252-4295-98A9-65A2E4A24E64}"/>
              </a:ext>
            </a:extLst>
          </p:cNvPr>
          <p:cNvSpPr>
            <a:spLocks noGrp="1"/>
          </p:cNvSpPr>
          <p:nvPr>
            <p:ph type="sldNum" sz="quarter" idx="12"/>
          </p:nvPr>
        </p:nvSpPr>
        <p:spPr/>
        <p:txBody>
          <a:bodyPr/>
          <a:lstStyle/>
          <a:p>
            <a:fld id="{A5686A01-FA10-4E06-92C7-92734750F4C6}" type="slidenum">
              <a:rPr lang="en-US" smtClean="0"/>
              <a:t>39</a:t>
            </a:fld>
            <a:endParaRPr lang="en-US"/>
          </a:p>
        </p:txBody>
      </p:sp>
      <p:sp>
        <p:nvSpPr>
          <p:cNvPr id="7" name="TextBox 6">
            <a:extLst>
              <a:ext uri="{FF2B5EF4-FFF2-40B4-BE49-F238E27FC236}">
                <a16:creationId xmlns:a16="http://schemas.microsoft.com/office/drawing/2014/main" id="{5DF151FF-21FE-4A3B-B897-6CD5A70EE723}"/>
              </a:ext>
            </a:extLst>
          </p:cNvPr>
          <p:cNvSpPr txBox="1"/>
          <p:nvPr/>
        </p:nvSpPr>
        <p:spPr>
          <a:xfrm>
            <a:off x="-15433" y="1077174"/>
            <a:ext cx="7677873" cy="1477328"/>
          </a:xfrm>
          <a:prstGeom prst="rect">
            <a:avLst/>
          </a:prstGeom>
          <a:noFill/>
        </p:spPr>
        <p:txBody>
          <a:bodyPr wrap="square">
            <a:spAutoFit/>
          </a:bodyPr>
          <a:lstStyle/>
          <a:p>
            <a:pPr algn="ctr"/>
            <a:r>
              <a:rPr lang="en-US" dirty="0"/>
              <a:t>MOS (Model Output Statistics) is a statistical postprocessing method that helps correct the systematic errors of the raw dynamical forecast outputs. The MOS approach modifies the classical statistical </a:t>
            </a:r>
            <a:r>
              <a:rPr lang="en-US" dirty="0" err="1"/>
              <a:t>forecastings</a:t>
            </a:r>
            <a:r>
              <a:rPr lang="en-US" dirty="0"/>
              <a:t> (large multiple regression equations) by considering dynamical forecasts available at the time the forecast must be issued, related to the future time being forecast.</a:t>
            </a:r>
          </a:p>
        </p:txBody>
      </p:sp>
      <p:sp>
        <p:nvSpPr>
          <p:cNvPr id="11" name="TextBox 10">
            <a:extLst>
              <a:ext uri="{FF2B5EF4-FFF2-40B4-BE49-F238E27FC236}">
                <a16:creationId xmlns:a16="http://schemas.microsoft.com/office/drawing/2014/main" id="{EB3C2818-36A5-41CE-8D79-4E6EA558438B}"/>
              </a:ext>
            </a:extLst>
          </p:cNvPr>
          <p:cNvSpPr txBox="1"/>
          <p:nvPr/>
        </p:nvSpPr>
        <p:spPr>
          <a:xfrm>
            <a:off x="8218025" y="4539762"/>
            <a:ext cx="3973975" cy="2308324"/>
          </a:xfrm>
          <a:prstGeom prst="rect">
            <a:avLst/>
          </a:prstGeom>
          <a:noFill/>
        </p:spPr>
        <p:txBody>
          <a:bodyPr wrap="square">
            <a:spAutoFit/>
          </a:bodyPr>
          <a:lstStyle/>
          <a:p>
            <a:pPr algn="ctr"/>
            <a:r>
              <a:rPr lang="en-US" dirty="0"/>
              <a:t>MOS: The statistical relationships between deterministic forecast outputs and observations</a:t>
            </a:r>
          </a:p>
          <a:p>
            <a:pPr algn="ctr"/>
            <a:r>
              <a:rPr lang="en-US" dirty="0"/>
              <a:t>We can use MOS to figure out the systematic biases of a particular weather model. Then we should presumably get more accurate predictions by removing this bias.</a:t>
            </a:r>
          </a:p>
        </p:txBody>
      </p:sp>
      <p:sp>
        <p:nvSpPr>
          <p:cNvPr id="15" name="TextBox 14">
            <a:extLst>
              <a:ext uri="{FF2B5EF4-FFF2-40B4-BE49-F238E27FC236}">
                <a16:creationId xmlns:a16="http://schemas.microsoft.com/office/drawing/2014/main" id="{818CF86A-7F9E-46EE-9DA2-9442D3E113AD}"/>
              </a:ext>
            </a:extLst>
          </p:cNvPr>
          <p:cNvSpPr txBox="1"/>
          <p:nvPr/>
        </p:nvSpPr>
        <p:spPr>
          <a:xfrm>
            <a:off x="8090704" y="1164076"/>
            <a:ext cx="4101296" cy="2308324"/>
          </a:xfrm>
          <a:prstGeom prst="rect">
            <a:avLst/>
          </a:prstGeom>
          <a:noFill/>
        </p:spPr>
        <p:txBody>
          <a:bodyPr wrap="square">
            <a:spAutoFit/>
          </a:bodyPr>
          <a:lstStyle/>
          <a:p>
            <a:pPr algn="ctr"/>
            <a:r>
              <a:rPr lang="en-US" dirty="0"/>
              <a:t>MOS extends classical statistical forecasting by including dynamical forecasts available at the time the forecast must be issued, but which apply </a:t>
            </a:r>
            <a:r>
              <a:rPr lang="en-US" dirty="0" err="1"/>
              <a:t>yo</a:t>
            </a:r>
            <a:r>
              <a:rPr lang="en-US" dirty="0"/>
              <a:t> the future time being forecast. The influences of dynamical models can be included directly in the regression equations.</a:t>
            </a:r>
          </a:p>
        </p:txBody>
      </p:sp>
      <p:pic>
        <p:nvPicPr>
          <p:cNvPr id="17" name="Picture 16">
            <a:extLst>
              <a:ext uri="{FF2B5EF4-FFF2-40B4-BE49-F238E27FC236}">
                <a16:creationId xmlns:a16="http://schemas.microsoft.com/office/drawing/2014/main" id="{1779CC32-B1B2-4B04-A4F8-7589C6D8EEC4}"/>
              </a:ext>
            </a:extLst>
          </p:cNvPr>
          <p:cNvPicPr>
            <a:picLocks noChangeAspect="1"/>
          </p:cNvPicPr>
          <p:nvPr/>
        </p:nvPicPr>
        <p:blipFill>
          <a:blip r:embed="rId2"/>
          <a:stretch>
            <a:fillRect/>
          </a:stretch>
        </p:blipFill>
        <p:spPr>
          <a:xfrm>
            <a:off x="-15434" y="2671051"/>
            <a:ext cx="7805195" cy="4177035"/>
          </a:xfrm>
          <a:prstGeom prst="rect">
            <a:avLst/>
          </a:prstGeom>
        </p:spPr>
      </p:pic>
    </p:spTree>
    <p:extLst>
      <p:ext uri="{BB962C8B-B14F-4D97-AF65-F5344CB8AC3E}">
        <p14:creationId xmlns:p14="http://schemas.microsoft.com/office/powerpoint/2010/main" val="29699678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F469523-531C-4216-AA02-05AD55842514}"/>
              </a:ext>
            </a:extLst>
          </p:cNvPr>
          <p:cNvSpPr>
            <a:spLocks noGrp="1"/>
          </p:cNvSpPr>
          <p:nvPr>
            <p:ph type="sldNum" sz="quarter" idx="12"/>
          </p:nvPr>
        </p:nvSpPr>
        <p:spPr/>
        <p:txBody>
          <a:bodyPr/>
          <a:lstStyle/>
          <a:p>
            <a:fld id="{A5686A01-FA10-4E06-92C7-92734750F4C6}" type="slidenum">
              <a:rPr lang="en-US" smtClean="0"/>
              <a:t>40</a:t>
            </a:fld>
            <a:endParaRPr lang="en-US"/>
          </a:p>
        </p:txBody>
      </p:sp>
      <p:cxnSp>
        <p:nvCxnSpPr>
          <p:cNvPr id="4" name="Straight Connector 3">
            <a:extLst>
              <a:ext uri="{FF2B5EF4-FFF2-40B4-BE49-F238E27FC236}">
                <a16:creationId xmlns:a16="http://schemas.microsoft.com/office/drawing/2014/main" id="{56C592B8-15B6-44C6-AC0F-8300C1443A55}"/>
              </a:ext>
            </a:extLst>
          </p:cNvPr>
          <p:cNvCxnSpPr/>
          <p:nvPr/>
        </p:nvCxnSpPr>
        <p:spPr>
          <a:xfrm flipV="1">
            <a:off x="0" y="2291787"/>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4694DFDF-BA89-43FE-A4AA-2A4FB7221E7C}"/>
              </a:ext>
            </a:extLst>
          </p:cNvPr>
          <p:cNvCxnSpPr>
            <a:cxnSpLocks/>
          </p:cNvCxnSpPr>
          <p:nvPr/>
        </p:nvCxnSpPr>
        <p:spPr>
          <a:xfrm>
            <a:off x="6096000" y="1030147"/>
            <a:ext cx="0" cy="582785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92A29B73-D52C-4B3F-8C3B-A5EF43638981}"/>
              </a:ext>
            </a:extLst>
          </p:cNvPr>
          <p:cNvPicPr>
            <a:picLocks noChangeAspect="1"/>
          </p:cNvPicPr>
          <p:nvPr/>
        </p:nvPicPr>
        <p:blipFill>
          <a:blip r:embed="rId2"/>
          <a:stretch>
            <a:fillRect/>
          </a:stretch>
        </p:blipFill>
        <p:spPr>
          <a:xfrm>
            <a:off x="0" y="2169433"/>
            <a:ext cx="6096000" cy="4688567"/>
          </a:xfrm>
          <a:prstGeom prst="rect">
            <a:avLst/>
          </a:prstGeom>
        </p:spPr>
      </p:pic>
      <p:sp>
        <p:nvSpPr>
          <p:cNvPr id="8" name="TextBox 7">
            <a:extLst>
              <a:ext uri="{FF2B5EF4-FFF2-40B4-BE49-F238E27FC236}">
                <a16:creationId xmlns:a16="http://schemas.microsoft.com/office/drawing/2014/main" id="{F7EE84D6-2BB6-4B25-8C47-AE248F994D38}"/>
              </a:ext>
            </a:extLst>
          </p:cNvPr>
          <p:cNvSpPr txBox="1"/>
          <p:nvPr/>
        </p:nvSpPr>
        <p:spPr>
          <a:xfrm>
            <a:off x="0" y="1296365"/>
            <a:ext cx="6095999" cy="553998"/>
          </a:xfrm>
          <a:prstGeom prst="rect">
            <a:avLst/>
          </a:prstGeom>
          <a:noFill/>
        </p:spPr>
        <p:txBody>
          <a:bodyPr wrap="square" rtlCol="0">
            <a:spAutoFit/>
          </a:bodyPr>
          <a:lstStyle/>
          <a:p>
            <a:pPr algn="ctr"/>
            <a:r>
              <a:rPr lang="en-US" sz="3000" dirty="0"/>
              <a:t>Forward Selection</a:t>
            </a:r>
          </a:p>
        </p:txBody>
      </p:sp>
      <p:sp>
        <p:nvSpPr>
          <p:cNvPr id="9" name="TextBox 8">
            <a:extLst>
              <a:ext uri="{FF2B5EF4-FFF2-40B4-BE49-F238E27FC236}">
                <a16:creationId xmlns:a16="http://schemas.microsoft.com/office/drawing/2014/main" id="{6262DAA5-E7CB-4D28-A19C-ED6D3522C334}"/>
              </a:ext>
            </a:extLst>
          </p:cNvPr>
          <p:cNvSpPr txBox="1"/>
          <p:nvPr/>
        </p:nvSpPr>
        <p:spPr>
          <a:xfrm>
            <a:off x="6095999" y="1323516"/>
            <a:ext cx="6095998" cy="553998"/>
          </a:xfrm>
          <a:prstGeom prst="rect">
            <a:avLst/>
          </a:prstGeom>
          <a:noFill/>
        </p:spPr>
        <p:txBody>
          <a:bodyPr wrap="square" rtlCol="0">
            <a:spAutoFit/>
          </a:bodyPr>
          <a:lstStyle/>
          <a:p>
            <a:pPr algn="ctr"/>
            <a:r>
              <a:rPr lang="en-US" sz="3000" dirty="0"/>
              <a:t>Backwards Elimination</a:t>
            </a:r>
          </a:p>
        </p:txBody>
      </p:sp>
      <p:sp>
        <p:nvSpPr>
          <p:cNvPr id="10" name="TextBox 9">
            <a:extLst>
              <a:ext uri="{FF2B5EF4-FFF2-40B4-BE49-F238E27FC236}">
                <a16:creationId xmlns:a16="http://schemas.microsoft.com/office/drawing/2014/main" id="{7E3FC659-9A14-4C41-B9BF-DB07CC7BA91F}"/>
              </a:ext>
            </a:extLst>
          </p:cNvPr>
          <p:cNvSpPr txBox="1"/>
          <p:nvPr/>
        </p:nvSpPr>
        <p:spPr>
          <a:xfrm>
            <a:off x="6095999" y="2291787"/>
            <a:ext cx="6096001" cy="2400657"/>
          </a:xfrm>
          <a:prstGeom prst="rect">
            <a:avLst/>
          </a:prstGeom>
          <a:noFill/>
        </p:spPr>
        <p:txBody>
          <a:bodyPr wrap="square" rtlCol="0">
            <a:spAutoFit/>
          </a:bodyPr>
          <a:lstStyle/>
          <a:p>
            <a:pPr marL="457200" indent="-457200" algn="l">
              <a:buFont typeface="Arial" panose="020B0604020202020204" pitchFamily="34" charset="0"/>
              <a:buChar char="•"/>
            </a:pPr>
            <a:r>
              <a:rPr lang="en-US" sz="3000" dirty="0"/>
              <a:t>Starts by fitting with all inputs</a:t>
            </a:r>
          </a:p>
          <a:p>
            <a:pPr marL="457200" indent="-457200" algn="l">
              <a:buFont typeface="Arial" panose="020B0604020202020204" pitchFamily="34" charset="0"/>
              <a:buChar char="•"/>
            </a:pPr>
            <a:r>
              <a:rPr lang="en-US" sz="3000" dirty="0"/>
              <a:t>Eliminate the least important input</a:t>
            </a:r>
            <a:br>
              <a:rPr lang="en-US" sz="3000" dirty="0"/>
            </a:br>
            <a:r>
              <a:rPr lang="en-US" sz="3000" dirty="0"/>
              <a:t>(e.g., based on its weight)</a:t>
            </a:r>
          </a:p>
          <a:p>
            <a:pPr marL="457200" indent="-457200" algn="l">
              <a:buFont typeface="Arial" panose="020B0604020202020204" pitchFamily="34" charset="0"/>
              <a:buChar char="•"/>
            </a:pPr>
            <a:r>
              <a:rPr lang="en-US" sz="3000" dirty="0"/>
              <a:t>Fit with all inputs minus eliminated</a:t>
            </a:r>
          </a:p>
          <a:p>
            <a:pPr marL="457200" indent="-457200" algn="l">
              <a:buFont typeface="Arial" panose="020B0604020202020204" pitchFamily="34" charset="0"/>
              <a:buChar char="•"/>
            </a:pPr>
            <a:r>
              <a:rPr lang="en-US" sz="3000" dirty="0"/>
              <a:t>Repeat</a:t>
            </a:r>
          </a:p>
        </p:txBody>
      </p:sp>
      <p:sp>
        <p:nvSpPr>
          <p:cNvPr id="11" name="TextBox 10">
            <a:extLst>
              <a:ext uri="{FF2B5EF4-FFF2-40B4-BE49-F238E27FC236}">
                <a16:creationId xmlns:a16="http://schemas.microsoft.com/office/drawing/2014/main" id="{C6D63C19-2961-49D0-937E-855C5641111E}"/>
              </a:ext>
            </a:extLst>
          </p:cNvPr>
          <p:cNvSpPr txBox="1"/>
          <p:nvPr/>
        </p:nvSpPr>
        <p:spPr>
          <a:xfrm>
            <a:off x="6095999" y="5394248"/>
            <a:ext cx="6096001" cy="1477328"/>
          </a:xfrm>
          <a:prstGeom prst="rect">
            <a:avLst/>
          </a:prstGeom>
          <a:noFill/>
        </p:spPr>
        <p:txBody>
          <a:bodyPr wrap="square" rtlCol="0">
            <a:spAutoFit/>
          </a:bodyPr>
          <a:lstStyle/>
          <a:p>
            <a:pPr algn="l"/>
            <a:r>
              <a:rPr lang="en-US" sz="3000" dirty="0"/>
              <a:t>In both cases, this can be done using</a:t>
            </a:r>
          </a:p>
          <a:p>
            <a:pPr algn="l"/>
            <a:r>
              <a:rPr lang="en-US" sz="3000" b="1" dirty="0"/>
              <a:t>Sequential Feature Selector</a:t>
            </a:r>
            <a:br>
              <a:rPr lang="en-US" sz="3000" dirty="0"/>
            </a:br>
            <a:r>
              <a:rPr lang="en-US" sz="3000" dirty="0"/>
              <a:t>in scikit-learn</a:t>
            </a:r>
          </a:p>
        </p:txBody>
      </p:sp>
    </p:spTree>
    <p:extLst>
      <p:ext uri="{BB962C8B-B14F-4D97-AF65-F5344CB8AC3E}">
        <p14:creationId xmlns:p14="http://schemas.microsoft.com/office/powerpoint/2010/main" val="4163698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EC716-975B-4BF1-ACB0-DC1229DEADB2}"/>
              </a:ext>
            </a:extLst>
          </p:cNvPr>
          <p:cNvSpPr>
            <a:spLocks noGrp="1"/>
          </p:cNvSpPr>
          <p:nvPr>
            <p:ph type="title"/>
          </p:nvPr>
        </p:nvSpPr>
        <p:spPr>
          <a:xfrm>
            <a:off x="-2" y="1042633"/>
            <a:ext cx="12192000" cy="1156558"/>
          </a:xfrm>
        </p:spPr>
        <p:txBody>
          <a:bodyPr/>
          <a:lstStyle/>
          <a:p>
            <a:r>
              <a:rPr lang="en-US" dirty="0"/>
              <a:t>Alternative methods to select inputs/predictors</a:t>
            </a:r>
          </a:p>
        </p:txBody>
      </p:sp>
      <p:sp>
        <p:nvSpPr>
          <p:cNvPr id="3" name="Slide Number Placeholder 2">
            <a:extLst>
              <a:ext uri="{FF2B5EF4-FFF2-40B4-BE49-F238E27FC236}">
                <a16:creationId xmlns:a16="http://schemas.microsoft.com/office/drawing/2014/main" id="{9FD3E50C-605F-4401-8F11-2F0F92A90490}"/>
              </a:ext>
            </a:extLst>
          </p:cNvPr>
          <p:cNvSpPr>
            <a:spLocks noGrp="1"/>
          </p:cNvSpPr>
          <p:nvPr>
            <p:ph type="sldNum" sz="quarter" idx="12"/>
          </p:nvPr>
        </p:nvSpPr>
        <p:spPr/>
        <p:txBody>
          <a:bodyPr/>
          <a:lstStyle/>
          <a:p>
            <a:fld id="{A5686A01-FA10-4E06-92C7-92734750F4C6}" type="slidenum">
              <a:rPr lang="en-US" smtClean="0"/>
              <a:t>41</a:t>
            </a:fld>
            <a:endParaRPr lang="en-US"/>
          </a:p>
        </p:txBody>
      </p:sp>
      <p:sp>
        <p:nvSpPr>
          <p:cNvPr id="4" name="TextBox 3">
            <a:extLst>
              <a:ext uri="{FF2B5EF4-FFF2-40B4-BE49-F238E27FC236}">
                <a16:creationId xmlns:a16="http://schemas.microsoft.com/office/drawing/2014/main" id="{950F3A31-47CF-47E2-94BA-7B36F9FB88EB}"/>
              </a:ext>
            </a:extLst>
          </p:cNvPr>
          <p:cNvSpPr txBox="1"/>
          <p:nvPr/>
        </p:nvSpPr>
        <p:spPr>
          <a:xfrm>
            <a:off x="0" y="2199191"/>
            <a:ext cx="12192000" cy="1015663"/>
          </a:xfrm>
          <a:prstGeom prst="rect">
            <a:avLst/>
          </a:prstGeom>
          <a:noFill/>
        </p:spPr>
        <p:txBody>
          <a:bodyPr wrap="square" rtlCol="0">
            <a:spAutoFit/>
          </a:bodyPr>
          <a:lstStyle/>
          <a:p>
            <a:pPr marL="457200" indent="-457200" algn="l">
              <a:buFont typeface="Arial" panose="020B0604020202020204" pitchFamily="34" charset="0"/>
              <a:buChar char="•"/>
            </a:pPr>
            <a:r>
              <a:rPr lang="en-US" sz="3000" b="1" dirty="0"/>
              <a:t>Domain knowledge:</a:t>
            </a:r>
            <a:r>
              <a:rPr lang="en-US" sz="3000" dirty="0"/>
              <a:t> You may already know which inputs are most informative, and which inputs are redundant.</a:t>
            </a:r>
          </a:p>
        </p:txBody>
      </p:sp>
      <p:sp>
        <p:nvSpPr>
          <p:cNvPr id="8" name="TextBox 7">
            <a:extLst>
              <a:ext uri="{FF2B5EF4-FFF2-40B4-BE49-F238E27FC236}">
                <a16:creationId xmlns:a16="http://schemas.microsoft.com/office/drawing/2014/main" id="{D47CE9CA-ED56-47C0-ABE6-852F7691F2AC}"/>
              </a:ext>
            </a:extLst>
          </p:cNvPr>
          <p:cNvSpPr txBox="1"/>
          <p:nvPr/>
        </p:nvSpPr>
        <p:spPr>
          <a:xfrm>
            <a:off x="-2" y="3995678"/>
            <a:ext cx="6163518" cy="2862322"/>
          </a:xfrm>
          <a:prstGeom prst="rect">
            <a:avLst/>
          </a:prstGeom>
          <a:noFill/>
        </p:spPr>
        <p:txBody>
          <a:bodyPr wrap="square">
            <a:spAutoFit/>
          </a:bodyPr>
          <a:lstStyle/>
          <a:p>
            <a:pPr algn="ctr"/>
            <a:r>
              <a:rPr lang="en-US" dirty="0"/>
              <a:t>As an example, for the case of land-use regression (which aims to predict the concentration of certain pollutants, like NOx), it is known or expected that variables such as emission by factories (if exist in the study area), traffic data, vegetation, population, and meteorological variables such as wind speed, precipitation, and temperature have an impact on the concentration of the pollutant under study. However, as an example, the price of a certain stock, or the number of patients in hospitals (which may be impacted by the pollutant concentration, and will not affect it) do not seem to be suitable predictors.</a:t>
            </a:r>
          </a:p>
        </p:txBody>
      </p:sp>
      <p:sp>
        <p:nvSpPr>
          <p:cNvPr id="12" name="TextBox 11">
            <a:extLst>
              <a:ext uri="{FF2B5EF4-FFF2-40B4-BE49-F238E27FC236}">
                <a16:creationId xmlns:a16="http://schemas.microsoft.com/office/drawing/2014/main" id="{45FBC6CE-429B-4D7C-9F54-714FBE3E1157}"/>
              </a:ext>
            </a:extLst>
          </p:cNvPr>
          <p:cNvSpPr txBox="1"/>
          <p:nvPr/>
        </p:nvSpPr>
        <p:spPr>
          <a:xfrm>
            <a:off x="7332564" y="4411176"/>
            <a:ext cx="4859434" cy="2031325"/>
          </a:xfrm>
          <a:prstGeom prst="rect">
            <a:avLst/>
          </a:prstGeom>
          <a:noFill/>
        </p:spPr>
        <p:txBody>
          <a:bodyPr wrap="square">
            <a:spAutoFit/>
          </a:bodyPr>
          <a:lstStyle/>
          <a:p>
            <a:pPr algn="ctr"/>
            <a:r>
              <a:rPr lang="en-US" dirty="0"/>
              <a:t>Direct knowledge of the phenomenon one wishes to study through these methods enables one to choose the most consistent predictors, based on which factors most influence the phenomenon. For example, environmental predictors such as altitude, exposure, temperature, etc. can be used for permafrost detection.</a:t>
            </a:r>
          </a:p>
        </p:txBody>
      </p:sp>
    </p:spTree>
    <p:extLst>
      <p:ext uri="{BB962C8B-B14F-4D97-AF65-F5344CB8AC3E}">
        <p14:creationId xmlns:p14="http://schemas.microsoft.com/office/powerpoint/2010/main" val="20708928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EC716-975B-4BF1-ACB0-DC1229DEADB2}"/>
              </a:ext>
            </a:extLst>
          </p:cNvPr>
          <p:cNvSpPr>
            <a:spLocks noGrp="1"/>
          </p:cNvSpPr>
          <p:nvPr>
            <p:ph type="title"/>
          </p:nvPr>
        </p:nvSpPr>
        <p:spPr>
          <a:xfrm>
            <a:off x="-2" y="1042633"/>
            <a:ext cx="12192000" cy="1156558"/>
          </a:xfrm>
        </p:spPr>
        <p:txBody>
          <a:bodyPr/>
          <a:lstStyle/>
          <a:p>
            <a:r>
              <a:rPr lang="en-US" dirty="0"/>
              <a:t>Alternative methods to select inputs/predictors</a:t>
            </a:r>
          </a:p>
        </p:txBody>
      </p:sp>
      <p:sp>
        <p:nvSpPr>
          <p:cNvPr id="3" name="Slide Number Placeholder 2">
            <a:extLst>
              <a:ext uri="{FF2B5EF4-FFF2-40B4-BE49-F238E27FC236}">
                <a16:creationId xmlns:a16="http://schemas.microsoft.com/office/drawing/2014/main" id="{9FD3E50C-605F-4401-8F11-2F0F92A90490}"/>
              </a:ext>
            </a:extLst>
          </p:cNvPr>
          <p:cNvSpPr>
            <a:spLocks noGrp="1"/>
          </p:cNvSpPr>
          <p:nvPr>
            <p:ph type="sldNum" sz="quarter" idx="12"/>
          </p:nvPr>
        </p:nvSpPr>
        <p:spPr/>
        <p:txBody>
          <a:bodyPr/>
          <a:lstStyle/>
          <a:p>
            <a:fld id="{A5686A01-FA10-4E06-92C7-92734750F4C6}" type="slidenum">
              <a:rPr lang="en-US" smtClean="0"/>
              <a:t>42</a:t>
            </a:fld>
            <a:endParaRPr lang="en-US"/>
          </a:p>
        </p:txBody>
      </p:sp>
      <p:sp>
        <p:nvSpPr>
          <p:cNvPr id="4" name="TextBox 3">
            <a:extLst>
              <a:ext uri="{FF2B5EF4-FFF2-40B4-BE49-F238E27FC236}">
                <a16:creationId xmlns:a16="http://schemas.microsoft.com/office/drawing/2014/main" id="{950F3A31-47CF-47E2-94BA-7B36F9FB88EB}"/>
              </a:ext>
            </a:extLst>
          </p:cNvPr>
          <p:cNvSpPr txBox="1"/>
          <p:nvPr/>
        </p:nvSpPr>
        <p:spPr>
          <a:xfrm>
            <a:off x="0" y="2199191"/>
            <a:ext cx="12192000" cy="1477328"/>
          </a:xfrm>
          <a:prstGeom prst="rect">
            <a:avLst/>
          </a:prstGeom>
          <a:noFill/>
        </p:spPr>
        <p:txBody>
          <a:bodyPr wrap="square" rtlCol="0">
            <a:spAutoFit/>
          </a:bodyPr>
          <a:lstStyle/>
          <a:p>
            <a:pPr marL="457200" indent="-457200" algn="l">
              <a:buFont typeface="Arial" panose="020B0604020202020204" pitchFamily="34" charset="0"/>
              <a:buChar char="•"/>
            </a:pPr>
            <a:r>
              <a:rPr lang="en-US" sz="3000" b="1" dirty="0"/>
              <a:t>Domain knowledge:</a:t>
            </a:r>
            <a:r>
              <a:rPr lang="en-US" sz="3000" dirty="0"/>
              <a:t> You may already know which inputs are most informative, and which inputs are redundant.</a:t>
            </a:r>
          </a:p>
          <a:p>
            <a:pPr marL="457200" indent="-457200" algn="l">
              <a:buFont typeface="Arial" panose="020B0604020202020204" pitchFamily="34" charset="0"/>
              <a:buChar char="•"/>
            </a:pPr>
            <a:r>
              <a:rPr lang="en-US" sz="3000" dirty="0"/>
              <a:t>Regularization: Elastic Net</a:t>
            </a:r>
          </a:p>
        </p:txBody>
      </p:sp>
      <p:pic>
        <p:nvPicPr>
          <p:cNvPr id="9" name="Picture 8">
            <a:extLst>
              <a:ext uri="{FF2B5EF4-FFF2-40B4-BE49-F238E27FC236}">
                <a16:creationId xmlns:a16="http://schemas.microsoft.com/office/drawing/2014/main" id="{2C0CE0FB-3361-444D-BA5A-F5005F5E5301}"/>
              </a:ext>
            </a:extLst>
          </p:cNvPr>
          <p:cNvPicPr>
            <a:picLocks noChangeAspect="1"/>
          </p:cNvPicPr>
          <p:nvPr/>
        </p:nvPicPr>
        <p:blipFill rotWithShape="1">
          <a:blip r:embed="rId2"/>
          <a:srcRect b="18379"/>
          <a:stretch/>
        </p:blipFill>
        <p:spPr>
          <a:xfrm>
            <a:off x="526647" y="3676519"/>
            <a:ext cx="8268180" cy="1694134"/>
          </a:xfrm>
          <a:prstGeom prst="rect">
            <a:avLst/>
          </a:prstGeom>
        </p:spPr>
      </p:pic>
      <p:cxnSp>
        <p:nvCxnSpPr>
          <p:cNvPr id="11" name="Straight Arrow Connector 10">
            <a:extLst>
              <a:ext uri="{FF2B5EF4-FFF2-40B4-BE49-F238E27FC236}">
                <a16:creationId xmlns:a16="http://schemas.microsoft.com/office/drawing/2014/main" id="{C928DB65-A049-4421-8FDA-5D8F9B9A8489}"/>
              </a:ext>
            </a:extLst>
          </p:cNvPr>
          <p:cNvCxnSpPr>
            <a:cxnSpLocks/>
          </p:cNvCxnSpPr>
          <p:nvPr/>
        </p:nvCxnSpPr>
        <p:spPr>
          <a:xfrm flipV="1">
            <a:off x="1736202" y="5421827"/>
            <a:ext cx="555585" cy="56228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3D402AF-7F3C-4563-B4C1-E7C6ADA11A3E}"/>
              </a:ext>
            </a:extLst>
          </p:cNvPr>
          <p:cNvSpPr txBox="1"/>
          <p:nvPr/>
        </p:nvSpPr>
        <p:spPr>
          <a:xfrm>
            <a:off x="312516" y="5984111"/>
            <a:ext cx="2696901" cy="553998"/>
          </a:xfrm>
          <a:prstGeom prst="rect">
            <a:avLst/>
          </a:prstGeom>
          <a:noFill/>
        </p:spPr>
        <p:txBody>
          <a:bodyPr wrap="square" rtlCol="0">
            <a:spAutoFit/>
          </a:bodyPr>
          <a:lstStyle/>
          <a:p>
            <a:pPr algn="ctr"/>
            <a:r>
              <a:rPr lang="en-US" sz="3000" dirty="0"/>
              <a:t>Performance</a:t>
            </a:r>
          </a:p>
        </p:txBody>
      </p:sp>
      <p:sp>
        <p:nvSpPr>
          <p:cNvPr id="16" name="TextBox 15">
            <a:extLst>
              <a:ext uri="{FF2B5EF4-FFF2-40B4-BE49-F238E27FC236}">
                <a16:creationId xmlns:a16="http://schemas.microsoft.com/office/drawing/2014/main" id="{49F5268E-6911-4BE8-AAAB-8B6487245B25}"/>
              </a:ext>
            </a:extLst>
          </p:cNvPr>
          <p:cNvSpPr txBox="1"/>
          <p:nvPr/>
        </p:nvSpPr>
        <p:spPr>
          <a:xfrm>
            <a:off x="4423456" y="5866541"/>
            <a:ext cx="1782501" cy="1015663"/>
          </a:xfrm>
          <a:prstGeom prst="rect">
            <a:avLst/>
          </a:prstGeom>
          <a:noFill/>
        </p:spPr>
        <p:txBody>
          <a:bodyPr wrap="square" rtlCol="0">
            <a:spAutoFit/>
          </a:bodyPr>
          <a:lstStyle/>
          <a:p>
            <a:pPr algn="ctr"/>
            <a:r>
              <a:rPr lang="en-US" sz="3000" dirty="0"/>
              <a:t>L1 Norm</a:t>
            </a:r>
          </a:p>
          <a:p>
            <a:pPr algn="ctr"/>
            <a:r>
              <a:rPr lang="en-US" sz="3000" dirty="0"/>
              <a:t>(Lasso)</a:t>
            </a:r>
          </a:p>
        </p:txBody>
      </p:sp>
      <p:cxnSp>
        <p:nvCxnSpPr>
          <p:cNvPr id="17" name="Straight Arrow Connector 16">
            <a:extLst>
              <a:ext uri="{FF2B5EF4-FFF2-40B4-BE49-F238E27FC236}">
                <a16:creationId xmlns:a16="http://schemas.microsoft.com/office/drawing/2014/main" id="{9FB95AC2-9C63-40A4-B4C6-F5A722A903AB}"/>
              </a:ext>
            </a:extLst>
          </p:cNvPr>
          <p:cNvCxnSpPr>
            <a:cxnSpLocks/>
          </p:cNvCxnSpPr>
          <p:nvPr/>
        </p:nvCxnSpPr>
        <p:spPr>
          <a:xfrm flipV="1">
            <a:off x="5314707" y="5433402"/>
            <a:ext cx="1" cy="38196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16DCC99-9E68-4B54-A32E-8FD41AC1BEA5}"/>
              </a:ext>
            </a:extLst>
          </p:cNvPr>
          <p:cNvCxnSpPr>
            <a:cxnSpLocks/>
          </p:cNvCxnSpPr>
          <p:nvPr/>
        </p:nvCxnSpPr>
        <p:spPr>
          <a:xfrm flipV="1">
            <a:off x="8059836" y="5421827"/>
            <a:ext cx="1" cy="38196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6B4E525-B58E-43A9-B631-783D540DD180}"/>
              </a:ext>
            </a:extLst>
          </p:cNvPr>
          <p:cNvSpPr txBox="1"/>
          <p:nvPr/>
        </p:nvSpPr>
        <p:spPr>
          <a:xfrm>
            <a:off x="7226461" y="5854966"/>
            <a:ext cx="1782501" cy="1015663"/>
          </a:xfrm>
          <a:prstGeom prst="rect">
            <a:avLst/>
          </a:prstGeom>
          <a:noFill/>
        </p:spPr>
        <p:txBody>
          <a:bodyPr wrap="square" rtlCol="0">
            <a:spAutoFit/>
          </a:bodyPr>
          <a:lstStyle/>
          <a:p>
            <a:pPr algn="ctr"/>
            <a:r>
              <a:rPr lang="en-US" sz="3000" dirty="0"/>
              <a:t>L2 Norm</a:t>
            </a:r>
          </a:p>
          <a:p>
            <a:pPr algn="ctr"/>
            <a:r>
              <a:rPr lang="en-US" sz="3000" dirty="0"/>
              <a:t>(Ridge)</a:t>
            </a:r>
          </a:p>
        </p:txBody>
      </p:sp>
      <p:pic>
        <p:nvPicPr>
          <p:cNvPr id="23" name="Picture 22" descr="A yellow traffic sign&#10;&#10;Description automatically generated with low confidence">
            <a:extLst>
              <a:ext uri="{FF2B5EF4-FFF2-40B4-BE49-F238E27FC236}">
                <a16:creationId xmlns:a16="http://schemas.microsoft.com/office/drawing/2014/main" id="{B279FB21-95B5-4B4A-808D-74BFEB8A38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76386" y="3676518"/>
            <a:ext cx="960701" cy="960701"/>
          </a:xfrm>
          <a:prstGeom prst="rect">
            <a:avLst/>
          </a:prstGeom>
        </p:spPr>
      </p:pic>
      <p:sp>
        <p:nvSpPr>
          <p:cNvPr id="24" name="TextBox 23">
            <a:extLst>
              <a:ext uri="{FF2B5EF4-FFF2-40B4-BE49-F238E27FC236}">
                <a16:creationId xmlns:a16="http://schemas.microsoft.com/office/drawing/2014/main" id="{BB8C9DFE-1347-44D5-B41B-726E81795FFE}"/>
              </a:ext>
            </a:extLst>
          </p:cNvPr>
          <p:cNvSpPr txBox="1"/>
          <p:nvPr/>
        </p:nvSpPr>
        <p:spPr>
          <a:xfrm>
            <a:off x="9321474" y="4710896"/>
            <a:ext cx="2870526" cy="1938992"/>
          </a:xfrm>
          <a:prstGeom prst="rect">
            <a:avLst/>
          </a:prstGeom>
          <a:noFill/>
        </p:spPr>
        <p:txBody>
          <a:bodyPr wrap="square" rtlCol="0">
            <a:spAutoFit/>
          </a:bodyPr>
          <a:lstStyle/>
          <a:p>
            <a:pPr algn="ctr"/>
            <a:r>
              <a:rPr lang="en-US" sz="3000" dirty="0"/>
              <a:t>Scale the inputs </a:t>
            </a:r>
            <a:r>
              <a:rPr lang="en-US" sz="3000" b="1" dirty="0"/>
              <a:t>before</a:t>
            </a:r>
            <a:r>
              <a:rPr lang="en-US" sz="3000" dirty="0"/>
              <a:t> regularizing the coefficients!</a:t>
            </a:r>
          </a:p>
        </p:txBody>
      </p:sp>
    </p:spTree>
    <p:extLst>
      <p:ext uri="{BB962C8B-B14F-4D97-AF65-F5344CB8AC3E}">
        <p14:creationId xmlns:p14="http://schemas.microsoft.com/office/powerpoint/2010/main" val="1111715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D2D94-78CE-4980-8C5E-0C7A30F4C3C3}"/>
              </a:ext>
            </a:extLst>
          </p:cNvPr>
          <p:cNvSpPr>
            <a:spLocks noGrp="1"/>
          </p:cNvSpPr>
          <p:nvPr>
            <p:ph type="title"/>
          </p:nvPr>
        </p:nvSpPr>
        <p:spPr>
          <a:xfrm>
            <a:off x="-2" y="1042633"/>
            <a:ext cx="12192000" cy="1098684"/>
          </a:xfrm>
        </p:spPr>
        <p:txBody>
          <a:bodyPr>
            <a:normAutofit/>
          </a:bodyPr>
          <a:lstStyle/>
          <a:p>
            <a:r>
              <a:rPr lang="en-US" sz="4000" dirty="0"/>
              <a:t>Adding uncertainty to your model: Confidence Intervals</a:t>
            </a:r>
          </a:p>
        </p:txBody>
      </p:sp>
      <p:sp>
        <p:nvSpPr>
          <p:cNvPr id="3" name="Slide Number Placeholder 2">
            <a:extLst>
              <a:ext uri="{FF2B5EF4-FFF2-40B4-BE49-F238E27FC236}">
                <a16:creationId xmlns:a16="http://schemas.microsoft.com/office/drawing/2014/main" id="{26FE0C7E-984A-43F9-801D-7EE60955A291}"/>
              </a:ext>
            </a:extLst>
          </p:cNvPr>
          <p:cNvSpPr>
            <a:spLocks noGrp="1"/>
          </p:cNvSpPr>
          <p:nvPr>
            <p:ph type="sldNum" sz="quarter" idx="12"/>
          </p:nvPr>
        </p:nvSpPr>
        <p:spPr/>
        <p:txBody>
          <a:bodyPr/>
          <a:lstStyle/>
          <a:p>
            <a:fld id="{A5686A01-FA10-4E06-92C7-92734750F4C6}" type="slidenum">
              <a:rPr lang="en-US" smtClean="0"/>
              <a:t>43</a:t>
            </a:fld>
            <a:endParaRPr lang="en-US"/>
          </a:p>
        </p:txBody>
      </p:sp>
      <p:sp>
        <p:nvSpPr>
          <p:cNvPr id="4" name="TextBox 3">
            <a:extLst>
              <a:ext uri="{FF2B5EF4-FFF2-40B4-BE49-F238E27FC236}">
                <a16:creationId xmlns:a16="http://schemas.microsoft.com/office/drawing/2014/main" id="{79335E97-8AE3-41F9-B2CA-EE4A67346C99}"/>
              </a:ext>
            </a:extLst>
          </p:cNvPr>
          <p:cNvSpPr txBox="1"/>
          <p:nvPr/>
        </p:nvSpPr>
        <p:spPr>
          <a:xfrm>
            <a:off x="0" y="2384385"/>
            <a:ext cx="12192000" cy="553998"/>
          </a:xfrm>
          <a:prstGeom prst="rect">
            <a:avLst/>
          </a:prstGeom>
          <a:noFill/>
        </p:spPr>
        <p:txBody>
          <a:bodyPr wrap="square" rtlCol="0">
            <a:spAutoFit/>
          </a:bodyPr>
          <a:lstStyle/>
          <a:p>
            <a:pPr algn="l"/>
            <a:r>
              <a:rPr lang="en-US" sz="3000" dirty="0" err="1"/>
              <a:t>Glacier_Mass_Loss</a:t>
            </a:r>
            <a:r>
              <a:rPr lang="en-US" sz="3000" dirty="0"/>
              <a:t> = 0,258315864 x (</a:t>
            </a:r>
            <a:r>
              <a:rPr lang="en-US" sz="3000" dirty="0" err="1"/>
              <a:t>Scaled_Insolation</a:t>
            </a:r>
            <a:r>
              <a:rPr lang="en-US" sz="3000" dirty="0"/>
              <a:t>)</a:t>
            </a:r>
          </a:p>
        </p:txBody>
      </p:sp>
      <p:pic>
        <p:nvPicPr>
          <p:cNvPr id="6" name="Picture 5" descr="A yellow smiley face&#10;&#10;Description automatically generated with low confidence">
            <a:extLst>
              <a:ext uri="{FF2B5EF4-FFF2-40B4-BE49-F238E27FC236}">
                <a16:creationId xmlns:a16="http://schemas.microsoft.com/office/drawing/2014/main" id="{7811FB2D-DCDE-4E15-B1BD-377D35C4AF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77376" y="2022913"/>
            <a:ext cx="1404501" cy="1404501"/>
          </a:xfrm>
          <a:prstGeom prst="rect">
            <a:avLst/>
          </a:prstGeom>
        </p:spPr>
      </p:pic>
      <p:pic>
        <p:nvPicPr>
          <p:cNvPr id="8" name="Picture 7">
            <a:extLst>
              <a:ext uri="{FF2B5EF4-FFF2-40B4-BE49-F238E27FC236}">
                <a16:creationId xmlns:a16="http://schemas.microsoft.com/office/drawing/2014/main" id="{9823EAB8-95EE-4EF0-B054-38A7147D6C04}"/>
              </a:ext>
            </a:extLst>
          </p:cNvPr>
          <p:cNvPicPr>
            <a:picLocks noChangeAspect="1"/>
          </p:cNvPicPr>
          <p:nvPr/>
        </p:nvPicPr>
        <p:blipFill>
          <a:blip r:embed="rId3"/>
          <a:stretch>
            <a:fillRect/>
          </a:stretch>
        </p:blipFill>
        <p:spPr>
          <a:xfrm>
            <a:off x="1" y="3181451"/>
            <a:ext cx="3922198" cy="3676549"/>
          </a:xfrm>
          <a:prstGeom prst="rect">
            <a:avLst/>
          </a:prstGeom>
        </p:spPr>
      </p:pic>
      <p:pic>
        <p:nvPicPr>
          <p:cNvPr id="10" name="Picture 9">
            <a:extLst>
              <a:ext uri="{FF2B5EF4-FFF2-40B4-BE49-F238E27FC236}">
                <a16:creationId xmlns:a16="http://schemas.microsoft.com/office/drawing/2014/main" id="{E01E31F7-4E07-4178-9180-CDA3E324382A}"/>
              </a:ext>
            </a:extLst>
          </p:cNvPr>
          <p:cNvPicPr>
            <a:picLocks noChangeAspect="1"/>
          </p:cNvPicPr>
          <p:nvPr/>
        </p:nvPicPr>
        <p:blipFill>
          <a:blip r:embed="rId4"/>
          <a:stretch>
            <a:fillRect/>
          </a:stretch>
        </p:blipFill>
        <p:spPr>
          <a:xfrm>
            <a:off x="3922199" y="5957096"/>
            <a:ext cx="8269801" cy="900924"/>
          </a:xfrm>
          <a:prstGeom prst="rect">
            <a:avLst/>
          </a:prstGeom>
        </p:spPr>
      </p:pic>
      <p:pic>
        <p:nvPicPr>
          <p:cNvPr id="12" name="Picture 11">
            <a:extLst>
              <a:ext uri="{FF2B5EF4-FFF2-40B4-BE49-F238E27FC236}">
                <a16:creationId xmlns:a16="http://schemas.microsoft.com/office/drawing/2014/main" id="{0AF072A3-83DD-4F55-A6A9-381B46591F99}"/>
              </a:ext>
            </a:extLst>
          </p:cNvPr>
          <p:cNvPicPr>
            <a:picLocks noChangeAspect="1"/>
          </p:cNvPicPr>
          <p:nvPr/>
        </p:nvPicPr>
        <p:blipFill>
          <a:blip r:embed="rId5"/>
          <a:stretch>
            <a:fillRect/>
          </a:stretch>
        </p:blipFill>
        <p:spPr>
          <a:xfrm>
            <a:off x="3922199" y="4480721"/>
            <a:ext cx="2895600" cy="1476375"/>
          </a:xfrm>
          <a:prstGeom prst="rect">
            <a:avLst/>
          </a:prstGeom>
        </p:spPr>
      </p:pic>
      <p:sp>
        <p:nvSpPr>
          <p:cNvPr id="13" name="TextBox 12">
            <a:extLst>
              <a:ext uri="{FF2B5EF4-FFF2-40B4-BE49-F238E27FC236}">
                <a16:creationId xmlns:a16="http://schemas.microsoft.com/office/drawing/2014/main" id="{ADDB460C-F53D-4657-AB14-C1B94F82D831}"/>
              </a:ext>
            </a:extLst>
          </p:cNvPr>
          <p:cNvSpPr txBox="1"/>
          <p:nvPr/>
        </p:nvSpPr>
        <p:spPr>
          <a:xfrm>
            <a:off x="7095281" y="4002330"/>
            <a:ext cx="5096719" cy="1938992"/>
          </a:xfrm>
          <a:prstGeom prst="rect">
            <a:avLst/>
          </a:prstGeom>
          <a:noFill/>
        </p:spPr>
        <p:txBody>
          <a:bodyPr wrap="square" rtlCol="0">
            <a:spAutoFit/>
          </a:bodyPr>
          <a:lstStyle/>
          <a:p>
            <a:pPr algn="ctr"/>
            <a:r>
              <a:rPr lang="en-US" sz="3000" dirty="0"/>
              <a:t>In practice, confidence intervals are implemented as part of the classification/regression model</a:t>
            </a:r>
          </a:p>
          <a:p>
            <a:pPr algn="ctr"/>
            <a:r>
              <a:rPr lang="en-US" sz="3000" dirty="0"/>
              <a:t>class you will be using</a:t>
            </a:r>
          </a:p>
        </p:txBody>
      </p:sp>
    </p:spTree>
    <p:extLst>
      <p:ext uri="{BB962C8B-B14F-4D97-AF65-F5344CB8AC3E}">
        <p14:creationId xmlns:p14="http://schemas.microsoft.com/office/powerpoint/2010/main" val="2275101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 grpId="0"/>
    </p:bldLst>
  </p:timing>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312,7109"/>
  <p:tag name="ORIGINALWIDTH" val="2099,738"/>
  <p:tag name="LATEXADDIN" val="\documentclass{article}&#10;\usepackage{amsmath}&#10;\usepackage{amsbsy}&#10;\usepackage{babel}&#10;\usepackage{xcolor}&#10;\pagestyle{empty}&#10;\begin{document}&#10;&#10;$&#10;\textcolor{white}{&#10;\exists\varphi:\ \underbrace{K\left(\boldsymbol{a},\boldsymbol{b}\right)}_{\mathrm{Kernel}}=\underbrace{\left\langle \varphi\left(\boldsymbol{a}\right)\cdot\varphi\left(\boldsymbol{b}\right)\right\rangle }_{\mathrm{Scalar\ product\ feature\ map}}&#10;}&#10;$&#10;&#10;\end{document}"/>
  <p:tag name="IGUANATEXSIZE" val="20"/>
  <p:tag name="IGUANATEXCURSOR" val="409"/>
  <p:tag name="TRANSPARENCY" val="True"/>
  <p:tag name="FILENAME" val=""/>
  <p:tag name="LATEXENGINEID" val="0"/>
  <p:tag name="TEMPFOLDER" val="c:\temp\"/>
  <p:tag name="LATEXFORMHEIGHT" val="312"/>
  <p:tag name="LATEXFORMWIDTH" val="384"/>
  <p:tag name="LATEXFORMWRAP" val="True"/>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123,7346"/>
  <p:tag name="ORIGINALWIDTH" val="1065,617"/>
  <p:tag name="LATEXADDIN" val="\documentclass{article}&#10;\usepackage{amsmath,xcolor}&#10;\pagestyle{empty}&#10;\begin{document}&#10;&#10;$\textcolor{white}{&#10;N_{instances} \sim 2^{N_{nodes}} &#10;}&#10;$&#10;&#10;&#10;&#10;\end{document}"/>
  <p:tag name="IGUANATEXSIZE" val="30"/>
  <p:tag name="IGUANATEXCURSOR" val="134"/>
  <p:tag name="TRANSPARENCY" val="True"/>
  <p:tag name="FILENAME" val=""/>
  <p:tag name="LATEXENGINEID" val="0"/>
  <p:tag name="TEMPFOLDER" val="c:\temp\"/>
  <p:tag name="LATEXFORMHEIGHT" val="312"/>
  <p:tag name="LATEXFORMWIDTH" val="384"/>
  <p:tag name="LATEXFORMWRAP" val="True"/>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388,077"/>
  <p:tag name="LATEXADDIN" val="\documentclass{article}&#10;\usepackage{amsmath,xcolor}&#10;\pagestyle{empty}&#10;\begin{document}&#10;&#10;$\textcolor{white}{&#10;N_{nodes} \sim \log_{2} \left(N_{instances}\right) &#10;}&#10;$&#10;&#10;&#10;&#10;\end{document}"/>
  <p:tag name="IGUANATEXSIZE" val="30"/>
  <p:tag name="IGUANATEXCURSOR" val="122"/>
  <p:tag name="TRANSPARENCY" val="True"/>
  <p:tag name="FILENAME" val=""/>
  <p:tag name="LATEXENGINEID" val="0"/>
  <p:tag name="TEMPFOLDER" val="c:\temp\"/>
  <p:tag name="LATEXFORMHEIGHT" val="312"/>
  <p:tag name="LATEXFORMWIDTH" val="384"/>
  <p:tag name="LATEXFORMWRAP" val="True"/>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1200"/>
  <p:tag name="ORIGINALHEIGHT" val="129,7338"/>
  <p:tag name="ORIGINALWIDTH" val="1550,056"/>
  <p:tag name="LATEXADDIN" val="\documentclass{article}&#10;\usepackage{amsmath,xcolor}&#10;\pagestyle{empty}&#10;\begin{document}&#10;&#10;$\textcolor{white}{&#10;\tau_{prediction} \sim \log_{2} \left(N_{instances}\right) &#10;}&#10;$&#10;&#10;&#10;&#10;\end{document}"/>
  <p:tag name="IGUANATEXSIZE" val="30"/>
  <p:tag name="IGUANATEXCURSOR" val="130"/>
  <p:tag name="TRANSPARENCY" val="True"/>
  <p:tag name="FILENAME" val=""/>
  <p:tag name="LATEXENGINEID" val="0"/>
  <p:tag name="TEMPFOLDER" val="c:\temp\"/>
  <p:tag name="LATEXFORMHEIGHT" val="312"/>
  <p:tag name="LATEXFORMWIDTH" val="384"/>
  <p:tag name="LATEXFORMWRAP" val="True"/>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1200"/>
  <p:tag name="ORIGINALHEIGHT" val="130,4837"/>
  <p:tag name="ORIGINALWIDTH" val="2824,897"/>
  <p:tag name="LATEXADDIN" val="\documentclass{article}&#10;\usepackage{amsmath,xcolor}&#10;\pagestyle{empty}&#10;\begin{document}&#10;&#10;$\textcolor{white}{&#10;\tau_{training} \sim N_{features} \times N_{instances} \times \log_{2} \left(N_{instances}\right) &#10;}&#10;$&#10;&#10;&#10;&#10;\end{document}"/>
  <p:tag name="IGUANATEXSIZE" val="30"/>
  <p:tag name="IGUANATEXCURSOR" val="170"/>
  <p:tag name="TRANSPARENCY" val="True"/>
  <p:tag name="FILENAME" val=""/>
  <p:tag name="LATEXENGINEID" val="0"/>
  <p:tag name="TEMPFOLDER" val="c:\temp\"/>
  <p:tag name="LATEXFORMHEIGHT" val="312"/>
  <p:tag name="LATEXFORMWIDTH" val="384"/>
  <p:tag name="LATEXFORMWRAP" val="True"/>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OUTPUTDPI" val="1200"/>
  <p:tag name="ORIGINALHEIGHT" val="130,4837"/>
  <p:tag name="ORIGINALWIDTH" val="2824,897"/>
  <p:tag name="LATEXADDIN" val="\documentclass{article}&#10;\usepackage{amsmath,xcolor}&#10;\pagestyle{empty}&#10;\begin{document}&#10;&#10;$\textcolor{white}{&#10;\tau_{training} \sim N_{features} \times N_{instances} \times \log_{2} \left(N_{instances}\right) &#10;}&#10;$&#10;&#10;&#10;&#10;\end{document}"/>
  <p:tag name="IGUANATEXSIZE" val="30"/>
  <p:tag name="IGUANATEXCURSOR" val="170"/>
  <p:tag name="TRANSPARENCY" val="True"/>
  <p:tag name="FILENAME" val=""/>
  <p:tag name="LATEXENGINEID" val="0"/>
  <p:tag name="TEMPFOLDER" val="c:\temp\"/>
  <p:tag name="LATEXFORMHEIGHT" val="312"/>
  <p:tag name="LATEXFORMWIDTH" val="384"/>
  <p:tag name="LATEXFORMWRAP" val="True"/>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1200"/>
  <p:tag name="ORIGINALHEIGHT" val="231,721"/>
  <p:tag name="ORIGINALWIDTH" val="3730,034"/>
  <p:tag name="LATEXADDIN" val="\documentclass{article}&#10;\usepackage{amsmath,xcolor}&#10;\pagestyle{empty}&#10;\begin{document}&#10;$&#10;\textcolor{white}{&#10;\frac{\tau_{\mathrm{training}}\left(10M\right)}{\tau_{\mathrm{training}}\left(1M\right)}=\frac{N_{\mathrm{features}}\times10M\times\log_{2}\left(10M\right)}{N_{\mathrm{features}}\times1M\times\log_{2}\left(1M\right)}=\frac{10^{7}\times\log_{10}\left(10^{7}\right)}{10^{6}\times\log_{10}\left(10^{6}\right)}=10\times\frac{7}{6}\approx12&#10;}&#10;$&#10;\end{document}"/>
  <p:tag name="IGUANATEXSIZE" val="20"/>
  <p:tag name="IGUANATEXCURSOR" val="443"/>
  <p:tag name="TRANSPARENCY" val="True"/>
  <p:tag name="FILENAME" val=""/>
  <p:tag name="LATEXENGINEID" val="0"/>
  <p:tag name="TEMPFOLDER" val="c:\temp\"/>
  <p:tag name="LATEXFORMHEIGHT" val="312"/>
  <p:tag name="LATEXFORMWIDTH" val="384"/>
  <p:tag name="LATEXFORMWRAP" val="True"/>
  <p:tag name="BITMAPVECTOR" val="0"/>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MU Sans Serif Theme">
      <a:majorFont>
        <a:latin typeface="CMU Sans Serif"/>
        <a:ea typeface=""/>
        <a:cs typeface=""/>
      </a:majorFont>
      <a:minorFont>
        <a:latin typeface="CMU Sans Serif"/>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z="3000" dirty="0" smtClean="0"/>
        </a:defPPr>
      </a:lstStyle>
    </a:txDef>
  </a:objectDefaults>
  <a:extraClrSchemeLst/>
  <a:extLst>
    <a:ext uri="{05A4C25C-085E-4340-85A3-A5531E510DB2}">
      <thm15:themeFamily xmlns:thm15="http://schemas.microsoft.com/office/thememl/2012/main" name="Presentation3" id="{D708DCDC-42F7-48A2-975C-30318494E14E}" vid="{5A564382-0E23-4DF5-80A1-3DF436ECACC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239</TotalTime>
  <Words>2801</Words>
  <Application>Microsoft Office PowerPoint</Application>
  <PresentationFormat>Widescreen</PresentationFormat>
  <Paragraphs>325</Paragraphs>
  <Slides>43</Slides>
  <Notes>18</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43</vt:i4>
      </vt:variant>
    </vt:vector>
  </HeadingPairs>
  <TitlesOfParts>
    <vt:vector size="52" baseType="lpstr">
      <vt:lpstr>Arial</vt:lpstr>
      <vt:lpstr>Calibri</vt:lpstr>
      <vt:lpstr>CMU Sans Serif</vt:lpstr>
      <vt:lpstr>MinionPro-It</vt:lpstr>
      <vt:lpstr>MinionPro-Regular</vt:lpstr>
      <vt:lpstr>Times New Roman</vt:lpstr>
      <vt:lpstr>UbuntuMono-Regular</vt:lpstr>
      <vt:lpstr>Wingdings</vt:lpstr>
      <vt:lpstr>Office Theme</vt:lpstr>
      <vt:lpstr>Min 15-30:  Moodle Quiz</vt:lpstr>
      <vt:lpstr>Min 30-60: Bias-Correcting Meteorological Forecasts with simple ML</vt:lpstr>
      <vt:lpstr>Min 60-75: Break</vt:lpstr>
      <vt:lpstr>Welcome back!</vt:lpstr>
      <vt:lpstr>Min 75-85: Support Vector Machines for Classification on Small Datasets</vt:lpstr>
      <vt:lpstr>What is a Support Vector Machine (SVM)?</vt:lpstr>
      <vt:lpstr>Can you elaborate on kernels?</vt:lpstr>
      <vt:lpstr>SVMs sorted by complexity/representation power</vt:lpstr>
      <vt:lpstr>Which complexity to choose for env. applications?</vt:lpstr>
      <vt:lpstr>SVM Regression: Are wide margins a good thing of not?</vt:lpstr>
      <vt:lpstr>Min 85-95: Decision Trees for Interpretable Classification/Regression </vt:lpstr>
      <vt:lpstr>The advantages of a Transparent Model</vt:lpstr>
      <vt:lpstr>When do we need transparent models in env. sci.?</vt:lpstr>
      <vt:lpstr>How can we train or “grow” a decision tree?</vt:lpstr>
      <vt:lpstr>How can we train or “grow” a decision tree?</vt:lpstr>
      <vt:lpstr>How long does it take? Computational Complexity</vt:lpstr>
      <vt:lpstr>How long does it take: Computational Complexity</vt:lpstr>
      <vt:lpstr>Min 95-105: Random Forests &amp; Ensembles: The power of teamwork </vt:lpstr>
      <vt:lpstr>A random forest is an ensemble of decision trees</vt:lpstr>
      <vt:lpstr>Advantages of ensemble modeling Q) Why choose random forests over decision trees?</vt:lpstr>
      <vt:lpstr>Bagging = Sampling with replacement Pasting = Sampling without replacement</vt:lpstr>
      <vt:lpstr>Bagging = Sampling with replacement Pasting = Sampling without replacement</vt:lpstr>
      <vt:lpstr>Bagging = Sampling with replacement Pasting = Sampling without replacement</vt:lpstr>
      <vt:lpstr>Bagging = Sampling with replacement (small data) Pasting = Sampling without replacement</vt:lpstr>
      <vt:lpstr>Feature Importance: Towards Interpretable Models</vt:lpstr>
      <vt:lpstr>How to use feature importance in environmental Science?</vt:lpstr>
      <vt:lpstr>How to use feature importance in environmental Science?</vt:lpstr>
      <vt:lpstr>Stacking (Stacked Generalization) and Blending</vt:lpstr>
      <vt:lpstr>Stacking and Blending</vt:lpstr>
      <vt:lpstr>Boosting = Combining weak learners into strong one by sequentially correcting preceding predictions</vt:lpstr>
      <vt:lpstr>Min 105-120:  Moodle Quiz Review</vt:lpstr>
      <vt:lpstr>Workload and schedule</vt:lpstr>
      <vt:lpstr>Legacy slides</vt:lpstr>
      <vt:lpstr>What are the steps to choose one ML method over another? how do we know whether a model will generalize well? </vt:lpstr>
      <vt:lpstr>SVMs sorted by complexity/representation power</vt:lpstr>
      <vt:lpstr>Min 30-60: Bias-Correcting Meteorological Forecasts with simple ML</vt:lpstr>
      <vt:lpstr>PowerPoint Presentation</vt:lpstr>
      <vt:lpstr>PowerPoint Presentation</vt:lpstr>
      <vt:lpstr>PowerPoint Presentation</vt:lpstr>
      <vt:lpstr>PowerPoint Presentation</vt:lpstr>
      <vt:lpstr>Alternative methods to select inputs/predictors</vt:lpstr>
      <vt:lpstr>Alternative methods to select inputs/predictors</vt:lpstr>
      <vt:lpstr>Adding uncertainty to your model: Confidence Intervals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Tom Beucler</dc:creator>
  <cp:lastModifiedBy>Tom Beucler</cp:lastModifiedBy>
  <cp:revision>279</cp:revision>
  <dcterms:created xsi:type="dcterms:W3CDTF">2022-02-23T18:29:24Z</dcterms:created>
  <dcterms:modified xsi:type="dcterms:W3CDTF">2026-10-01T10:48:10Z</dcterms:modified>
</cp:coreProperties>
</file>